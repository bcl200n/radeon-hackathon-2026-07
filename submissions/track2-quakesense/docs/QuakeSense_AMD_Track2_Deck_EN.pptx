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gif" ContentType="image/gif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3a8820a5c642a9" /><Relationship Type="http://schemas.openxmlformats.org/officeDocument/2006/relationships/extended-properties" Target="/docProps/app.xml" Id="R8f4f4a9c59514c5b" /><Relationship Type="http://schemas.openxmlformats.org/officeDocument/2006/relationships/officeDocument" Target="/ppt/presentation.xml" Id="R408b382fe60c40e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2f479134124f48"/>
  </p:sldMasterIdLst>
  <p:notesMasterIdLst>
    <p:notesMasterId xmlns:r="http://schemas.openxmlformats.org/officeDocument/2006/relationships" r:id="R83972e9f869c49c9"/>
  </p:notesMasterIdLst>
  <p:sldIdLst>
    <p:sldId xmlns:r="http://schemas.openxmlformats.org/officeDocument/2006/relationships" id="256" r:id="Rc6b74e1d999f49fe"/>
    <p:sldId xmlns:r="http://schemas.openxmlformats.org/officeDocument/2006/relationships" id="257" r:id="Rf37fd097e37a428a"/>
    <p:sldId xmlns:r="http://schemas.openxmlformats.org/officeDocument/2006/relationships" id="258" r:id="R6602b891ba854ff5"/>
    <p:sldId xmlns:r="http://schemas.openxmlformats.org/officeDocument/2006/relationships" id="259" r:id="R668da20d71cc41b7"/>
    <p:sldId xmlns:r="http://schemas.openxmlformats.org/officeDocument/2006/relationships" id="260" r:id="R24c5b680d7cc41a2"/>
    <p:sldId xmlns:r="http://schemas.openxmlformats.org/officeDocument/2006/relationships" id="261" r:id="R820344e500774ee4"/>
    <p:sldId xmlns:r="http://schemas.openxmlformats.org/officeDocument/2006/relationships" id="262" r:id="Rd35fbc59267a4d65"/>
    <p:sldId xmlns:r="http://schemas.openxmlformats.org/officeDocument/2006/relationships" id="263" r:id="R632292d0ccef45a5"/>
    <p:sldId xmlns:r="http://schemas.openxmlformats.org/officeDocument/2006/relationships" id="264" r:id="R9a5a47fde75848cf"/>
    <p:sldId xmlns:r="http://schemas.openxmlformats.org/officeDocument/2006/relationships" id="265" r:id="R9bc8436b3a10420d"/>
    <p:sldId xmlns:r="http://schemas.openxmlformats.org/officeDocument/2006/relationships" id="266" r:id="R12dc87bc323e4139"/>
    <p:sldId xmlns:r="http://schemas.openxmlformats.org/officeDocument/2006/relationships" id="267" r:id="R339eff376bea4b01"/>
    <p:sldId xmlns:r="http://schemas.openxmlformats.org/officeDocument/2006/relationships" id="268" r:id="R2706f41af56e4d26"/>
    <p:sldId xmlns:r="http://schemas.openxmlformats.org/officeDocument/2006/relationships" id="269" r:id="Rdf54bbea7b054859"/>
    <p:sldId xmlns:r="http://schemas.openxmlformats.org/officeDocument/2006/relationships" id="270" r:id="R68f97aaf2f9f419f"/>
    <p:sldId xmlns:r="http://schemas.openxmlformats.org/officeDocument/2006/relationships" id="271" r:id="Rb9502770c59a49a1"/>
    <p:sldId xmlns:r="http://schemas.openxmlformats.org/officeDocument/2006/relationships" id="272" r:id="R6bbd0501eb1747b4"/>
    <p:sldId xmlns:r="http://schemas.openxmlformats.org/officeDocument/2006/relationships" id="273" r:id="Rb51a849df62242d2"/>
    <p:sldId xmlns:r="http://schemas.openxmlformats.org/officeDocument/2006/relationships" id="274" r:id="R305a600e26dd40b1"/>
    <p:sldId xmlns:r="http://schemas.openxmlformats.org/officeDocument/2006/relationships" id="275" r:id="R7fc286d264ac4416"/>
    <p:sldId xmlns:r="http://schemas.openxmlformats.org/officeDocument/2006/relationships" id="276" r:id="Rc3c9c6504e2d4de5"/>
    <p:sldId xmlns:r="http://schemas.openxmlformats.org/officeDocument/2006/relationships" id="277" r:id="R3902ffa6d385409c"/>
    <p:sldId xmlns:r="http://schemas.openxmlformats.org/officeDocument/2006/relationships" id="278" r:id="Rd5c98724329f46a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60d0bf658f24c6f" /><Relationship Type="http://schemas.openxmlformats.org/officeDocument/2006/relationships/slideMaster" Target="/ppt/slideMasters/slideMaster1.xml" Id="R542f479134124f48" /><Relationship Type="http://schemas.openxmlformats.org/officeDocument/2006/relationships/notesMaster" Target="/ppt/notesMasters/notesMaster1.xml" Id="R83972e9f869c49c9" /><Relationship Type="http://schemas.openxmlformats.org/officeDocument/2006/relationships/presProps" Target="/ppt/presProps.xml" Id="Rede90d7736924810" /><Relationship Type="http://schemas.openxmlformats.org/officeDocument/2006/relationships/tableStyles" Target="/ppt/tableStyles.xml" Id="Re111dc33c2a14c26" /><Relationship Type="http://schemas.openxmlformats.org/officeDocument/2006/relationships/slide" Target="/ppt/slides/slide1.xml" Id="Rc6b74e1d999f49fe" /><Relationship Type="http://schemas.openxmlformats.org/officeDocument/2006/relationships/slide" Target="/ppt/slides/slide2.xml" Id="Rf37fd097e37a428a" /><Relationship Type="http://schemas.openxmlformats.org/officeDocument/2006/relationships/slide" Target="/ppt/slides/slide3.xml" Id="R6602b891ba854ff5" /><Relationship Type="http://schemas.openxmlformats.org/officeDocument/2006/relationships/slide" Target="/ppt/slides/slide4.xml" Id="R668da20d71cc41b7" /><Relationship Type="http://schemas.openxmlformats.org/officeDocument/2006/relationships/slide" Target="/ppt/slides/slide5.xml" Id="R24c5b680d7cc41a2" /><Relationship Type="http://schemas.openxmlformats.org/officeDocument/2006/relationships/slide" Target="/ppt/slides/slide6.xml" Id="R820344e500774ee4" /><Relationship Type="http://schemas.openxmlformats.org/officeDocument/2006/relationships/slide" Target="/ppt/slides/slide7.xml" Id="Rd35fbc59267a4d65" /><Relationship Type="http://schemas.openxmlformats.org/officeDocument/2006/relationships/slide" Target="/ppt/slides/slide8.xml" Id="R632292d0ccef45a5" /><Relationship Type="http://schemas.openxmlformats.org/officeDocument/2006/relationships/slide" Target="/ppt/slides/slide9.xml" Id="R9a5a47fde75848cf" /><Relationship Type="http://schemas.openxmlformats.org/officeDocument/2006/relationships/slide" Target="/ppt/slides/slide10.xml" Id="R9bc8436b3a10420d" /><Relationship Type="http://schemas.openxmlformats.org/officeDocument/2006/relationships/slide" Target="/ppt/slides/slide11.xml" Id="R12dc87bc323e4139" /><Relationship Type="http://schemas.openxmlformats.org/officeDocument/2006/relationships/slide" Target="/ppt/slides/slide12.xml" Id="R339eff376bea4b01" /><Relationship Type="http://schemas.openxmlformats.org/officeDocument/2006/relationships/slide" Target="/ppt/slides/slide13.xml" Id="R2706f41af56e4d26" /><Relationship Type="http://schemas.openxmlformats.org/officeDocument/2006/relationships/slide" Target="/ppt/slides/slide14.xml" Id="Rdf54bbea7b054859" /><Relationship Type="http://schemas.openxmlformats.org/officeDocument/2006/relationships/slide" Target="/ppt/slides/slide15.xml" Id="R68f97aaf2f9f419f" /><Relationship Type="http://schemas.openxmlformats.org/officeDocument/2006/relationships/slide" Target="/ppt/slides/slide16.xml" Id="Rb9502770c59a49a1" /><Relationship Type="http://schemas.openxmlformats.org/officeDocument/2006/relationships/slide" Target="/ppt/slides/slide17.xml" Id="R6bbd0501eb1747b4" /><Relationship Type="http://schemas.openxmlformats.org/officeDocument/2006/relationships/slide" Target="/ppt/slides/slide18.xml" Id="Rb51a849df62242d2" /><Relationship Type="http://schemas.openxmlformats.org/officeDocument/2006/relationships/slide" Target="/ppt/slides/slide19.xml" Id="R305a600e26dd40b1" /><Relationship Type="http://schemas.openxmlformats.org/officeDocument/2006/relationships/slide" Target="/ppt/slides/slide20.xml" Id="R7fc286d264ac4416" /><Relationship Type="http://schemas.openxmlformats.org/officeDocument/2006/relationships/slide" Target="/ppt/slides/slide21.xml" Id="Rc3c9c6504e2d4de5" /><Relationship Type="http://schemas.openxmlformats.org/officeDocument/2006/relationships/slide" Target="/ppt/slides/slide22.xml" Id="R3902ffa6d385409c" /><Relationship Type="http://schemas.openxmlformats.org/officeDocument/2006/relationships/slide" Target="/ppt/slides/slide23.xml" Id="Rd5c98724329f46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ad969b3cbd2465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1edecd71d048cf" /><Relationship Type="http://schemas.openxmlformats.org/officeDocument/2006/relationships/notesMaster" Target="/ppt/notesMasters/notesMaster1.xml" Id="R274e7a04a98a45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169dc94e3c244d6" /><Relationship Type="http://schemas.openxmlformats.org/officeDocument/2006/relationships/notesMaster" Target="/ppt/notesMasters/notesMaster1.xml" Id="R981221e6d5b144a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5400a3a309249c9" /><Relationship Type="http://schemas.openxmlformats.org/officeDocument/2006/relationships/notesMaster" Target="/ppt/notesMasters/notesMaster1.xml" Id="R4d57b78c451e43a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3920234dad94169" /><Relationship Type="http://schemas.openxmlformats.org/officeDocument/2006/relationships/notesMaster" Target="/ppt/notesMasters/notesMaster1.xml" Id="R2d2be7a9ecb1471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7da680b33e64f0d" /><Relationship Type="http://schemas.openxmlformats.org/officeDocument/2006/relationships/notesMaster" Target="/ppt/notesMasters/notesMaster1.xml" Id="R27e3e1105c1748c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ccd775a943041f1" /><Relationship Type="http://schemas.openxmlformats.org/officeDocument/2006/relationships/notesMaster" Target="/ppt/notesMasters/notesMaster1.xml" Id="R0d5a6cdcc30d46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ea2354e82f84c4a" /><Relationship Type="http://schemas.openxmlformats.org/officeDocument/2006/relationships/notesMaster" Target="/ppt/notesMasters/notesMaster1.xml" Id="R4e219f4369ae4a1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bf28c199cba4cb5" /><Relationship Type="http://schemas.openxmlformats.org/officeDocument/2006/relationships/notesMaster" Target="/ppt/notesMasters/notesMaster1.xml" Id="R637356f230124c7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1545a2323db4900" /><Relationship Type="http://schemas.openxmlformats.org/officeDocument/2006/relationships/notesMaster" Target="/ppt/notesMasters/notesMaster1.xml" Id="R5ea4c38cfd444b5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005f2feafff422d" /><Relationship Type="http://schemas.openxmlformats.org/officeDocument/2006/relationships/notesMaster" Target="/ppt/notesMasters/notesMaster1.xml" Id="Ree105429cafe4d5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a62eeb4234643b3" /><Relationship Type="http://schemas.openxmlformats.org/officeDocument/2006/relationships/notesMaster" Target="/ppt/notesMasters/notesMaster1.xml" Id="R2f1f9bfcf46a41a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7ff8cef49b04254" /><Relationship Type="http://schemas.openxmlformats.org/officeDocument/2006/relationships/notesMaster" Target="/ppt/notesMasters/notesMaster1.xml" Id="R3cf39817709246c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98b570193454d0a" /><Relationship Type="http://schemas.openxmlformats.org/officeDocument/2006/relationships/notesMaster" Target="/ppt/notesMasters/notesMaster1.xml" Id="Ra09a263ddca54ea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3297419c03c4d04" /><Relationship Type="http://schemas.openxmlformats.org/officeDocument/2006/relationships/notesMaster" Target="/ppt/notesMasters/notesMaster1.xml" Id="R57adbde9dc814c7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f619eaf2d7f4131" /><Relationship Type="http://schemas.openxmlformats.org/officeDocument/2006/relationships/notesMaster" Target="/ppt/notesMasters/notesMaster1.xml" Id="Rfa3c1d19656b400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e5ce008b455449b" /><Relationship Type="http://schemas.openxmlformats.org/officeDocument/2006/relationships/notesMaster" Target="/ppt/notesMasters/notesMaster1.xml" Id="R2e07cdf29d9f4b2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e8ad563ca454b4a" /><Relationship Type="http://schemas.openxmlformats.org/officeDocument/2006/relationships/notesMaster" Target="/ppt/notesMasters/notesMaster1.xml" Id="Ra16ba34e079043e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dfde905f2d3422f" /><Relationship Type="http://schemas.openxmlformats.org/officeDocument/2006/relationships/notesMaster" Target="/ppt/notesMasters/notesMaster1.xml" Id="R362f3cd595314e2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3cc240841984ac5" /><Relationship Type="http://schemas.openxmlformats.org/officeDocument/2006/relationships/notesMaster" Target="/ppt/notesMasters/notesMaster1.xml" Id="Ra4d86587ab1a465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b8a2654aba449bb" /><Relationship Type="http://schemas.openxmlformats.org/officeDocument/2006/relationships/notesMaster" Target="/ppt/notesMasters/notesMaster1.xml" Id="R87555e699584456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36dd168498a4081" /><Relationship Type="http://schemas.openxmlformats.org/officeDocument/2006/relationships/notesMaster" Target="/ppt/notesMasters/notesMaster1.xml" Id="Rbc6983cc53604fd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43413b864b64248" /><Relationship Type="http://schemas.openxmlformats.org/officeDocument/2006/relationships/notesMaster" Target="/ppt/notesMasters/notesMaster1.xml" Id="R5aaddabe8ee1429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d67c14413654a5d" /><Relationship Type="http://schemas.openxmlformats.org/officeDocument/2006/relationships/notesMaster" Target="/ppt/notesMasters/notesMaster1.xml" Id="R73e67707b0064ef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Public-safe title evidence: Noto, Japan full-population evacuation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QuakeSense results_bigsim/noto_k000/summary.json and frames.npz (measured run)</a:t>
            </a:r>
          </a:p>
          <a:p xmlns:a="http://schemas.openxmlformats.org/drawingml/2006/main">
            <a:r>
              <a:t>- WorldPop gridded population data: https://www.worldpop.org/</a:t>
            </a:r>
          </a:p>
          <a:p xmlns:a="http://schemas.openxmlformats.org/drawingml/2006/main">
            <a:r>
              <a:t>- OpenStreetMap road network data: https://www.openstreetmap.org/copyright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Repeat the one-sentence system context before walking through the score map. Slides 3–11 answer the 60-point block; slides 12–13 answer the 40-point AMD/ROCm block.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AMD Track 2: Agentic AI judging criteria</a:t>
            </a:r>
          </a:p>
          <a:p xmlns:a="http://schemas.openxmlformats.org/drawingml/2006/main"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closed loop from real inputs to agent reasoning, validated tool execution, simulator state change, and an inspectable product.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AMD Track 2: Agentic AI judging criteria</a:t>
            </a:r>
          </a:p>
          <a:p xmlns:a="http://schemas.openxmlformats.org/drawingml/2006/main">
            <a:r>
              <a:t>- /workspace/persistence/codex/project/README.md</a:t>
            </a:r>
          </a:p>
          <a:p xmlns:a="http://schemas.openxmlformats.org/drawingml/2006/main">
            <a:r>
              <a:t>- /workspace/persistence/codex/project/hackathon/QuakeSense_AI_Project_Specification.md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ten-minute scheduler: observe, reason, plan, validate, execute, update memory, and replan.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AMD Track 2: Agentic AI judging criteria</a:t>
            </a:r>
          </a:p>
          <a:p xmlns:a="http://schemas.openxmlformats.org/drawingml/2006/main">
            <a:r>
              <a:t>- /workspace/persistence/codex/project/README.md</a:t>
            </a:r>
          </a:p>
          <a:p xmlns:a="http://schemas.openxmlformats.org/drawingml/2006/main">
            <a:r>
              <a:t>- /workspace/persistence/codex/project/hackathon/QuakeSense_AI_Project_Specification.md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Physical access is diagnosed before behavioral interpretation, preventing the AI story from hiding road-network constraints.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/workspace/persistence/codex/project/results_current</a:t>
            </a:r>
          </a:p>
          <a:p xmlns:a="http://schemas.openxmlformats.org/drawingml/2006/main"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early outcomes to show that leadership materially changes the trajectory, while keeping claims descriptive.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/workspace/persistence/codex/project/results_current</a:t>
            </a:r>
          </a:p>
          <a:p xmlns:a="http://schemas.openxmlformats.org/drawingml/2006/main"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Leadership is a mechanism, not a guaranteed improvement. Long-run outcomes can reverse because capacity and road constraints persist.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/workspace/persistence/codex/project/results_current</a:t>
            </a:r>
          </a:p>
          <a:p xmlns:a="http://schemas.openxmlformats.org/drawingml/2006/main"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Highlight innovation as a transferable leader–resident mechanism that exposes different city response profiles.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/workspace/persistence/codex/project/results_current</a:t>
            </a:r>
          </a:p>
          <a:p xmlns:a="http://schemas.openxmlformats.org/drawingml/2006/main">
            <a:r>
              <a:t>- /workspace/persistence/codex/project/hackathon/QuakeSense_AI_Project_Specification.md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Fire-stick scenes explain model roles and local interactions. They are conceptual mechanism diagrams, not observed people or a city-specific replay.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Equations correspond to implemented assumptions and state updates.</a:t>
            </a:r>
          </a:p>
          <a:p xmlns:a="http://schemas.openxmlformats.org/drawingml/2006/main">
            <a:r>
              <a:t>Departure parameters shown are from the Kumamoto scenario configuration.</a:t>
            </a:r>
          </a:p>
          <a:p xmlns:a="http://schemas.openxmlformats.org/drawingml/2006/main">
            <a:r>
              <a:t>Specific flow uses 1.3 persons per metre per second.</a:t>
            </a:r>
          </a:p>
          <a:p xmlns:a="http://schemas.openxmlformats.org/drawingml/2006/main">
            <a:r>
              <a:t>Destination rule is nearest open shelter with remaining capacity on the road graph.</a:t>
            </a:r>
          </a:p>
          <a:p xmlns:a="http://schemas.openxmlformats.org/drawingml/2006/main">
            <a:r>
              <a:t>All reported runs check population conservation.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Los Angeles animated evacuation process from archived simulation outputs.</a:t>
            </a:r>
          </a:p>
          <a:p xmlns:a="http://schemas.openxmlformats.org/drawingml/2006/main">
            <a:r>
              <a:t>Source: results_bigsim/los_angeles_k000.</a:t>
            </a:r>
          </a:p>
          <a:p xmlns:a="http://schemas.openxmlformats.org/drawingml/2006/main">
            <a:r>
              <a:t>Synthetic scenario; not an observed evacuation and not an official emergency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Naples animated evacuation process from archived simulation outputs.</a:t>
            </a:r>
          </a:p>
          <a:p xmlns:a="http://schemas.openxmlformats.org/drawingml/2006/main">
            <a:r>
              <a:t>Source: results_bigsim/naples_k000.</a:t>
            </a:r>
          </a:p>
          <a:p xmlns:a="http://schemas.openxmlformats.org/drawingml/2006/main">
            <a:r>
              <a:t>Synthetic scenario; not an observed evacuation and not an official emergency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Wellington animated evacuation process from archived simulation outputs.</a:t>
            </a:r>
          </a:p>
          <a:p xmlns:a="http://schemas.openxmlformats.org/drawingml/2006/main">
            <a:r>
              <a:t>Source: results_bigsim/wellington_k000.</a:t>
            </a:r>
          </a:p>
          <a:p xmlns:a="http://schemas.openxmlformats.org/drawingml/2006/main">
            <a:r>
              <a:t>Synthetic scenario; not an observed evacuation and not an official emergency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L'Aquila animated evacuation process from archived simulation outputs.</a:t>
            </a:r>
          </a:p>
          <a:p xmlns:a="http://schemas.openxmlformats.org/drawingml/2006/main">
            <a:r>
              <a:t>Source: results_bigsim/l_aquila_k000.</a:t>
            </a:r>
          </a:p>
          <a:p xmlns:a="http://schemas.openxmlformats.org/drawingml/2006/main">
            <a:r>
              <a:t>Synthetic scenario; not an observed evacuation and not an official emergency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Noto animated evacuation process from archived simulation outputs.</a:t>
            </a:r>
          </a:p>
          <a:p xmlns:a="http://schemas.openxmlformats.org/drawingml/2006/main">
            <a:r>
              <a:t>Source: results_bigsim/noto_k000.</a:t>
            </a:r>
          </a:p>
          <a:p xmlns:a="http://schemas.openxmlformats.org/drawingml/2006/main">
            <a:r>
              <a:t>Synthetic scenario; not an observed evacuation and not an official emergency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Kumamoto animated evacuation process from archived simulation outputs.</a:t>
            </a:r>
          </a:p>
          <a:p xmlns:a="http://schemas.openxmlformats.org/drawingml/2006/main">
            <a:r>
              <a:t>Source: kumamoto_20260728/results.</a:t>
            </a:r>
          </a:p>
          <a:p xmlns:a="http://schemas.openxmlformats.org/drawingml/2006/main">
            <a:r>
              <a:t>Synthetic scenario; not an observed evacuation and not an official emergency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Kathmandu animated evacuation process from archived simulation outputs.</a:t>
            </a:r>
          </a:p>
          <a:p xmlns:a="http://schemas.openxmlformats.org/drawingml/2006/main">
            <a:r>
              <a:t>Source: results_bigsim/kathmandu_k000.</a:t>
            </a:r>
          </a:p>
          <a:p xmlns:a="http://schemas.openxmlformats.org/drawingml/2006/main">
            <a:r>
              <a:t>Synthetic scenario; not an observed evacuation and not an official emergency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 measured local Radeon evidence: GPU identity, ROCm version, model, concurrency, throughput, latency, validity, and application rate.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/workspace/persistence/codex/project/results_current/measured city_llm000/summary.json</a:t>
            </a:r>
          </a:p>
          <a:p xmlns:a="http://schemas.openxmlformats.org/drawingml/2006/main">
            <a:r>
              <a:t>- /workspace/persistence/codex/project/results_current/measured city_llm000.log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each optimization to a practical failure mode: latency, simulator contention, malformed tool calls, or excessive memory.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/workspace/persistence/codex/project/results_current/measured city_llm000/summary.json</a:t>
            </a:r>
          </a:p>
          <a:p xmlns:a="http://schemas.openxmlformats.org/drawingml/2006/main">
            <a:r>
              <a:t>- /workspace/persistence/codex/project/hackathon/QuakeSense_AI_Project_Specification.md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boundaries before judges ask. This separates working capability from the next scientific validation milestone.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/workspace/persistence/codex/project/README.md</a:t>
            </a:r>
          </a:p>
          <a:p xmlns:a="http://schemas.openxmlformats.org/drawingml/2006/main">
            <a:r>
              <a:t>- /workspace/persistence/codex/project/results_current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in rubric order: 60-point product and value evidence, then 40-point Radeon and ROCm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AMD Track 2: Agentic AI judging criteria</a:t>
            </a:r>
          </a:p>
          <a:p xmlns:a="http://schemas.openxmlformats.org/drawingml/2006/main"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Research significance: scalable cross-city counterfactuals, privacy-preserving synthetic trajectories, auditable coordination mechanisms, and honest limitations.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Acknowledgment: AMD provided cloud computing resources supporting project execution. AMD does not endorse the research conclusions.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cf501c4679458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c185ff6b4904f9a" /><Relationship Type="http://schemas.openxmlformats.org/officeDocument/2006/relationships/slideLayout" Target="/ppt/slideLayouts/slideLayout1.xml" Id="R55a5b62ec7084d5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a5b62ec7084d5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1def3d09294875" /><Relationship Type="http://schemas.openxmlformats.org/officeDocument/2006/relationships/image" Target="/ppt/media/image.png" Id="Ra04a85e7e82e4175" /><Relationship Type="http://schemas.openxmlformats.org/officeDocument/2006/relationships/notesSlide" Target="/ppt/notesSlides/notesSlide1.xml" Id="Rf874fef3b10d4e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94cafa51744973" /><Relationship Type="http://schemas.openxmlformats.org/officeDocument/2006/relationships/notesSlide" Target="/ppt/notesSlides/notesSlide2.xml" Id="Rc9066b5270d2497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66f3720d844dab" /><Relationship Type="http://schemas.openxmlformats.org/officeDocument/2006/relationships/notesSlide" Target="/ppt/notesSlides/notesSlide3.xml" Id="R43d3c9ddcd7642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3d2b81a7eb4dc1" /><Relationship Type="http://schemas.openxmlformats.org/officeDocument/2006/relationships/notesSlide" Target="/ppt/notesSlides/notesSlide4.xml" Id="R4d711485c5a243c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52a6d844ba4fa5" /><Relationship Type="http://schemas.openxmlformats.org/officeDocument/2006/relationships/notesSlide" Target="/ppt/notesSlides/notesSlide5.xml" Id="R95a74243bb084b6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e3408f9fee4648" /><Relationship Type="http://schemas.openxmlformats.org/officeDocument/2006/relationships/notesSlide" Target="/ppt/notesSlides/notesSlide6.xml" Id="R5dec552fe02d420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b59882f73d4d4d" /><Relationship Type="http://schemas.openxmlformats.org/officeDocument/2006/relationships/notesSlide" Target="/ppt/notesSlides/notesSlide7.xml" Id="R2e29f5ec8f4f448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3414a348034376" /><Relationship Type="http://schemas.openxmlformats.org/officeDocument/2006/relationships/image" Target="/ppt/media/image.jpeg" Id="R0b1ff2d34b2d4cfd" /><Relationship Type="http://schemas.openxmlformats.org/officeDocument/2006/relationships/image" Target="/ppt/media/image2.jpeg" Id="Raf134291d86a4031" /><Relationship Type="http://schemas.openxmlformats.org/officeDocument/2006/relationships/image" Target="/ppt/media/image3.jpeg" Id="R58a86fa5398b4485" /><Relationship Type="http://schemas.openxmlformats.org/officeDocument/2006/relationships/notesSlide" Target="/ppt/notesSlides/notesSlide8.xml" Id="Rb50c9d55cf63450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1d098a05f14a2e" /><Relationship Type="http://schemas.openxmlformats.org/officeDocument/2006/relationships/image" Target="/ppt/media/image.jpeg" Id="Re1627e67fd904487" /><Relationship Type="http://schemas.openxmlformats.org/officeDocument/2006/relationships/image" Target="/ppt/media/image2.jpeg" Id="R0078373fe8d148b2" /><Relationship Type="http://schemas.openxmlformats.org/officeDocument/2006/relationships/image" Target="/ppt/media/image3.jpeg" Id="Rc3bebf9fb204476d" /><Relationship Type="http://schemas.openxmlformats.org/officeDocument/2006/relationships/image" Target="/ppt/media/image2.png" Id="R774f29018b6c426a" /><Relationship Type="http://schemas.openxmlformats.org/officeDocument/2006/relationships/image" Target="/ppt/media/image3.png" Id="Rf891fa7690724450" /><Relationship Type="http://schemas.openxmlformats.org/officeDocument/2006/relationships/notesSlide" Target="/ppt/notesSlides/notesSlide9.xml" Id="R53606eb8dc1f487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58bd457d034cf2" /><Relationship Type="http://schemas.openxmlformats.org/officeDocument/2006/relationships/image" Target="/ppt/media/image.jpeg" Id="R57c2f0de0fe54e0f" /><Relationship Type="http://schemas.openxmlformats.org/officeDocument/2006/relationships/image" Target="/ppt/media/image2.jpeg" Id="R81e488063b9240a6" /><Relationship Type="http://schemas.openxmlformats.org/officeDocument/2006/relationships/image" Target="/ppt/media/image3.jpeg" Id="Ra05146b703cc4a4a" /><Relationship Type="http://schemas.openxmlformats.org/officeDocument/2006/relationships/notesSlide" Target="/ppt/notesSlides/notesSlide10.xml" Id="R73d0b459a8134cd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2befe6ab9470d" /><Relationship Type="http://schemas.openxmlformats.org/officeDocument/2006/relationships/image" Target="/ppt/media/image4.png" Id="R9dceea970ebf46c7" /><Relationship Type="http://schemas.openxmlformats.org/officeDocument/2006/relationships/image" Target="/ppt/media/image.gif" Id="R6dfda00aaf0148c6" /><Relationship Type="http://schemas.openxmlformats.org/officeDocument/2006/relationships/notesSlide" Target="/ppt/notesSlides/notesSlide11.xml" Id="R030c41a1fc0d4ab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c774a80ceb4069" /><Relationship Type="http://schemas.openxmlformats.org/officeDocument/2006/relationships/image" Target="/ppt/media/image5.png" Id="R2284efce85c24667" /><Relationship Type="http://schemas.openxmlformats.org/officeDocument/2006/relationships/image" Target="/ppt/media/image2.gif" Id="R2ce8fd3150ab447e" /><Relationship Type="http://schemas.openxmlformats.org/officeDocument/2006/relationships/notesSlide" Target="/ppt/notesSlides/notesSlide12.xml" Id="Rae328b6e8b934b7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e90f2099a44d3f" /><Relationship Type="http://schemas.openxmlformats.org/officeDocument/2006/relationships/image" Target="/ppt/media/image6.png" Id="R9e608d3937ef4fec" /><Relationship Type="http://schemas.openxmlformats.org/officeDocument/2006/relationships/image" Target="/ppt/media/image.svg" Id="Radbf0fc187984d0e" /><Relationship Type="http://schemas.openxmlformats.org/officeDocument/2006/relationships/image" Target="/ppt/media/image.jpeg" Id="Rb4178bf2c6814797" /><Relationship Type="http://schemas.openxmlformats.org/officeDocument/2006/relationships/image" Target="/ppt/media/image3.gif" Id="Rc1957545881f4f56" /><Relationship Type="http://schemas.openxmlformats.org/officeDocument/2006/relationships/notesSlide" Target="/ppt/notesSlides/notesSlide13.xml" Id="Rffa686283d524f4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ae4779eaa047cd" /><Relationship Type="http://schemas.openxmlformats.org/officeDocument/2006/relationships/image" Target="/ppt/media/image7.png" Id="Rd34477b412c24a5c" /><Relationship Type="http://schemas.openxmlformats.org/officeDocument/2006/relationships/image" Target="/ppt/media/image4.gif" Id="R3f64b25917684367" /><Relationship Type="http://schemas.openxmlformats.org/officeDocument/2006/relationships/notesSlide" Target="/ppt/notesSlides/notesSlide14.xml" Id="R8e2f3cf4bf50465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f5434cb26c4bd6" /><Relationship Type="http://schemas.openxmlformats.org/officeDocument/2006/relationships/image" Target="/ppt/media/image8.png" Id="R3c83b41666cd4584" /><Relationship Type="http://schemas.openxmlformats.org/officeDocument/2006/relationships/image" Target="/ppt/media/image5.gif" Id="Rf449489e4c734884" /><Relationship Type="http://schemas.openxmlformats.org/officeDocument/2006/relationships/notesSlide" Target="/ppt/notesSlides/notesSlide15.xml" Id="Rd543d411f1e8446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8ad599a73d4899" /><Relationship Type="http://schemas.openxmlformats.org/officeDocument/2006/relationships/image" Target="/ppt/media/image8.png" Id="R897cc164313743ff" /><Relationship Type="http://schemas.openxmlformats.org/officeDocument/2006/relationships/image" Target="/ppt/media/image6.gif" Id="R2110a85659d646c2" /><Relationship Type="http://schemas.openxmlformats.org/officeDocument/2006/relationships/notesSlide" Target="/ppt/notesSlides/notesSlide16.xml" Id="Rc7118f7c9525480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469495993c49fb" /><Relationship Type="http://schemas.openxmlformats.org/officeDocument/2006/relationships/image" Target="/ppt/media/image8.png" Id="R23af92a5fdac4cb0" /><Relationship Type="http://schemas.openxmlformats.org/officeDocument/2006/relationships/image" Target="/ppt/media/image7.gif" Id="Rcab0d42039fe4f9c" /><Relationship Type="http://schemas.openxmlformats.org/officeDocument/2006/relationships/notesSlide" Target="/ppt/notesSlides/notesSlide17.xml" Id="R04682332f3264c1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1128f43ddd4d2f" /><Relationship Type="http://schemas.openxmlformats.org/officeDocument/2006/relationships/notesSlide" Target="/ppt/notesSlides/notesSlide18.xml" Id="R0ace482dbdf945b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79188300264b00" /><Relationship Type="http://schemas.openxmlformats.org/officeDocument/2006/relationships/notesSlide" Target="/ppt/notesSlides/notesSlide19.xml" Id="R72672bdf1b35456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e1b403cc84cd1" /><Relationship Type="http://schemas.openxmlformats.org/officeDocument/2006/relationships/notesSlide" Target="/ppt/notesSlides/notesSlide20.xml" Id="Rf2bbc1c65f2d451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136e54097c4b55" /><Relationship Type="http://schemas.openxmlformats.org/officeDocument/2006/relationships/notesSlide" Target="/ppt/notesSlides/notesSlide21.xml" Id="Rbe607077dac6492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29d642bb0543da" /><Relationship Type="http://schemas.openxmlformats.org/officeDocument/2006/relationships/notesSlide" Target="/ppt/notesSlides/notesSlide22.xml" Id="Rc4a30aa1660242e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cc9ef1d617497d" /><Relationship Type="http://schemas.openxmlformats.org/officeDocument/2006/relationships/notesSlide" Target="/ppt/notesSlides/notesSlide23.xml" Id="R5da423c5dac048c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4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4a85e7e82e4175"/>
          <a:stretch xmlns:a="http://schemas.openxmlformats.org/drawingml/2006/main"/>
        </p:blipFill>
        <p:spPr>
          <a:xfrm xmlns:a="http://schemas.openxmlformats.org/drawingml/2006/main" flipH="0" flipV="0">
            <a:off x="6096000" y="1714500"/>
            <a:ext cx="6096000" cy="3429000"/>
          </a:xfrm>
          <a:prstGeom xmlns:a="http://schemas.openxmlformats.org/drawingml/2006/main" prst="round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6FDF4D-6496-4AB9-8FB2-1B5BB784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0"/>
            <a:ext cx="1143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3855B9-E471-4690-84FD-1B9AC80D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8D1C9"/>
                </a:solidFill>
              </a:defRPr>
            </a:pPr>
            <a:r>
              <a:rPr sz="1050" b="1">
                <a:solidFill>
                  <a:srgbClr val="38D1C9"/>
                </a:solidFill>
              </a:rPr>
              <a:t>AMD TRACK 2 / AGENTIC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1A7B7-C717-4B28-9DE0-965433FD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49530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When Does Leadership Matter?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E2B581-52DA-4533-B262-AAD27241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1562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C32269-7FEC-4451-840B-9DE2FB51A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We developed QuakeSense—an LLM-driven Agentic AI system for emergency evacuation simulation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965917-C37C-4F3E-9FA2-8737A08D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7BAC2"/>
                </a:solidFill>
              </a:defRPr>
            </a:pPr>
            <a:r>
              <a:rPr sz="1425" b="0">
                <a:solidFill>
                  <a:srgbClr val="A7BAC2"/>
                </a:solidFill>
              </a:rPr>
              <a:t>Local LLM leaders reason, plan, use tools, and coordinate resident agents across real city networks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8BC8F9-B4A6-4CCF-BCEA-3212A3D5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4857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7BAC2"/>
                </a:solidFill>
              </a:defRPr>
            </a:pPr>
            <a:r>
              <a:rPr sz="1125" b="0">
                <a:solidFill>
                  <a:srgbClr val="A7BAC2"/>
                </a:solidFill>
              </a:rPr>
              <a:t>Seven overseas cities · AMD Radeon + ROCm · inspectable evidence</a:t>
            </a:r>
          </a:p>
        </p:txBody>
      </p:sp>
    </p:spTree>
    <p:extLst>
      <p:ext uri="{BB962C8B-B14F-4D97-AF65-F5344CB8AC3E}">
        <p14:creationId xmlns:p14="http://schemas.microsoft.com/office/powerpoint/2010/main" val="17251787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5EEEE9-10F8-4009-A51F-61CD713B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01 / JUDGING RUBRIC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5D21FE-09D0-4649-9A37-BB340EF1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Every scoring item has a visible proof point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1FEC99-33CA-40CA-8103-38F0C82C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E3B3CC-6493-429D-A054-C272E56D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7D80BA-C383-4290-8B89-951A9153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B51793-0232-4A33-8B0F-C668B9DD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566543-2A63-46CE-98E8-D1D20C15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8A6D6"/>
                </a:solidFill>
              </a:defRPr>
            </a:pPr>
            <a:r>
              <a:rPr sz="975" b="1">
                <a:solidFill>
                  <a:srgbClr val="58A6D6"/>
                </a:solidFill>
              </a:rPr>
              <a:t>60 POINTS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74D233-1194-43AA-BE5C-6DDDAA01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Functional completeness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FB86DB-3658-4B26-8E88-BA24F49E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Data → agent decisions → simulation → English WebGIS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DD8178-4A09-44D6-964B-6B169026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0194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3ADCA9-43AD-441C-9233-8EAC5547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CAD0E0-A660-4D19-A11F-41E6FD686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1A6ACE-68C9-48F5-9575-4963BFD3B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WITHIN 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A0EA6B-3B5B-49B8-B58D-80442C127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Scenario innovation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D43D3E-A1BE-457A-B533-0604B610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Local AI leaders coordinate millions of resident agents under disaster constraints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022212-6DB8-4C82-A0FB-EED9E1772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0194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121BC8-9668-4018-A1F5-E23E9954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4ED646-E899-4D25-87B3-59F68FD4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830E31-2CB8-4F4D-B78B-28B85FAF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4CA64"/>
                </a:solidFill>
              </a:defRPr>
            </a:pPr>
            <a:r>
              <a:rPr sz="975" b="1">
                <a:solidFill>
                  <a:srgbClr val="F4CA64"/>
                </a:solidFill>
              </a:rPr>
              <a:t>WITHIN 60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BD393A-6B4C-4281-8028-5B658AAC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User experience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716855-6F85-49DB-9911-9B22D66A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Overseas-city comparison, road tiers, playback, and scenario analysis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69534E-4206-497F-A0F8-3D71C76D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194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3B91B1-C06F-4351-BE40-FCDD6D6E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BE7235-46F7-4F08-88B1-DBA9E345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A22BC0-9535-474F-AC75-1C1D44AB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2766B"/>
                </a:solidFill>
              </a:defRPr>
            </a:pPr>
            <a:r>
              <a:rPr sz="975" b="1">
                <a:solidFill>
                  <a:srgbClr val="F2766B"/>
                </a:solidFill>
              </a:rPr>
              <a:t>40 POINTS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0BE01F-0C8F-4170-8A08-EA280EE0B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AMD Radeon + ROCm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5E6150-1F49-4E8E-9F78-7A8CFA06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Real local inference, measured runs, and memory/concurrency optimization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656941-0346-40C9-A4D1-75BA5F15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5156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D24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349B54-369A-4B1D-B9B3-C9B7DBB7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8160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SYSTEM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A9406D-DF93-428E-870D-4A304C0A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1435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We developed QuakeSense to connect LLM leaders, resident agents, evacuation simulation, and an inspectable WebGIS in one executable system.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A76EF4-4B0D-48CC-93DF-45DE0A97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With the system defined, the deck follows the 60/40 rubric directly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6FF064-F161-4913-A407-4CD500D3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9548116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5EEEE9-10F8-4009-A51F-61CD713B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02 / FUNCTIONAL COMPLETENESS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5D21FE-09D0-4649-9A37-BB340EF1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QuakeSense closes the full problem-solving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1FEC99-33CA-40CA-8103-38F0C82C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E3B3CC-6493-429D-A054-C272E56D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7D80BA-C383-4290-8B89-951A9153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B51793-0232-4A33-8B0F-C668B9DD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566543-2A63-46CE-98E8-D1D20C15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8A6D6"/>
                </a:solidFill>
              </a:defRPr>
            </a:pPr>
            <a:r>
              <a:rPr sz="975" b="1">
                <a:solidFill>
                  <a:srgbClr val="58A6D6"/>
                </a:solidFill>
              </a:rPr>
              <a:t>INPUTS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74D233-1194-43AA-BE5C-6DDDAA01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Real city state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FB86DB-3658-4B26-8E88-BA24F49E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Population, roads, terrain, shelters,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DD8178-4A09-44D6-964B-6B169026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0194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3ADCA9-43AD-441C-9233-8EAC5547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CAD0E0-A660-4D19-A11F-41E6FD686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1A6ACE-68C9-48F5-9575-4963BFD3B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AGENTS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A0EA6B-3B5B-49B8-B58D-80442C127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Reason and plan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D43D3E-A1BE-457A-B533-0604B610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Leaders observe local briefs; residents maintain beliefs and routes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022212-6DB8-4C82-A0FB-EED9E1772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0194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121BC8-9668-4018-A1F5-E23E9954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4ED646-E899-4D25-87B3-59F68FD4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830E31-2CB8-4F4D-B78B-28B85FAF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4CA64"/>
                </a:solidFill>
              </a:defRPr>
            </a:pPr>
            <a:r>
              <a:rPr sz="975" b="1">
                <a:solidFill>
                  <a:srgbClr val="F4CA64"/>
                </a:solidFill>
              </a:rPr>
              <a:t>EXECUTION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BD393A-6B4C-4281-8028-5B658AAC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Tools change state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716855-6F85-49DB-9911-9B22D66A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Validated broadcasts update knowledge, movement, and allocation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69534E-4206-497F-A0F8-3D71C76D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194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3B91B1-C06F-4351-BE40-FCDD6D6E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BE7235-46F7-4F08-88B1-DBA9E345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A22BC0-9535-474F-AC75-1C1D44AB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2766B"/>
                </a:solidFill>
              </a:defRPr>
            </a:pPr>
            <a:r>
              <a:rPr sz="975" b="1">
                <a:solidFill>
                  <a:srgbClr val="F2766B"/>
                </a:solidFill>
              </a:rPr>
              <a:t>PRODUCT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0BE01F-0C8F-4170-8A08-EA280EE0B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Inspectable WebGIS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5E6150-1F49-4E8E-9F78-7A8CFA06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Baseline/LLM comparison, layers, playback, and metrics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656941-0346-40C9-A4D1-75BA5F15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5156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D24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349B54-369A-4B1D-B9B3-C9B7DBB7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8160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PROOF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A9406D-DF93-428E-870D-4A304C0A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1435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 working path runs from real inputs to agent action, measurable outcomes, and an English decision interface.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A76EF4-4B0D-48CC-93DF-45DE0A97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Functional completeness is demonstrated live—not inferred from architecture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6FF064-F161-4913-A407-4CD500D3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9548116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1EAABD5-806E-4789-8ED9-4653130E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03 / LLM LEADERSHIP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1BB84D-0BFD-4D86-9BEA-8DA31B8A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A scheduled leader layer changes resident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E79B48-37C0-4A17-A85A-A0BC3D3D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B4023E-D24F-4B8E-AC0E-8578BB53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F6D494-CAED-4BEA-9E79-AEBAFEAA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1943100" cy="281940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407BBF-3255-4A8B-974D-A57AE1DD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955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E2EDDA-7DA2-43DF-87F9-ECF26119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D2430"/>
                </a:solidFill>
              </a:defRPr>
            </a:pPr>
            <a:r>
              <a:rPr sz="1500" b="1">
                <a:solidFill>
                  <a:srgbClr val="0D2430"/>
                </a:solidFill>
              </a:rPr>
              <a:t>① OBSERVE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82001A-EBAF-4283-B617-D395C645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95600"/>
            <a:ext cx="1562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Every 10 minutes, each leader receives its jurisdiction's local brief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953052-A2FB-403D-84B0-F8710E2D0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990850"/>
            <a:ext cx="266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59B96"/>
                </a:solidFill>
              </a:defRPr>
            </a:pPr>
            <a:r>
              <a:rPr sz="1875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261B1D-B3FF-49AE-957B-0BDD4508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866900"/>
            <a:ext cx="1943100" cy="281940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71A28F-8535-4FB5-B307-064ABA57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0955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65BD33-A0EB-414B-A1C2-F85E65FC8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3812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D2430"/>
                </a:solidFill>
              </a:defRPr>
            </a:pPr>
            <a:r>
              <a:rPr sz="1500" b="1">
                <a:solidFill>
                  <a:srgbClr val="0D2430"/>
                </a:solidFill>
              </a:rPr>
              <a:t>② REASON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A3EA4F-11C6-4C98-BDDD-0BD3DD6D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895600"/>
            <a:ext cx="1562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Local Qwen combines the current brief with compact leader memory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97FF93-F71B-49E9-AC9C-0DB24B61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990850"/>
            <a:ext cx="266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59B96"/>
                </a:solidFill>
              </a:defRPr>
            </a:pPr>
            <a:r>
              <a:rPr sz="1875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B02A67-B976-41C8-BE9A-32B170959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66900"/>
            <a:ext cx="1943100" cy="281940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0D2430"/>
          </a:solidFill>
          <a:ln xmlns:a="http://schemas.openxmlformats.org/drawingml/2006/main" w="9525">
            <a:solidFill>
              <a:srgbClr val="0D24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2613E2-32DC-40D6-97C1-507EB742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0955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B14940-9670-4285-B6B0-291449F6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812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③ PLAN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B93C33-5CE8-477C-97DD-71639E3B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95600"/>
            <a:ext cx="1562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7BAC2"/>
                </a:solidFill>
              </a:defRPr>
            </a:pPr>
            <a:r>
              <a:rPr sz="1200" b="0">
                <a:solidFill>
                  <a:srgbClr val="A7BAC2"/>
                </a:solidFill>
              </a:rPr>
              <a:t>The leader chooses which shelters and warnings to broadcast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054D39-063E-4CCF-AFDD-4DD2C19F4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990850"/>
            <a:ext cx="266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59B96"/>
                </a:solidFill>
              </a:defRPr>
            </a:pPr>
            <a:r>
              <a:rPr sz="1875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496337-74BF-4AC6-9C50-5A5CDD59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66900"/>
            <a:ext cx="1943100" cy="281940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CE0152-49BF-4826-93FF-B0D0500E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0955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DB70A3-D1E5-47C5-A4CD-9D686D89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3812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D2430"/>
                </a:solidFill>
              </a:defRPr>
            </a:pPr>
            <a:r>
              <a:rPr sz="1500" b="1">
                <a:solidFill>
                  <a:srgbClr val="0D2430"/>
                </a:solidFill>
              </a:rPr>
              <a:t>④ USE TOOLS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728B51-8925-4AC2-94F6-AEFA7975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1562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Grammar-constrained JSON validates shelter IDs before execution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28C553-3ECD-4828-9AA9-59859739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90850"/>
            <a:ext cx="266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59B96"/>
                </a:solidFill>
              </a:defRPr>
            </a:pPr>
            <a:r>
              <a:rPr sz="1875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E89D91-9F41-4649-843A-D7152E3D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66900"/>
            <a:ext cx="1943100" cy="281940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FD2183-E97B-4333-9309-22A5FE16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0955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B982"/>
          </a:solidFill>
          <a:ln xmlns:a="http://schemas.openxmlformats.org/drawingml/2006/main" w="0">
            <a:solidFill>
              <a:srgbClr val="39B9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D74200-0790-4088-9DDF-5AC72C849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3812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D2430"/>
                </a:solidFill>
              </a:defRPr>
            </a:pPr>
            <a:r>
              <a:rPr sz="1500" b="1">
                <a:solidFill>
                  <a:srgbClr val="0D2430"/>
                </a:solidFill>
              </a:rPr>
              <a:t>⑤ EXECUTE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7536CD-E1FC-4DDE-AADE-50B245D88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895600"/>
            <a:ext cx="1562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Broadcasts update resident beliefs and routes; the next round replans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70DB2F-1FD1-4CC5-8EBB-0DEA58910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10515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D2430"/>
                </a:solidFill>
              </a:defRPr>
            </a:pPr>
            <a:r>
              <a:rPr sz="1650" b="1">
                <a:solidFill>
                  <a:srgbClr val="0D2430"/>
                </a:solidFill>
              </a:rPr>
              <a:t>Measured run: 350 leaders coordinate 12.95 million resident agents across balanced jurisdictions.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202D3C-F0C8-4321-B19E-138B94BC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Observe → reason → plan → validated tool → state change → replan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7B73FC-2FF6-48F4-B4B8-59B694FB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4933867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0558F91-1C81-48D4-ABD4-7D48826B7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07 / APPLICATION VALUE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90D961-934C-4463-A67C-A57AD3A99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The system diagnoses physical access before simulating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4856D7-330E-485D-A30B-35F42DA4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7AA006-BA23-4EEA-B870-7B1ADC746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E9B001-F5A1-4E2B-BD32-A26B75BA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Wellington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AEE5E2-8B0B-4DE1-8E6E-D9F8EAA09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168592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AB7961-09EC-47AB-BF5A-8BEDE253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1685925"/>
            <a:ext cx="4434322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0E954F-8802-4BBD-9AC2-3E64B6AC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63830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98.8%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04438A-E4C1-42E2-811E-2B331E2A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Kathmandu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1D6A1C-BC74-4BC6-9AE5-63ECD640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216217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03FF0E-53D9-471E-BF70-F9EB4579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2162175"/>
            <a:ext cx="4425345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FFEF24-2B51-48F2-A4C7-5DC446C5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1455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98.6%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04C08C-12D9-4769-AEA8-AA1D52662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Los Angeles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E207C-9D5E-4A3A-9640-0E384D18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263842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571457-8CAF-4E05-8358-BAAD1A43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2638425"/>
            <a:ext cx="4344558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32A47-144F-4B67-BC25-9621B8A2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59080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96.8%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908BB3-94E8-4A58-B996-F7D74B827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Naples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FB0710-CE74-448D-BAAD-B2D02B2D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311467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86A1D8-E9AB-4D71-9F9E-D745BBB0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3114675"/>
            <a:ext cx="4268259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CB71FB-F540-45BF-84F8-A6D7BDF5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06705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95.1%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4641E0-EA39-4B78-B7A0-C10005B0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Mandalay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5C2ADF-7EFD-4024-AC49-4E24CA6D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359092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5461D9-0CCA-4CB7-9061-B66B5896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3590925"/>
            <a:ext cx="3253931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C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EE6342-1AC4-49E3-A5ED-C6C68F0A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54330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72.5%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8CD18F-3887-41DC-8448-AE4A86C5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L'Aquila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21B6FD-67F6-42CB-8ACA-EC412A5E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406717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1BF07E8-C965-4E6C-A81A-EF942139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4067175"/>
            <a:ext cx="2791648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C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326A357-EF87-4AE5-8EEF-80817DD4B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01955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62.2%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8AB44E-B9AD-4B58-B765-58A04EEEF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Noto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E3A9880-4254-4276-AF57-655FBED6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454342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895D8D5-5BBB-497B-8309-9EE52C48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4543425"/>
            <a:ext cx="1844642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70C566-02A8-463F-84D9-BA2919C1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49580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41.1%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870CC3F-60E2-45DB-86A3-270ED46A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2705100" cy="323850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E50A9D4-40C5-4E1F-AEC0-6515415E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8859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9B96"/>
                </a:solidFill>
              </a:defRPr>
            </a:pPr>
            <a:r>
              <a:rPr sz="1350" b="1">
                <a:solidFill>
                  <a:srgbClr val="159B96"/>
                </a:solidFill>
              </a:rPr>
              <a:t>HOW TO READ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6D865B9-6F69-41E0-B9CF-B0CFF955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343150"/>
            <a:ext cx="22479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D2430"/>
                </a:solidFill>
              </a:defRPr>
            </a:pPr>
            <a:r>
              <a:rPr sz="1350" b="0">
                <a:solidFill>
                  <a:srgbClr val="0D2430"/>
                </a:solidFill>
              </a:rPr>
              <a:t>• High access is not high placement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0D2430"/>
                </a:solidFill>
              </a:defRPr>
            </a:pPr>
            <a:r>
              <a:rPr sz="1350" b="0">
                <a:solidFill>
                  <a:srgbClr val="0D2430"/>
                </a:solidFill>
              </a:rPr>
              <a:t>• Site density, road connectivity, and terrain shape static coverage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0D2430"/>
                </a:solidFill>
              </a:defRPr>
            </a:pPr>
            <a:r>
              <a:rPr sz="1350" b="0">
                <a:solidFill>
                  <a:srgbClr val="0D2430"/>
                </a:solidFill>
              </a:rPr>
              <a:t>• Capacity, information, and behavior further reduce dynamic safety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274F63D-9EE5-40E4-B8A7-45F11FF9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343400"/>
            <a:ext cx="114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2766B"/>
                </a:solidFill>
              </a:defRPr>
            </a:pPr>
            <a:r>
              <a:rPr sz="2250" b="1">
                <a:solidFill>
                  <a:srgbClr val="F2766B"/>
                </a:solidFill>
              </a:rPr>
              <a:t>41.1%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C640789-D009-420C-84CB-D22E06C1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40055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D707A"/>
                </a:solidFill>
              </a:defRPr>
            </a:pPr>
            <a:r>
              <a:rPr sz="1125" b="1">
                <a:solidFill>
                  <a:srgbClr val="5D707A"/>
                </a:solidFill>
              </a:rPr>
              <a:t>Noto is lowest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F2E31AE-AB7D-42C4-92B2-9876B3F9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Share within 15 network minutes of candidate sites; seven-city overseas subset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72EE34-0247-43BB-A278-3937E7B9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3716906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7A13CB8-1CCB-49C0-B4EF-96EB90F6D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08 / APPLICATION VALUE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D1117E-AA80-4BC6-BD24-5907AF07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LLM leaders change early safety across cities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721731-A231-44A3-9A1B-112D6268B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32521E-6843-4C00-A8DE-F9833446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095ED4-BFA8-4147-8FB2-448AF7300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Los Angeles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A3BD14-0536-48CA-A67F-0FD2B650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17145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16F162-EAAC-4950-BF57-D975C927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16764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433081-8F4D-4922-90B2-56EFDCD6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7265" y="1714500"/>
            <a:ext cx="1982664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BFC86D-2BBB-4733-A8BE-EF3FD9E5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16573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+3.18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9CB398-70BB-4614-8A6A-5A63AC749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Wellington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A76E02-B573-4CE6-9ACA-EAC66A69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21717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AB158F-01D3-44F5-9E35-79526984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21336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02A0C7-ACCC-4208-BF7C-982CC030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7265" y="2171700"/>
            <a:ext cx="149011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CBB598-E222-4369-83CB-EF157C1A2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21145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+2.39 pp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9646DE-1435-443C-934D-88BBA8833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Naples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BABF8B-418B-4413-B033-9C966252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26289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D7634A-505A-46A6-BAE1-003E6E503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25908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223CD3-C8BF-4CCD-AC1A-E0BA2BF48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7265" y="2628900"/>
            <a:ext cx="754410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28DCC8-1972-46F1-963C-571BF29C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25717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+1.21 pp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4E4B78-2161-4C2C-9649-337CCB4D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Kathmandu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58EAFF-1641-4733-A347-7F01D3C89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30861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231C61-7928-4CDD-8237-BF11EA70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30480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ABBB2E-7393-4A26-B320-6E2EA54B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7265" y="3086100"/>
            <a:ext cx="611010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E081BD-AC6F-46B4-B743-F60E03624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30289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+0.98 pp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99A673-780D-4ADC-AFDE-C0D70BC1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Mandalay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F6E4CA-E9A2-49F9-BE13-5539AB5B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35433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2E6DE4-B7BA-4820-BCC4-B3C6D932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35052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A235BF-EE1D-45FB-A706-0DEA8E5D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7265" y="3543300"/>
            <a:ext cx="62348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9D34AA8-F0C6-4015-9594-3E51BDBF3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34861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+0.10 pp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724E64-0812-4795-A3A2-F9F57AA6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433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Noto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04B2884-9593-465D-985A-B2E710F5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40005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7E1EFA9-9E61-40BA-B553-2750C92C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39624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042F21-B08F-4024-ADCB-1E0A047A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5611" y="4000500"/>
            <a:ext cx="1371654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16E0D6-549A-488A-A65C-44EE7AF8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39433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−2.20 pp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13367A8-2E38-41AF-8884-B16418528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L'Aquila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4DE5310-7EBE-450F-9042-83FCE78F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44577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3101B0-6330-4AA5-AC90-5E004AA7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44196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9996C5E-4296-4224-8834-7EA5866C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1280" y="4457700"/>
            <a:ext cx="164598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7190D99-6F0C-4B45-A3E1-23C9FF4A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44005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−2.64 pp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2C2FE69-9F97-4440-B521-2548D29B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52600"/>
            <a:ext cx="2419350" cy="2952750"/>
          </a:xfrm>
          <a:prstGeom xmlns:a="http://schemas.openxmlformats.org/drawingml/2006/main" prst="roundRect">
            <a:avLst>
              <a:gd name="adj" fmla="val 62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499F007-C2B6-4227-BCA6-77D5913F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962150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DIRECTIONAL RESULT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423D169-3B12-44F4-ABA4-60033050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43150"/>
            <a:ext cx="196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D2430"/>
                </a:solidFill>
              </a:defRPr>
            </a:pPr>
            <a:r>
              <a:rPr sz="2850" b="1">
                <a:solidFill>
                  <a:srgbClr val="0D2430"/>
                </a:solidFill>
              </a:rPr>
              <a:t>5 / 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01C5631-F16B-4C9E-BFC8-702F8B6F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914650"/>
            <a:ext cx="1962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overseas cities improve early safety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4B90C9F-AE71-4C83-9C7A-7209DAE3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623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5A2D131-8A91-46D8-A00F-F1FFB9A24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771900"/>
            <a:ext cx="19621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0D2430"/>
                </a:solidFill>
              </a:defRPr>
            </a:pPr>
            <a:r>
              <a:rPr sz="1200" b="0">
                <a:solidFill>
                  <a:srgbClr val="0D2430"/>
                </a:solidFill>
              </a:rPr>
              <a:t>Noto and L'Aquila decline: faster information does not remove sparse-network or capacity bottlenecks.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D477F73-BEDC-476A-8309-55EA47DB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Δ = leadership scenario − zero-knowledge baseline; percentage points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2D97AD7-D673-43C2-A788-7B76F349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7378129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4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C0A3175-F8EA-4E89-AA7F-4C1D2D5D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09 / LIMITS OF INTERVENTION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325CED-965E-4E1F-9C4F-41729D0E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The same LLM policy can help early and harm later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FB980C-599B-49BD-ADC5-33DBB04A5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A818B9-6C2D-4D5F-A473-E4BDD30E4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0B798F-4B50-4A81-BE54-F84B28EE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Los Angeles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36F6F7-EB6E-4B1C-9B84-417635EE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4307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31A50C-E3CE-4866-8A8C-DDC2E92AF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0497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CFBE6A-8DF6-464D-BB47-70CB6E387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743075"/>
            <a:ext cx="874059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1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474C1E-D1A7-44B2-BB69-411E938E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6764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38D1C9"/>
                </a:solidFill>
              </a:defRPr>
            </a:pPr>
            <a:r>
              <a:rPr sz="1050" b="1">
                <a:solidFill>
                  <a:srgbClr val="38D1C9"/>
                </a:solidFill>
              </a:rPr>
              <a:t>+9.60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0F813A-FA85-4F7B-B8F8-43713640C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Wellington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A2CD6A-279D-48CF-B16A-3E294C7B3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1932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D5F64A-024F-4FBA-9303-A1AB531EA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1E540-E1D8-45F0-83FD-71E13DAD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219325"/>
            <a:ext cx="498031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1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FCEABD-43E4-4AF3-A6AE-61A275CE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152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38D1C9"/>
                </a:solidFill>
              </a:defRPr>
            </a:pPr>
            <a:r>
              <a:rPr sz="1050" b="1">
                <a:solidFill>
                  <a:srgbClr val="38D1C9"/>
                </a:solidFill>
              </a:rPr>
              <a:t>+5.47 pp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DD92E8-8B03-4253-A080-6CFEC126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Naples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44EC2F-1DF3-4B92-94A6-D4566C8C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9557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53FA0E-D899-452D-ACF8-40CF82B3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5747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6A874B-0A77-401E-AF19-48E9FA01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695575"/>
            <a:ext cx="30956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1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89AE2C-0013-4FE7-8A9A-99D8A506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2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38D1C9"/>
                </a:solidFill>
              </a:defRPr>
            </a:pPr>
            <a:r>
              <a:rPr sz="1050" b="1">
                <a:solidFill>
                  <a:srgbClr val="38D1C9"/>
                </a:solidFill>
              </a:rPr>
              <a:t>+0.34 pp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788E0F-5241-4B23-9D96-F81303F5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Mandalay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AC5D93-AFA7-4C8B-90F6-E53684E5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7182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2D746C-57DD-4F42-9984-CE20E54A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13372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1DEAD8-3A5D-4B23-B281-9FE89CB5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8481" y="3171825"/>
            <a:ext cx="64644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12A0C3-B2B6-45CD-8B62-72247901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105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−0.71 pp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77DF81-FA18-47EF-9106-601E1DF1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814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Kathmandu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BE1BE8-07DA-49B1-97C7-D2E566F7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4807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09CD1E-E675-4BD5-8268-5D2F6B1E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60997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564E76-9FF8-4902-BC18-DC3972C05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2077" y="3648075"/>
            <a:ext cx="91048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0A9E865-A173-4A5A-A80C-1B733F6A5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5814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−1.00 pp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2A9321-D37B-4BD8-97BD-AC89624B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L'Aquila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BE6741-8A76-4F04-A86B-63262031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2432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34E1B94-9DA8-4140-931C-14834EB0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8622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0EEE24-796E-4845-B2E3-87DD91AE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2815" y="4124325"/>
            <a:ext cx="80031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885E384-A43D-4E79-B3AF-4F7FC471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57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−8.79 pp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B18A3CD-8907-45DA-A6B0-3D1293039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339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Noto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1FEF191-29B0-4E8C-82A5-2DF0D44B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0057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6673AE2-6E0E-4241-AD6F-81E3974AD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6247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B81F8B1-6EA2-4D04-A663-BFA07B79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5908" y="4600575"/>
            <a:ext cx="2947217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0EB3DAA-8C93-48A2-9E68-1BBFB1DD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695450"/>
            <a:ext cx="1714500" cy="30099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AB61213-F1BD-4287-B8E4-BF9D3345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9050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KEY INTERPRETATION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B7E2C89-9114-4190-AF95-DD8B341C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305050"/>
            <a:ext cx="133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Leadership improves information visibility; it does not create road throughput or shelter capacity.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403EF3A-92B3-4FC1-A0BA-14AC39E2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73380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2766B"/>
                </a:solidFill>
              </a:defRPr>
            </a:pPr>
            <a:r>
              <a:rPr sz="1350" b="1">
                <a:solidFill>
                  <a:srgbClr val="F2766B"/>
                </a:solidFill>
              </a:rPr>
              <a:t>Noto −32.37 pp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0EDE9A8-C4D3-4D4D-A799-C72E50AF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191000"/>
            <a:ext cx="133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7BAC2"/>
                </a:solidFill>
              </a:defRPr>
            </a:pPr>
            <a:r>
              <a:rPr sz="1050" b="0">
                <a:solidFill>
                  <a:srgbClr val="A7BAC2"/>
                </a:solidFill>
              </a:rPr>
              <a:t>Late congestion and capacity failure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812D550-A5E1-42FB-9852-BC32C51E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The same mechanism can produce opposite outcomes under different network–capacity conditions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68937F5-91A8-44E6-B002-33523078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5629834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B47075-63B6-490E-9B58-0A68EFC18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10 / SCENARIO INNOVATION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41A09D-D012-4DAF-A34E-F7AA306E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One Agentic AI mechanism reveals three urban response profiles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107F6A-CAF2-4C64-B355-DAB302D2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A609C-C854-40AC-925F-FD56CDD3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0074B3-F36F-4DC2-85D8-4E5E3ED0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3371850" cy="4229100"/>
          </a:xfrm>
          <a:prstGeom xmlns:a="http://schemas.openxmlformats.org/drawingml/2006/main" prst="roundRect">
            <a:avLst>
              <a:gd name="adj" fmla="val 4520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1ff2d34b2d4cfd"/>
          <a:srcRect xmlns:a="http://schemas.openxmlformats.org/drawingml/2006/main" l="0" t="11048" r="0" b="110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42950" y="1809750"/>
            <a:ext cx="3105150" cy="1866900"/>
          </a:xfrm>
          <a:prstGeom xmlns:a="http://schemas.openxmlformats.org/drawingml/2006/main" prst="round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D54FB-3509-4B47-93E0-4DB6C0D6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052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118255-8669-4501-8EE4-66D6F57E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Los Angeles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6DDA8C-0951-4393-9EB4-8FBC1F61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767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8A6D6"/>
                </a:solidFill>
              </a:defRPr>
            </a:pPr>
            <a:r>
              <a:rPr sz="1125" b="1">
                <a:solidFill>
                  <a:srgbClr val="58A6D6"/>
                </a:solidFill>
              </a:rPr>
              <a:t>Early +3.18 pp · late +9.60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B55778-43BB-4D4C-BADE-0710E98F1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577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Dense sites and network redundancy turn information advantage into sustained placement.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7D95C3-A6AC-45BA-B331-74541479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676400"/>
            <a:ext cx="3371850" cy="4229100"/>
          </a:xfrm>
          <a:prstGeom xmlns:a="http://schemas.openxmlformats.org/drawingml/2006/main" prst="roundRect">
            <a:avLst>
              <a:gd name="adj" fmla="val 4520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134291d86a4031"/>
          <a:srcRect xmlns:a="http://schemas.openxmlformats.org/drawingml/2006/main" l="0" t="11048" r="0" b="110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381500" y="1809750"/>
            <a:ext cx="3105150" cy="1866900"/>
          </a:xfrm>
          <a:prstGeom xmlns:a="http://schemas.openxmlformats.org/drawingml/2006/main" prst="round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75B012-0BF7-4DE6-BB8D-B1050C43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9052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B982"/>
          </a:solidFill>
          <a:ln xmlns:a="http://schemas.openxmlformats.org/drawingml/2006/main" w="0">
            <a:solidFill>
              <a:srgbClr val="39B9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A5C229-4570-4960-ADD1-970CB6EB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1148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Wellington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9D9DFF-6568-419D-92AD-9932BB35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4767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9B982"/>
                </a:solidFill>
              </a:defRPr>
            </a:pPr>
            <a:r>
              <a:rPr sz="1125" b="1">
                <a:solidFill>
                  <a:srgbClr val="39B982"/>
                </a:solidFill>
              </a:rPr>
              <a:t>Early +2.39 pp · late +5.47 pp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4781B4-1208-432A-8405-A156C626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8577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Leadership still improves allocation on top of high baseline accessibility.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CE47C4-2B76-43A7-90AF-0F0F3439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676400"/>
            <a:ext cx="3371850" cy="4229100"/>
          </a:xfrm>
          <a:prstGeom xmlns:a="http://schemas.openxmlformats.org/drawingml/2006/main" prst="roundRect">
            <a:avLst>
              <a:gd name="adj" fmla="val 4520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a86fa5398b4485"/>
          <a:srcRect xmlns:a="http://schemas.openxmlformats.org/drawingml/2006/main" l="0" t="11048" r="0" b="110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020050" y="1809750"/>
            <a:ext cx="3105150" cy="1866900"/>
          </a:xfrm>
          <a:prstGeom xmlns:a="http://schemas.openxmlformats.org/drawingml/2006/main" prst="round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89D2CC-4315-4051-A38D-15D59B29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052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4A409A-DD7E-4615-BB71-E1C2DED5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148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Noto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F98349-44C2-4180-9DE3-FE9E3C5AC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767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2766B"/>
                </a:solidFill>
              </a:defRPr>
            </a:pPr>
            <a:r>
              <a:rPr sz="1125" b="1">
                <a:solidFill>
                  <a:srgbClr val="F2766B"/>
                </a:solidFill>
              </a:rPr>
              <a:t>Early −2.20 pp · late −32.37 pp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379D62-FF7B-4A06-8756-58204A6A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577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Low access and sparse supply allow concentrated guidance to amplify capacity constraints.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F90353-86AA-4F7C-87D7-638C43ACE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A common WebGIS structure places mechanism differences beside spatial structure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C5D915-D91D-46B8-BACE-3C9AA781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79129352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627e67fd904487"/>
          <a:srcRect xmlns:a="http://schemas.openxmlformats.org/drawingml/2006/main" l="0" t="11048" r="0" b="110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42950" y="1809750"/>
            <a:ext cx="3105150" cy="1866900"/>
          </a:xfrm>
          <a:prstGeom xmlns:a="http://schemas.openxmlformats.org/drawingml/2006/main" prst="roundRect">
            <a:avLst/>
          </a:prstGeom>
        </p:spPr>
      </p:pic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78373fe8d148b2"/>
          <a:srcRect xmlns:a="http://schemas.openxmlformats.org/drawingml/2006/main" l="0" t="11048" r="0" b="110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381500" y="1809750"/>
            <a:ext cx="3105150" cy="1866900"/>
          </a:xfrm>
          <a:prstGeom xmlns:a="http://schemas.openxmlformats.org/drawingml/2006/main" prst="roundRect">
            <a:avLst/>
          </a:prstGeom>
        </p:spPr>
      </p:pic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bebf9fb204476d"/>
          <a:srcRect xmlns:a="http://schemas.openxmlformats.org/drawingml/2006/main" l="0" t="11048" r="0" b="110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020050" y="1809750"/>
            <a:ext cx="3105150" cy="1866900"/>
          </a:xfrm>
          <a:prstGeom xmlns:a="http://schemas.openxmlformats.org/drawingml/2006/main" prst="roundRect">
            <a:avLst/>
          </a:prstGeom>
        </p:spPr>
      </p:pic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0E1057-54B3-4E2A-BF7E-0EFC71EE9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D6BD"/>
                </a:solidFill>
              </a:defRPr>
            </a:pPr>
            <a:r>
              <a:rPr sz="1275" b="1">
                <a:solidFill>
                  <a:srgbClr val="26D6BD"/>
                </a:solidFill>
              </a:rPr>
              <a:t>MICRO MECHANISM / AGENT ROLES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A08A62-1D8B-4727-8384-B69A05B05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7FB"/>
                </a:solidFill>
              </a:defRPr>
            </a:pPr>
            <a:r>
              <a:rPr sz="2850" b="1">
                <a:solidFill>
                  <a:srgbClr val="F5F7FB"/>
                </a:solidFill>
              </a:rPr>
              <a:t>From individual roles to collective evacuation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6ACD4A-1A10-4344-B293-175FE0A68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762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9AA9C2"/>
                </a:solidFill>
              </a:defRPr>
            </a:pPr>
            <a:r>
              <a:rPr sz="1650" b="1">
                <a:solidFill>
                  <a:srgbClr val="9AA9C2"/>
                </a:solidFill>
              </a:rPr>
              <a:t>09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8CC0F5-EA5C-4722-A72F-1047D964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42875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6D6BD"/>
          </a:solidFill>
          <a:ln xmlns:a="http://schemas.openxmlformats.org/drawingml/2006/main" w="9525">
            <a:solidFill>
              <a:srgbClr val="26D6BD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EB07B3B-18C4-4ACF-8340-BD524B06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5257800" cy="451485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0E1728"/>
          </a:solidFill>
          <a:ln xmlns:a="http://schemas.openxmlformats.org/drawingml/2006/main" w="9525">
            <a:solidFill>
              <a:srgbClr val="24324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4D803F-9428-487F-8623-347BFF25A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600200"/>
            <a:ext cx="5524500" cy="451485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0E1728"/>
          </a:solidFill>
          <a:ln xmlns:a="http://schemas.openxmlformats.org/drawingml/2006/main" w="9525">
            <a:solidFill>
              <a:srgbClr val="24324C"/>
            </a:solidFill>
            <a:prstDash val="solid"/>
          </a:ln>
        </p:spPr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4f29018b6c426a"/>
          <a:stretch xmlns:a="http://schemas.openxmlformats.org/drawingml/2006/main"/>
        </p:blipFill>
        <p:spPr>
          <a:xfrm xmlns:a="http://schemas.openxmlformats.org/drawingml/2006/main">
            <a:off x="1193899" y="1752600"/>
            <a:ext cx="4089202" cy="3048000"/>
          </a:xfrm>
          <a:prstGeom xmlns:a="http://schemas.openxmlformats.org/drawingml/2006/main" prst="rect">
            <a:avLst/>
          </a:prstGeom>
        </p:spPr>
      </p:pic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1fa7690724450"/>
          <a:stretch xmlns:a="http://schemas.openxmlformats.org/drawingml/2006/main"/>
        </p:blipFill>
        <p:spPr>
          <a:xfrm xmlns:a="http://schemas.openxmlformats.org/drawingml/2006/main">
            <a:off x="7225340" y="1752600"/>
            <a:ext cx="3189620" cy="3048000"/>
          </a:xfrm>
          <a:prstGeom xmlns:a="http://schemas.openxmlformats.org/drawingml/2006/main" prst="rect">
            <a:avLst/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13CCE2E-36EE-494D-9BE4-8A0F8F67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WHO MOVES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2FB857-F9EA-45BD-8DAB-16AF2BCDE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1970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7FB"/>
                </a:solidFill>
              </a:defRPr>
            </a:pPr>
            <a:r>
              <a:rPr sz="1350" b="0">
                <a:solidFill>
                  <a:srgbClr val="F5F7FB"/>
                </a:solidFill>
              </a:rPr>
              <a:t>Commander · informed resident · uninformed resident · volunteer · elderly · child · responder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D604AF-95B9-4D3B-AA70-F48D4031D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9530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HOW THEY INTERACT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1B168A7-90C1-444D-94B9-A2436DE7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1970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7FB"/>
                </a:solidFill>
              </a:defRPr>
            </a:pPr>
            <a:r>
              <a:rPr sz="1350" b="0">
                <a:solidFill>
                  <a:srgbClr val="F5F7FB"/>
                </a:solidFill>
              </a:rPr>
              <a:t>Broadcast · word of mouth · following · guiding · mutual assistance · shelter admission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993E1FD-17A2-4374-AF2A-53C9FB49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Conceptual micro-scene: role and interaction mechanism, not a city observation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1062DF-E2DA-4FF1-8F27-F1BCD7916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77000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79129352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c2f0de0fe54e0f"/>
          <a:srcRect xmlns:a="http://schemas.openxmlformats.org/drawingml/2006/main" l="0" t="11048" r="0" b="110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42950" y="1809750"/>
            <a:ext cx="3105150" cy="1866900"/>
          </a:xfrm>
          <a:prstGeom xmlns:a="http://schemas.openxmlformats.org/drawingml/2006/main" prst="roundRect">
            <a:avLst/>
          </a:prstGeom>
        </p:spPr>
      </p:pic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e488063b9240a6"/>
          <a:srcRect xmlns:a="http://schemas.openxmlformats.org/drawingml/2006/main" l="0" t="11048" r="0" b="110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381500" y="1809750"/>
            <a:ext cx="3105150" cy="1866900"/>
          </a:xfrm>
          <a:prstGeom xmlns:a="http://schemas.openxmlformats.org/drawingml/2006/main" prst="roundRect">
            <a:avLst/>
          </a:prstGeom>
        </p:spPr>
      </p:pic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5146b703cc4a4a"/>
          <a:srcRect xmlns:a="http://schemas.openxmlformats.org/drawingml/2006/main" l="0" t="11048" r="0" b="110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020050" y="1809750"/>
            <a:ext cx="3105150" cy="1866900"/>
          </a:xfrm>
          <a:prstGeom xmlns:a="http://schemas.openxmlformats.org/drawingml/2006/main" prst="roundRect">
            <a:avLst/>
          </a:prstGeom>
        </p:spPr>
      </p:pic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FFC9E1-47E3-43E3-9632-F6D449EB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D6BD"/>
                </a:solidFill>
              </a:defRPr>
            </a:pPr>
            <a:r>
              <a:rPr sz="1275" b="1">
                <a:solidFill>
                  <a:srgbClr val="26D6BD"/>
                </a:solidFill>
              </a:rPr>
              <a:t>MICRO MECHANISM / EQUATIONS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417C00-C74B-4129-9AF0-CBA2ECA3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7FB"/>
                </a:solidFill>
              </a:defRPr>
            </a:pPr>
            <a:r>
              <a:rPr sz="2850" b="1">
                <a:solidFill>
                  <a:srgbClr val="F5F7FB"/>
                </a:solidFill>
              </a:rPr>
              <a:t>Four rules generate the city-scale process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6E7BF7-20AF-4158-AA90-2DA01C6E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762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9AA9C2"/>
                </a:solidFill>
              </a:defRPr>
            </a:pPr>
            <a:r>
              <a:rPr sz="1650" b="1">
                <a:solidFill>
                  <a:srgbClr val="9AA9C2"/>
                </a:solidFill>
              </a:rPr>
              <a:t>10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84ECF5-FBC3-4F47-8407-16822CC1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42875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6D6BD"/>
          </a:solidFill>
          <a:ln xmlns:a="http://schemas.openxmlformats.org/drawingml/2006/main" w="9525">
            <a:solidFill>
              <a:srgbClr val="26D6BD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604A575-BDDE-459F-B3F9-0D29F984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42925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111A2D"/>
          </a:solidFill>
          <a:ln xmlns:a="http://schemas.openxmlformats.org/drawingml/2006/main" w="9525">
            <a:solidFill>
              <a:srgbClr val="24324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F229678-D14C-4706-8AC0-26C31921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66675" cy="1790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D3D"/>
          </a:solidFill>
          <a:ln xmlns:a="http://schemas.openxmlformats.org/drawingml/2006/main" w="9525">
            <a:solidFill>
              <a:srgbClr val="FF9D3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BA936B1-303F-4AC7-8625-A525F1B8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47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9D3D"/>
                </a:solidFill>
              </a:defRPr>
            </a:pPr>
            <a:r>
              <a:rPr sz="1275" b="1">
                <a:solidFill>
                  <a:srgbClr val="FF9D3D"/>
                </a:solidFill>
              </a:rPr>
              <a:t>1 · Departure delay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D7D0D62-4743-448C-8F2D-FF4B18DFA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7FB"/>
                </a:solidFill>
              </a:defRPr>
            </a:pPr>
            <a:r>
              <a:rPr sz="1875" b="1">
                <a:solidFill>
                  <a:srgbClr val="F5F7FB"/>
                </a:solidFill>
              </a:rPr>
              <a:t>Tᵢ ~ LogNormal(μ = ln 180 s, σ = 0.8)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CC7FF7-8C70-4553-AB85-718CF5DB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051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A9C2"/>
                </a:solidFill>
              </a:defRPr>
            </a:pPr>
            <a:r>
              <a:rPr sz="1200" b="0">
                <a:solidFill>
                  <a:srgbClr val="9AA9C2"/>
                </a:solidFill>
              </a:rPr>
              <a:t>Kumamoto scenario assumption; roles and warning state can shift departure timing.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885BBB3-6363-4881-8CBF-CA02EA14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676400"/>
            <a:ext cx="542925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111A2D"/>
          </a:solidFill>
          <a:ln xmlns:a="http://schemas.openxmlformats.org/drawingml/2006/main" w="9525">
            <a:solidFill>
              <a:srgbClr val="24324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79AB0B1-1B45-4546-963D-F478EE68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676400"/>
            <a:ext cx="66675" cy="1790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6D6BD"/>
          </a:solidFill>
          <a:ln xmlns:a="http://schemas.openxmlformats.org/drawingml/2006/main" w="9525">
            <a:solidFill>
              <a:srgbClr val="26D6B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09D7A8B-9F6A-418D-B959-DB5F71FE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47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D6BD"/>
                </a:solidFill>
              </a:defRPr>
            </a:pPr>
            <a:r>
              <a:rPr sz="1275" b="1">
                <a:solidFill>
                  <a:srgbClr val="26D6BD"/>
                </a:solidFill>
              </a:rPr>
              <a:t>2 · Boundary flow capacity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62E19C8-AD2A-4A52-9A09-FF341461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098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7FB"/>
                </a:solidFill>
              </a:defRPr>
            </a:pPr>
            <a:r>
              <a:rPr sz="1875" b="1">
                <a:solidFill>
                  <a:srgbClr val="F5F7FB"/>
                </a:solidFill>
              </a:rPr>
              <a:t>Cᵢ = wᵢ qₛ,   qₛ = 1.3 persons·m⁻¹·s⁻¹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497BD8C-AA45-433C-978E-9C37D8BE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051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A9C2"/>
                </a:solidFill>
              </a:defRPr>
            </a:pPr>
            <a:r>
              <a:rPr sz="1200" b="0">
                <a:solidFill>
                  <a:srgbClr val="9AA9C2"/>
                </a:solidFill>
              </a:rPr>
              <a:t>Road-enclosed blocks release people through finite egress width; queues emerge when demand exceeds capacity.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6B66072-5DA3-46F2-8B70-C3DEF9A7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542925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111A2D"/>
          </a:solidFill>
          <a:ln xmlns:a="http://schemas.openxmlformats.org/drawingml/2006/main" w="9525">
            <a:solidFill>
              <a:srgbClr val="24324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83934E3-D1B7-4E68-96DB-F0960927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66675" cy="1790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3D06F"/>
          </a:solidFill>
          <a:ln xmlns:a="http://schemas.openxmlformats.org/drawingml/2006/main" w="9525">
            <a:solidFill>
              <a:srgbClr val="73D06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6AA059B-19FC-4455-A086-F82689E93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481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3D06F"/>
                </a:solidFill>
              </a:defRPr>
            </a:pPr>
            <a:r>
              <a:rPr sz="1275" b="1">
                <a:solidFill>
                  <a:srgbClr val="73D06F"/>
                </a:solidFill>
              </a:rPr>
              <a:t>3 · Capacity-aware destination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5C1A9B6-2707-4210-9C35-055B9D40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100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7FB"/>
                </a:solidFill>
              </a:defRPr>
            </a:pPr>
            <a:r>
              <a:rPr sz="1875" b="1">
                <a:solidFill>
                  <a:srgbClr val="F5F7FB"/>
                </a:solidFill>
              </a:rPr>
              <a:t>s*(i,t) = arg min dᴳ(i,s),  s ∈ O(t)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F365BF5-8AAB-4EDE-AA4B-8C50A357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A9C2"/>
                </a:solidFill>
              </a:defRPr>
            </a:pPr>
            <a:r>
              <a:rPr sz="1200" b="0">
                <a:solidFill>
                  <a:srgbClr val="9AA9C2"/>
                </a:solidFill>
              </a:rPr>
              <a:t>O(t) contains shelters that remain open and have capacity. A multi-source shortest-path tree is rebuilt when status changes.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8F84CB2-AA80-406B-82AB-0683322C0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76650"/>
            <a:ext cx="542925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111A2D"/>
          </a:solidFill>
          <a:ln xmlns:a="http://schemas.openxmlformats.org/drawingml/2006/main" w="9525">
            <a:solidFill>
              <a:srgbClr val="24324C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D9F7345-3AB1-4F05-A50F-8626A3AA2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76650"/>
            <a:ext cx="66675" cy="1790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66C"/>
          </a:solidFill>
          <a:ln xmlns:a="http://schemas.openxmlformats.org/drawingml/2006/main" w="9525">
            <a:solidFill>
              <a:srgbClr val="F3C66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05E534C-42C9-481F-A1D7-8FBE682A7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481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C66C"/>
                </a:solidFill>
              </a:defRPr>
            </a:pPr>
            <a:r>
              <a:rPr sz="1275" b="1">
                <a:solidFill>
                  <a:srgbClr val="F3C66C"/>
                </a:solidFill>
              </a:rPr>
              <a:t>4 · Population conservation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08D8112-BC7E-4EB4-9899-4643F0CF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00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7FB"/>
                </a:solidFill>
              </a:defRPr>
            </a:pPr>
            <a:r>
              <a:rPr sz="1875" b="1">
                <a:solidFill>
                  <a:srgbClr val="F5F7FB"/>
                </a:solidFill>
              </a:rPr>
              <a:t>N = Σᵢ[Iᵢ(t)+Mᵢ(t)+Qᵢ(t)] + H(t) + 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FEB719F-708C-44BA-A406-7C8169BA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0535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A9C2"/>
                </a:solidFill>
              </a:defRPr>
            </a:pPr>
            <a:r>
              <a:rPr sz="1200" b="0">
                <a:solidFill>
                  <a:srgbClr val="9AA9C2"/>
                </a:solidFill>
              </a:rPr>
              <a:t>Indoors + internal movement + boundary queue + sheltered + stay-put remains constant to numerical precision.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BC05953-DA3E-45A2-B4DA-7C10BEEC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Rendered points follow each block's cumulative departure curve and the solved congestion field—no separate animation curve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1ABB3A6-AF90-4B79-BED4-239F59F9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77000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79129352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ceea970ebf46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fda00aaf0148c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6216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9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84efce85c246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e8fd3150ab447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2509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9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608d3937ef4f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178bf2c6814797">
            <a:extLst>
              <a:ext uri="{96DAC541-7B7A-43D3-8B79-37D633B846F1}">
                <asvg:svgBlip xmlns:asvg="http://schemas.microsoft.com/office/drawing/2016/SVG/main" r:embed="Radbf0fc187984d0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0" y="0"/>
            <a:ext cx="4762500" cy="6858000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957545881f4f5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05748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9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4477b412c24a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64b2591768436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5886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9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83b41666cd45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49489e4c73488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03212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9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7cc164313743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10a85659d646c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03212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9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af92a5fdac4c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b0d42039fe4f9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03212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3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8BEF62C-B5C9-4968-882E-6367975B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11 / AMD LOCAL INFERENCE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5A3645-1FAA-41CE-B41D-2DA3D5CD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Local Radeon inference is verified with full-run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55271-68DD-4C02-ADAB-AD79803FF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4A09DA-5A79-41C2-870F-5A7D4B63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5AD0E-DB12-4145-AFD4-1C408FD6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DB8C4-B60F-4DF8-9CD2-CC2D1CE0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0F7F2C-CB2B-4827-8138-DDBF1812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GPU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3DC3CA-D38A-4E37-A50B-F1896871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Radeon gfx1100 · 48 GiB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207A64-EC90-4644-AFE5-4F50872F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8DC0E9-583B-44B1-B806-93AC0561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192EC2-6A0A-43D1-87EA-DFDECAF2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RUNTIME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BF5DDC-7CF9-47F0-A9C9-E8F1BC3A9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ROCm 7.2.1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71B39-38F1-4EDD-B0A8-1B7EA503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73E0E3-B4AC-4751-918A-195C328E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3BC7B2-76DD-468E-9AD6-2A4FA80F2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MODEL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919BE-B591-402F-B17C-BA23204C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Qwen2.5-7B · Q4_K_M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A70F86-2D13-496B-B7E5-92C62C3B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A0FA7D-58ED-4F58-A48B-CBBE8B40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6B907E-614E-4B5C-80E2-400F4DC9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THROUGHPUT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9D8C9D-6FEA-4ADE-871A-4FEE0872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88.5 tok/s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015A97-07E9-4E38-BDC3-8CAB3069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2EDDBB-B9BF-4F8C-BC5B-AF045CC9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4FDBA5-114F-4C2A-845F-8707CFEF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SLOTS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8F6E73-9F93-4315-9240-FB90D698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32 concurrent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120515-8680-4FA4-8957-7E7A3A1F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B713B8-AF00-4C7D-A665-2E9B5711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BAD49D-5804-4B4B-AA07-5DB5E7EF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MEASURED RUN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AF77A4-7C37-4255-838D-C79D97B0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4,242 LLM calls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379092-FAC6-4A61-8372-D5F34E01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8E7C50-073E-4BEF-B7C2-AD383796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B982"/>
          </a:solidFill>
          <a:ln xmlns:a="http://schemas.openxmlformats.org/drawingml/2006/main" w="0">
            <a:solidFill>
              <a:srgbClr val="39B9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BD084F-B457-452B-8A32-67B07816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DECISION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1B1A6F-78C7-4E79-B9F8-B3690628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0.285 s mean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5680BD-5F6A-453E-99FA-CECD4579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C263EA-2C59-46DD-ABEF-A3810AD0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A6A70E-2CC6-466B-939C-5B74C604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VALIDITY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7A5CFB4-59D1-4297-A347-271A8E68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0 failed / unparseable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648400-13A1-452E-BAEC-C20F2531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D20D9E-3DAC-48F4-B0D7-B9D76264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1B5E9D-9CAF-4853-9636-71C87CC2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APPLICATION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2E1DB8A-D05D-46FB-ACDF-7254E99C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100% decisions applied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3F187F2-1CC7-468A-BCBF-308BBC84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232B2A9-7329-4D1D-986D-62C286B2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210251F-5EE0-41C5-BF4F-9D0DCDAB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VRAM CAP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D1BF0F6-48F3-46AE-BA0C-3D2808C0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Torch capped at 42%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44F5ACF-13A6-48A7-A554-A5AB4818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105156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0D24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DE1C829-35AA-48CF-AD74-17AC339D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958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OPTIMIZED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9B47050-8F31-4C42-9BB4-FF811DD1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838700"/>
            <a:ext cx="8934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Full GPU offload · quantization · batching · constrained JSON · VRAM partitioning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FCC7153-7ABD-4C5F-8272-8522E406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Measured locally; CPU-vs-ROCm comparison remains a final benchmark gap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162FFCB-C15C-4525-9E4E-778724C5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09408991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3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8BEF62C-B5C9-4968-882E-6367975B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12 / AMD OPTIMIZATION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5A3645-1FAA-41CE-B41D-2DA3D5CD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The stack is tuned for throughput, validity, and shared VRAM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55271-68DD-4C02-ADAB-AD79803FF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4A09DA-5A79-41C2-870F-5A7D4B63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5AD0E-DB12-4145-AFD4-1C408FD6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DB8C4-B60F-4DF8-9CD2-CC2D1CE0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0F7F2C-CB2B-4827-8138-DDBF1812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QUANTIZE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3DC3CA-D38A-4E37-A50B-F1896871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Q4_K_M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207A64-EC90-4644-AFE5-4F50872F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8DC0E9-583B-44B1-B806-93AC0561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192EC2-6A0A-43D1-87EA-DFDECAF2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GPU OFFLOAD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BF5DDC-7CF9-47F0-A9C9-E8F1BC3A9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All model layers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71B39-38F1-4EDD-B0A8-1B7EA503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73E0E3-B4AC-4751-918A-195C328E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3BC7B2-76DD-468E-9AD6-2A4FA80F2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SLOTS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919BE-B591-402F-B17C-BA23204C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32 concurrent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A70F86-2D13-496B-B7E5-92C62C3B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A0FA7D-58ED-4F58-A48B-CBBE8B40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6B907E-614E-4B5C-80E2-400F4DC9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BATCHING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9D8C9D-6FEA-4ADE-871A-4FEE0872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Continuous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015A97-07E9-4E38-BDC3-8CAB3069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2EDDBB-B9BF-4F8C-BC5B-AF045CC9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4FDBA5-114F-4C2A-845F-8707CFEF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JSON VALIDITY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8F6E73-9F93-4315-9240-FB90D698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Grammar-constrained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120515-8680-4FA4-8957-7E7A3A1F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B713B8-AF00-4C7D-A665-2E9B5711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BAD49D-5804-4B4B-AA07-5DB5E7EF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VRAM CAP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AF77A4-7C37-4255-838D-C79D97B0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Torch 42%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379092-FAC6-4A61-8372-D5F34E01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8E7C50-073E-4BEF-B7C2-AD383796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B982"/>
          </a:solidFill>
          <a:ln xmlns:a="http://schemas.openxmlformats.org/drawingml/2006/main" w="0">
            <a:solidFill>
              <a:srgbClr val="39B9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BD084F-B457-452B-8A32-67B07816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CONTEXT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1B1A6F-78C7-4E79-B9F8-B3690628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Compact memory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5680BD-5F6A-453E-99FA-CECD4579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C263EA-2C59-46DD-ABEF-A3810AD0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A6A70E-2CC6-466B-939C-5B74C604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APPLIED RATE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7A5CFB4-59D1-4297-A347-271A8E68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100%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648400-13A1-452E-BAEC-C20F2531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D20D9E-3DAC-48F4-B0D7-B9D76264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1B5E9D-9CAF-4853-9636-71C87CC2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THROUGHPUT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2E1DB8A-D05D-46FB-ACDF-7254E99C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88.5 tok/s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3F187F2-1CC7-468A-BCBF-308BBC84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232B2A9-7329-4D1D-986D-62C286B2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210251F-5EE0-41C5-BF4F-9D0DCDAB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MEAN CALL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D1BF0F6-48F3-46AE-BA0C-3D2808C0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0.285 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44F5ACF-13A6-48A7-A554-A5AB4818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105156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0D24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DE1C829-35AA-48CF-AD74-17AC339D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958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WHY IT MATTERS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9B47050-8F31-4C42-9BB4-FF811DD1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838700"/>
            <a:ext cx="8934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Optimization prevents simulator/LLM contention while keeping every leader decision parseable and executable.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FCC7153-7ABD-4C5F-8272-8522E406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Measured on AMD Radeon gfx1100 · 48 GiB · ROCm 7.2.1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162FFCB-C15C-4525-9E4E-778724C5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09408991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4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726515-D2D0-4362-82C1-1E786B3B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14 / CLAIM BOUNDARIES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A91321-A9E2-465B-B1F1-D2907549F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Strong evidence is clearer when its limits are explicit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39858-3EAD-4C3D-8F2B-D665E21C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FB1FC1-728D-46F0-BCC0-57298C8A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2370B4-999A-4E76-9074-A4AABCE9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65440-1318-4A5A-A31D-AE9D6244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B76A29-1953-404F-A7BE-C2BC228C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8D1C9"/>
                </a:solidFill>
              </a:defRPr>
            </a:pPr>
            <a:r>
              <a:rPr sz="1350" b="1">
                <a:solidFill>
                  <a:srgbClr val="38D1C9"/>
                </a:solidFill>
              </a:rPr>
              <a:t>ESTABLISHED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24D74-D678-4B01-8E8A-035D7B60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84785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Agents reason, plan, call tools, use compact memory, and mutate simulator state.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1AB1B-925E-4F7A-9D42-B64B1B2C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BA4322-EBF8-4E09-BFD6-11758336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5A5703-11DE-43E5-8765-031FC1E2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CA64"/>
                </a:solidFill>
              </a:defRPr>
            </a:pPr>
            <a:r>
              <a:rPr sz="1350" b="1">
                <a:solidFill>
                  <a:srgbClr val="F4CA64"/>
                </a:solidFill>
              </a:rPr>
              <a:t>MEASURED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EDA0A0-C1F0-463E-A7F9-096D9E62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4800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Local Radeon/ROCm runs provide latency, throughput, validity, and application metrics.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970159-6BD2-4819-8E44-CFB2EB90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2F9533-5DF9-4ABA-9FF5-49D49D47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862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589273-0B0B-4FE9-A11F-357DB064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2766B"/>
                </a:solidFill>
              </a:defRPr>
            </a:pPr>
            <a:r>
              <a:rPr sz="1350" b="1">
                <a:solidFill>
                  <a:srgbClr val="F2766B"/>
                </a:solidFill>
              </a:rPr>
              <a:t>NOT CLAIMED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CAEA2F-1CF3-43E5-951F-B47368F43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24815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Leadership always improves outcomes, official capacities, or causal significance from one seed.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E1669C-9AF1-4CAD-821B-90099E16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5543550" cy="339090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191532-1B67-4AE9-B11A-10BDF2D1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9B96"/>
                </a:solidFill>
              </a:defRPr>
            </a:pPr>
            <a:r>
              <a:rPr sz="1425" b="1">
                <a:solidFill>
                  <a:srgbClr val="159B96"/>
                </a:solidFill>
              </a:rPr>
              <a:t>NEXT EVIDENCE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ED774C-8903-4E49-9845-888ECFFB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431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9525">
            <a:solidFill>
              <a:srgbClr val="159B9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EB1B82-9442-463D-AAB7-9950B32F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43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47ACA7-70AF-469F-895B-BB465EC2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431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CPU-vs-ROCm same-model baseline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C5346D-5776-4D9E-8615-6C48ABA5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9525">
            <a:solidFill>
              <a:srgbClr val="159B9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46489B-6ABC-4A35-BF3F-A1A25A46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8B807F-98BB-45F4-A02F-C72A2861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384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Repeated benchmark capture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F0229F-9DE8-4A70-A1BA-D925B18D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AD646A-A7A0-44E2-AF93-2782F6A0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41CCB4-533B-4C32-96A4-0FF4E816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337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Multiple random seeds and confidence intervals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AF9FF7-F56B-4DBB-A911-1705532C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A980A2-25F8-4A26-A48D-079E6D53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559D2E-0711-4D5E-817E-ECFB50BF0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290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Official shelter capacity and damaged roads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A4402E-2DAD-4A58-8489-C89A57C9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ED0FC2-D7A6-4722-B23D-F0D6BC2A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71FAAE-9283-47C3-8475-C345CB9D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243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Parameter calibration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F70AE8-5607-4CCD-8964-57054A0D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WHY THIS HELPS THE SCORE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AE84C7-5415-4F53-B0F3-25374338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4864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Clear boundaries make the working Agentic AI evidence more credible.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09CD580-46CB-4349-9262-89B21938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Separate demonstrated capability from the next validation milestone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69F422-3C4D-4F25-A3DC-FA7BD157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62562354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4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726515-D2D0-4362-82C1-1E786B3B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15 / FINAL SCORECARD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A91321-A9E2-465B-B1F1-D2907549F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Score the evidence—not the promise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39858-3EAD-4C3D-8F2B-D665E21C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FB1FC1-728D-46F0-BCC0-57298C8A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2370B4-999A-4E76-9074-A4AABCE9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65440-1318-4A5A-A31D-AE9D6244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B76A29-1953-404F-A7BE-C2BC228C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8D1C9"/>
                </a:solidFill>
              </a:defRPr>
            </a:pPr>
            <a:r>
              <a:rPr sz="1350" b="1">
                <a:solidFill>
                  <a:srgbClr val="38D1C9"/>
                </a:solidFill>
              </a:rPr>
              <a:t>FUNCTIONAL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24D74-D678-4B01-8E8A-035D7B60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84785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Working overseas-city pipeline, agent execution, playback, and scenario comparison.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1AB1B-925E-4F7A-9D42-B64B1B2C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BA4322-EBF8-4E09-BFD6-11758336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5A5703-11DE-43E5-8765-031FC1E2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CA64"/>
                </a:solidFill>
              </a:defRPr>
            </a:pPr>
            <a:r>
              <a:rPr sz="1350" b="1">
                <a:solidFill>
                  <a:srgbClr val="F4CA64"/>
                </a:solidFill>
              </a:rPr>
              <a:t>INNOVATION + UX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EDA0A0-C1F0-463E-A7F9-096D9E62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4800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City-scale leader–resident coordination with inspectable road, capacity, and information mechanisms.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970159-6BD2-4819-8E44-CFB2EB90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2F9533-5DF9-4ABA-9FF5-49D49D47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862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589273-0B0B-4FE9-A11F-357DB064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2766B"/>
                </a:solidFill>
              </a:defRPr>
            </a:pPr>
            <a:r>
              <a:rPr sz="1350" b="1">
                <a:solidFill>
                  <a:srgbClr val="F2766B"/>
                </a:solidFill>
              </a:rPr>
              <a:t>AMD + ROCM / 40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CAEA2F-1CF3-43E5-951F-B47368F43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24815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Real local Radeon inference is verified with concurrency, validity, throughput, and VRAM evidence.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E1669C-9AF1-4CAD-821B-90099E16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5543550" cy="339090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191532-1B67-4AE9-B11A-10BDF2D1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9B96"/>
                </a:solidFill>
              </a:defRPr>
            </a:pPr>
            <a:r>
              <a:rPr sz="1425" b="1">
                <a:solidFill>
                  <a:srgbClr val="159B96"/>
                </a:solidFill>
              </a:rPr>
              <a:t>LIVE DEMO ORDER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ED774C-8903-4E49-9845-888ECFFB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431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9525">
            <a:solidFill>
              <a:srgbClr val="159B9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EB1B82-9442-463D-AAB7-9950B32F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43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47ACA7-70AF-469F-895B-BB465EC2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431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Open the English overseas-city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C5346D-5776-4D9E-8615-6C48ABA5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9525">
            <a:solidFill>
              <a:srgbClr val="159B9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46489B-6ABC-4A35-BF3F-A1A25A46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8B807F-98BB-45F4-A02F-C72A2861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384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Show road tiers and the model adjacency network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F0229F-9DE8-4A70-A1BA-D925B18D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AD646A-A7A0-44E2-AF93-2782F6A0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41CCB4-533B-4C32-96A4-0FF4E816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337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Run baseline vs LLM playback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AF9FF7-F56B-4DBB-A911-1705532C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A980A2-25F8-4A26-A48D-079E6D53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559D2E-0711-4D5E-817E-ECFB50BF0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290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Show the local LLM health / GPU monitor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A4402E-2DAD-4A58-8489-C89A57C9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ED0FC2-D7A6-4722-B23D-F0D6BC2A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71FAAE-9283-47C3-8475-C345CB9D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243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Open measured-run metrics: 4,242 calls, 0 failures, 100% applied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F70AE8-5607-4CCD-8964-57054A0D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SUBMISSION CLAIM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AE84C7-5415-4F53-B0F3-25374338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4864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QuakeSense is a functional Agentic AI system whose local LLM decisions execute inside a city-scale emergency simulation on AMD Radeon + ROCm.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09CD580-46CB-4349-9262-89B21938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Show working agents, Radeon evidence, and measurable application value—without overstating causality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69F422-3C4D-4F25-A3DC-FA7BD157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62562354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9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E16C1D-9708-40F6-BA94-BAB0E033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D6BD"/>
                </a:solidFill>
              </a:defRPr>
            </a:pPr>
            <a:r>
              <a:rPr sz="1275" b="1">
                <a:solidFill>
                  <a:srgbClr val="26D6BD"/>
                </a:solidFill>
              </a:rPr>
              <a:t>RESEARCH SIGNIFICANCE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4DA03C-6BB6-456A-8226-1B0BB2C7A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7FB"/>
                </a:solidFill>
              </a:defRPr>
            </a:pPr>
            <a:r>
              <a:rPr sz="2850" b="1">
                <a:solidFill>
                  <a:srgbClr val="F5F7FB"/>
                </a:solidFill>
              </a:rPr>
              <a:t>Why this work matters beyond a single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943F42-8221-475B-9D54-9B74DEBC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762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9AA9C2"/>
                </a:solidFill>
              </a:defRPr>
            </a:pPr>
            <a:r>
              <a:rPr sz="1650" b="1">
                <a:solidFill>
                  <a:srgbClr val="9AA9C2"/>
                </a:solidFill>
              </a:rPr>
              <a:t>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7128F4-8B3B-4CD3-AF5F-03D4135A3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42875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6D6BD"/>
          </a:solidFill>
          <a:ln xmlns:a="http://schemas.openxmlformats.org/drawingml/2006/main" w="9525">
            <a:solidFill>
              <a:srgbClr val="26D6B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89266D-9E79-4E60-9AA3-F7783744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457450" cy="34290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111A2D"/>
          </a:solidFill>
          <a:ln xmlns:a="http://schemas.openxmlformats.org/drawingml/2006/main" w="9525">
            <a:solidFill>
              <a:srgbClr val="24324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7CA432-AF81-4A91-A8B4-25FCFD85F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5740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SCIENTIFIC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DCF0F2-31E7-4A2E-9C0A-C8FE4CB4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14600"/>
            <a:ext cx="20764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7FB"/>
                </a:solidFill>
              </a:defRPr>
            </a:pPr>
            <a:r>
              <a:rPr sz="1500" b="1">
                <a:solidFill>
                  <a:srgbClr val="F5F7FB"/>
                </a:solidFill>
              </a:rPr>
              <a:t>Connects microscopic behavior, physical capacity, information, and city-scale outcomes in one auditable model.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7D1DCE-7A90-4F54-8F18-83AE34A3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19650"/>
            <a:ext cx="6858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D3D"/>
          </a:solidFill>
          <a:ln xmlns:a="http://schemas.openxmlformats.org/drawingml/2006/main" w="9525">
            <a:solidFill>
              <a:srgbClr val="FF9D3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39FBCD-A3EE-4617-A253-F879CA54A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809750"/>
            <a:ext cx="2457450" cy="34290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111A2D"/>
          </a:solidFill>
          <a:ln xmlns:a="http://schemas.openxmlformats.org/drawingml/2006/main" w="9525">
            <a:solidFill>
              <a:srgbClr val="24324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4F4CA6-34AC-4FFB-9804-8E13FC6F9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5740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COMPARATIVE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0116EF-D513-4767-B1C7-5ED29255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514600"/>
            <a:ext cx="20764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7FB"/>
                </a:solidFill>
              </a:defRPr>
            </a:pPr>
            <a:r>
              <a:rPr sz="1500" b="1">
                <a:solidFill>
                  <a:srgbClr val="F5F7FB"/>
                </a:solidFill>
              </a:rPr>
              <a:t>Runs one evidence structure across seven overseas cities, exposing when the same coordination policy transfers—or fails.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168092-3B88-465B-89D7-B701A2E3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819650"/>
            <a:ext cx="6858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D3D"/>
          </a:solidFill>
          <a:ln xmlns:a="http://schemas.openxmlformats.org/drawingml/2006/main" w="9525">
            <a:solidFill>
              <a:srgbClr val="FF9D3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84C58C-6670-4B19-85F6-03F9A1E2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09750"/>
            <a:ext cx="2457450" cy="34290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111A2D"/>
          </a:solidFill>
          <a:ln xmlns:a="http://schemas.openxmlformats.org/drawingml/2006/main" w="9525">
            <a:solidFill>
              <a:srgbClr val="24324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9CEC69-BDF4-476F-9376-AC1BBC50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5740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PRACTICAL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779837-8769-407E-9235-1AD7AD2E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14600"/>
            <a:ext cx="20764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7FB"/>
                </a:solidFill>
              </a:defRPr>
            </a:pPr>
            <a:r>
              <a:rPr sz="1500" b="1">
                <a:solidFill>
                  <a:srgbClr val="F5F7FB"/>
                </a:solidFill>
              </a:rPr>
              <a:t>Lets planners stress-test shelter capacity, route disruption, warning timing, and assistance needs before an emergency.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2B1515-D09F-449B-8ECC-22B847496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819650"/>
            <a:ext cx="6858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D3D"/>
          </a:solidFill>
          <a:ln xmlns:a="http://schemas.openxmlformats.org/drawingml/2006/main" w="9525">
            <a:solidFill>
              <a:srgbClr val="FF9D3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E74B39-B084-4B40-ACCD-03A9BBB86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809750"/>
            <a:ext cx="2457450" cy="34290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111A2D"/>
          </a:solidFill>
          <a:ln xmlns:a="http://schemas.openxmlformats.org/drawingml/2006/main" w="9525">
            <a:solidFill>
              <a:srgbClr val="24324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1A9B99-A4BB-45E5-8F2F-4120FE358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05740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RESPONSIBLE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028518-CEBE-4B2E-A7F2-71E7883F1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514600"/>
            <a:ext cx="20764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7FB"/>
                </a:solidFill>
              </a:defRPr>
            </a:pPr>
            <a:r>
              <a:rPr sz="1500" b="1">
                <a:solidFill>
                  <a:srgbClr val="F5F7FB"/>
                </a:solidFill>
              </a:rPr>
              <a:t>Uses synthetic, population-conserving trajectories instead of reconstructing identifiable individuals; assumptions remain visible.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CD6F1D-DD52-4583-93A5-29E33AAB4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819650"/>
            <a:ext cx="6858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D3D"/>
          </a:solidFill>
          <a:ln xmlns:a="http://schemas.openxmlformats.org/drawingml/2006/main" w="9525">
            <a:solidFill>
              <a:srgbClr val="FF9D3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803279-6875-4FA3-AB8B-30A66E0A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107442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1728"/>
          </a:solidFill>
          <a:ln xmlns:a="http://schemas.openxmlformats.org/drawingml/2006/main" w="9525">
            <a:solidFill>
              <a:srgbClr val="24324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4EB269-FB4B-4FC4-BBD1-F96917EB0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C66C"/>
                </a:solidFill>
              </a:defRPr>
            </a:pPr>
            <a:r>
              <a:rPr sz="1125" b="1">
                <a:solidFill>
                  <a:srgbClr val="F3C66C"/>
                </a:solidFill>
              </a:rPr>
              <a:t>Decision-support 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7BD47A-6D6B-42F7-BF00-55ED0C9D1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619750"/>
            <a:ext cx="809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AA9C2"/>
                </a:solidFill>
              </a:defRPr>
            </a:pPr>
            <a:r>
              <a:rPr sz="1275" b="0">
                <a:solidFill>
                  <a:srgbClr val="9AA9C2"/>
                </a:solidFill>
              </a:rPr>
              <a:t>A scenario laboratory—not a forecast, not an official evacuation plan, and not evidence of causal benefit without external validation.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2C2D5C-0C12-421B-BEF1-AEFF9E8E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Contribution: inspectable counterfactual evidence for human–AI emergency coordination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2527D3-688A-4C57-9E44-693618EFB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77000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62562354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90E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C008F0-185B-41F3-8BD3-D6940C8C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D6BD"/>
                </a:solidFill>
              </a:defRPr>
            </a:pPr>
            <a:r>
              <a:rPr sz="1275" b="1">
                <a:solidFill>
                  <a:srgbClr val="26D6BD"/>
                </a:solidFill>
              </a:rPr>
              <a:t>ACKNOWLEDGMENT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D0D872-1F34-44ED-A5CE-A5FE78F02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7FB"/>
                </a:solidFill>
              </a:defRPr>
            </a:pPr>
            <a:r>
              <a:rPr sz="2850" b="1">
                <a:solidFill>
                  <a:srgbClr val="F5F7FB"/>
                </a:solidFill>
              </a:rPr>
              <a:t>Cloud scale made the evidence inspectable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D3F91E-B87E-4B34-9296-EFBAC88B5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762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9AA9C2"/>
                </a:solidFill>
              </a:defRPr>
            </a:pPr>
            <a:r>
              <a:rPr sz="1650" b="1">
                <a:solidFill>
                  <a:srgbClr val="9AA9C2"/>
                </a:solidFill>
              </a:rPr>
              <a:t>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AD6D3E-7654-4AFD-9B9B-18B65677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42875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6D6BD"/>
          </a:solidFill>
          <a:ln xmlns:a="http://schemas.openxmlformats.org/drawingml/2006/main" w="9525">
            <a:solidFill>
              <a:srgbClr val="26D6B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3DB8D2-28E1-4F02-97B9-57381171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07442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E1728"/>
          </a:solidFill>
          <a:ln xmlns:a="http://schemas.openxmlformats.org/drawingml/2006/main" w="9525">
            <a:solidFill>
              <a:srgbClr val="24324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481F3C-4049-43C1-B938-471DB03A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5F7FB"/>
                </a:solidFill>
              </a:defRPr>
            </a:pPr>
            <a:r>
              <a:rPr sz="3150" b="1">
                <a:solidFill>
                  <a:srgbClr val="F5F7FB"/>
                </a:solidFill>
              </a:rPr>
              <a:t>THANK YOU, AMD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5EF53C-6D1A-4F40-8846-D47D57EF2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857500"/>
            <a:ext cx="24003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6D6BD"/>
          </a:solidFill>
          <a:ln xmlns:a="http://schemas.openxmlformats.org/drawingml/2006/main" w="9525">
            <a:solidFill>
              <a:srgbClr val="26D6B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52A7B-FEE6-4C60-B5F0-A9C5F9B6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57550"/>
            <a:ext cx="9410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5F7FB"/>
                </a:solidFill>
              </a:defRPr>
            </a:pPr>
            <a:r>
              <a:rPr sz="1950" b="1">
                <a:solidFill>
                  <a:srgbClr val="F5F7FB"/>
                </a:solidFill>
              </a:rPr>
              <a:t>We gratefully acknowledge AMD for providing cloud computing resources that supported large-scale data preparation, multi-city simulation, rendering, and validation.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93D49A-0CE4-4F03-8574-7FD81F56A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191000"/>
            <a:ext cx="8267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9AA9C2"/>
                </a:solidFill>
              </a:defRPr>
            </a:pPr>
            <a:r>
              <a:rPr sz="1350" b="0">
                <a:solidFill>
                  <a:srgbClr val="9AA9C2"/>
                </a:solidFill>
              </a:rPr>
              <a:t>AMD Radeon + ROCm also enabled local inference and performance evidence in the submitted system.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3D4103-2330-4A33-9C23-73D10959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19700"/>
            <a:ext cx="89535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11A2D"/>
          </a:solidFill>
          <a:ln xmlns:a="http://schemas.openxmlformats.org/drawingml/2006/main" w="9525">
            <a:solidFill>
              <a:srgbClr val="24324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A01259-9138-4BEB-A49F-50DE1E9C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410200"/>
            <a:ext cx="834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3C66C"/>
                </a:solidFill>
              </a:defRPr>
            </a:pPr>
            <a:r>
              <a:rPr sz="1275" b="1">
                <a:solidFill>
                  <a:srgbClr val="F3C66C"/>
                </a:solidFill>
              </a:rPr>
              <a:t>This acknowledgment does not imply AMD endorsement of the methods, scenarios, results, or conclusions.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E6CD78-4D2E-459F-8EB1-47FFC1F7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QuakeSense · Agentic AI for inspectable emergency-simulation 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E6D783-7205-4C2C-AF18-5830037BC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77000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6256235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2026-08-05T17:06:25.5370000Z</dcterms:created>
  <dcterms:modified xsi:type="dcterms:W3CDTF">2026-08-05T17:06:25.5370000Z</dcterms:modified>
</coreProperties>
</file>