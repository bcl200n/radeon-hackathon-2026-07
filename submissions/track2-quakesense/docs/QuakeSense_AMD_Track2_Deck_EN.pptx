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research question and define the product immediately: we developed QuakeSense as an executable LLM-driven evacuation system, not a map dashboard alone.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AMD Track 2: Agentic AI judging criteria</a:t>
            </a:r>
          </a:p>
          <a:p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Repeat the one-sentence system context before walking through the score map. Slides 3–11 answer the 60-point block; slides 12–13 answer the 40-point AMD/ROCm block.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AMD Track 2: Agentic AI judging criteria</a:t>
            </a:r>
          </a:p>
          <a:p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closed loop from real inputs to agent reasoning, validated tool execution, simulator state change, and an inspectable product.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AMD Track 2: Agentic AI judging criteria</a:t>
            </a:r>
          </a:p>
          <a:p>
            <a:r>
              <a:t>- /workspace/persistence/codex/project/README.md</a:t>
            </a:r>
          </a:p>
          <a:p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ten-minute scheduler: observe, reason, plan, validate, execute, update memory, and replan.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AMD Track 2: Agentic AI judging criteria</a:t>
            </a:r>
          </a:p>
          <a:p>
            <a:r>
              <a:t>- /workspace/persistence/codex/project/README.md</a:t>
            </a:r>
          </a:p>
          <a:p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Xi’an as the live proof that the LLM layer executes: 350 leaders, 4,242 decisions, no parse failures, and 100 percent application.</a:t>
            </a:r>
          </a:p>
          <a:p>
            <a:endParaRPr/>
          </a:p>
          <a:p>
            <a:r>
              <a:t>[Sources]</a:t>
            </a:r>
          </a:p>
          <a:p>
            <a:r>
              <a:t>- http://127.0.0.1:8788/xian.html</a:t>
            </a:r>
          </a:p>
          <a:p>
            <a:r>
              <a:t>- /workspace/persistence/codex/project/results_current/xian_llm000/summary.json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Demonstrate the English-first WebGIS controls and explain that roads are both visible layers and computational adjacency inputs.</a:t>
            </a:r>
          </a:p>
          <a:p>
            <a:endParaRPr/>
          </a:p>
          <a:p>
            <a:r>
              <a:t>[Sources]</a:t>
            </a:r>
          </a:p>
          <a:p>
            <a:r>
              <a:t>- http://127.0.0.1:8788/</a:t>
            </a:r>
          </a:p>
          <a:p>
            <a:r>
              <a:t>- /workspace/persistence/codex/project/webgis/index.html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application is not a one-city mock-up. A shared agent contract is exercised against ten different urban structures.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AMD Track 2: Agentic AI judging criteria</a:t>
            </a:r>
          </a:p>
          <a:p>
            <a:r>
              <a:t>- /workspace/persistence/codex/project/README.md</a:t>
            </a:r>
          </a:p>
          <a:p>
            <a:r>
              <a:t>- /workspace/persistence/codex/project/results_current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Ten-city full-population baseline evidence. Each point represents simulated resident state on the corresponding city network.</a:t>
            </a:r>
          </a:p>
          <a:p>
            <a:endParaRPr/>
          </a:p>
          <a:p>
            <a:r>
              <a:t>[Sources]</a:t>
            </a:r>
          </a:p>
          <a:p>
            <a:r>
              <a:t>- QuakeSense results_bigsim/*/summary.json and frames.npz (2026-08-05 measured runs)</a:t>
            </a:r>
          </a:p>
          <a:p>
            <a:r>
              <a:t>- WorldPop gridded population data: https://www.worldpop.org/</a:t>
            </a:r>
          </a:p>
          <a:p>
            <a:r>
              <a:t>- OpenStreetMap road network data: https://www.openstreetmap.org/copyright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Physical access is diagnosed before behavioral interpretation, preventing the AI story from hiding road-network constraints.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</a:t>
            </a:r>
          </a:p>
          <a:p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early outcomes to show that leadership materially changes the trajectory, while keeping claims descriptive.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</a:t>
            </a:r>
          </a:p>
          <a:p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Leadership is a mechanism, not a guaranteed improvement. Long-run outcomes can reverse because capacity and road constraints persist.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</a:t>
            </a:r>
          </a:p>
          <a:p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Highlight innovation as a transferable leader–resident mechanism that exposes different city response profiles.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</a:t>
            </a:r>
          </a:p>
          <a:p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Maximum single-Radeon baseline run across ten cities: 51,853,775 resident agents and 56.0 billion agent-steps.</a:t>
            </a:r>
          </a:p>
          <a:p>
            <a:endParaRPr/>
          </a:p>
          <a:p>
            <a:r>
              <a:t>[Sources]</a:t>
            </a:r>
          </a:p>
          <a:p>
            <a:r>
              <a:t>- QuakeSense results_bigsim/bigsim_summary.json (2026-08-05)</a:t>
            </a:r>
          </a:p>
          <a:p>
            <a:r>
              <a:t>- QuakeSense data/official_shelters/squeeze_cities.json (2026-08-05)</a:t>
            </a:r>
          </a:p>
          <a:p>
            <a:r>
              <a:t>- AMD Radeon gfx1100 / ROCm 7.2.1 runtime capture from the measured host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 measured local Radeon evidence: GPU identity, ROCm version, model, concurrency, throughput, latency, validity, and application rate.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/workspace/persistence/codex/project/results_current/xian_llm000/summary.json</a:t>
            </a:r>
          </a:p>
          <a:p>
            <a:r>
              <a:t>- /workspace/persistence/codex/project/results_current/xian_llm000.log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Connect each optimization to a practical failure mode: latency, simulator contention, malformed tool calls, or excessive memory.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/workspace/persistence/codex/project/results_current/xian_llm000/summary.json</a:t>
            </a:r>
          </a:p>
          <a:p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Chengdu population and shelter context shown against mapped active faults; fault proximity is context, not a deterministic damage forecast.</a:t>
            </a:r>
          </a:p>
          <a:p>
            <a:endParaRPr/>
          </a:p>
          <a:p>
            <a:r>
              <a:t>[Sources]</a:t>
            </a:r>
          </a:p>
          <a:p>
            <a:r>
              <a:t>- GEM Global Active Faults Database: https://www.globalquakemodel.org/product/active-faults-database</a:t>
            </a:r>
          </a:p>
          <a:p>
            <a:r>
              <a:t>- GEM GAF-DB repository: https://github.com/GEMScienceTools/gem-global-active-faults</a:t>
            </a:r>
          </a:p>
          <a:p>
            <a:r>
              <a:t>- QuakeSense deliverables/fig_chengdu_faults.png (generated 2026-08-05)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Validation compares the model's short-range evacuation-distance distribution with the published GPS-derived power-law regime.</a:t>
            </a:r>
          </a:p>
          <a:p>
            <a:endParaRPr/>
          </a:p>
          <a:p>
            <a:r>
              <a:t>[Sources]</a:t>
            </a:r>
          </a:p>
          <a:p>
            <a:r>
              <a:t>- Yabe et al. (2019), Cross-comparative analysis of evacuation behavior after earthquakes using mobile phone data, PLOS ONE: https://doi.org/10.1371/journal.pone.0211375</a:t>
            </a:r>
          </a:p>
          <a:p>
            <a:r>
              <a:t>- QuakeSense manuscript_v2/manuscript.md Section 5.7 and deliverables/fig_validation_distance.png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departure threshold mechanism is calibrated to reproduce the published earthquake evacuation fragility curve; the capacity comparison uses the Chengdu official-shelter ledger.</a:t>
            </a:r>
          </a:p>
          <a:p>
            <a:endParaRPr/>
          </a:p>
          <a:p>
            <a:r>
              <a:t>[Sources]</a:t>
            </a:r>
          </a:p>
          <a:p>
            <a:r>
              <a:t>- Yabe et al. (2019), PLOS ONE: https://doi.org/10.1371/journal.pone.0211375</a:t>
            </a:r>
          </a:p>
          <a:p>
            <a:r>
              <a:t>- QuakeSense manuscript_v2/manuscript.md Section 5.7 and deliverables/fig_validation_fragility.png</a:t>
            </a:r>
          </a:p>
          <a:p>
            <a:r>
              <a:t>- QuakeSense reports/canonical_metrics.json for the 13.45% Chengdu capacity share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Rehearse this exact live sequence. It gives judges visible proof for application value, Agentic AI execution, and AMD local inference in five minutes.</a:t>
            </a:r>
          </a:p>
          <a:p>
            <a:endParaRPr/>
          </a:p>
          <a:p>
            <a:r>
              <a:t>[Sources]</a:t>
            </a:r>
          </a:p>
          <a:p>
            <a:r>
              <a:t>- http://127.0.0.1:8788/</a:t>
            </a:r>
          </a:p>
          <a:p>
            <a:r>
              <a:t>- /workspace/persistence/codex/project/results_current/xian_llm000/summary.json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the boundaries before judges ask. This separates working capability from the next scientific validation milestone.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/workspace/persistence/codex/project/README.md</a:t>
            </a:r>
          </a:p>
          <a:p>
            <a:r>
              <a:t>- /workspace/persistence/codex/project/results_current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in rubric order: 60-point product and value evidence, then 40-point Radeon and ROCm evidence.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AMD Track 2: Agentic AI judging criteria</a:t>
            </a:r>
          </a:p>
          <a:p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rcRect l="15700" r="15700"/>
          <a:stretch>
            <a:fillRect/>
          </a:stretch>
        </p:blipFill>
        <p:spPr>
          <a:xfrm>
            <a:off x="6096000" y="0"/>
            <a:ext cx="6096000" cy="6858000"/>
          </a:xfrm>
          <a:prstGeom prst="round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416FDF4D-6496-4AB9-8FB2-1B5BB7845F41}"/>
              </a:ext>
            </a:extLst>
          </p:cNvPr>
          <p:cNvSpPr>
            <a:spLocks noGrp="1"/>
          </p:cNvSpPr>
          <p:nvPr/>
        </p:nvSpPr>
        <p:spPr>
          <a:xfrm>
            <a:off x="5810250" y="0"/>
            <a:ext cx="1143000" cy="6858000"/>
          </a:xfrm>
          <a:prstGeom prst="rect">
            <a:avLst/>
          </a:prstGeom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3855B9-E471-4690-84FD-1B9AC80DE785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AMD TRACK 2 / AGENTIC AI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0E1A7B7-C717-4B28-9DE0-965433FDFB36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49530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When Does Leadership Matter?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E2B581-52DA-4533-B262-AAD27241163D}"/>
              </a:ext>
            </a:extLst>
          </p:cNvPr>
          <p:cNvSpPr>
            <a:spLocks noGrp="1"/>
          </p:cNvSpPr>
          <p:nvPr/>
        </p:nvSpPr>
        <p:spPr>
          <a:xfrm>
            <a:off x="609600" y="3009900"/>
            <a:ext cx="15621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C32269-7FEC-4451-840B-9DE2FB51AE90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495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We developed QuakeSense—an LLM-driven Agentic AI system for emergency evacuation simulation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965917-C37C-4F3E-9FA2-8737A08DAB9B}"/>
              </a:ext>
            </a:extLst>
          </p:cNvPr>
          <p:cNvSpPr>
            <a:spLocks noGrp="1"/>
          </p:cNvSpPr>
          <p:nvPr/>
        </p:nvSpPr>
        <p:spPr>
          <a:xfrm>
            <a:off x="609600" y="4152900"/>
            <a:ext cx="4762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0">
                <a:solidFill>
                  <a:srgbClr val="A7BAC2"/>
                </a:solidFill>
              </a:defRPr>
            </a:pPr>
            <a:r>
              <a:rPr sz="1425" b="0">
                <a:solidFill>
                  <a:srgbClr val="A7BAC2"/>
                </a:solidFill>
              </a:rPr>
              <a:t>Local LLM leaders reason, plan, use tools, and coordinate resident agents across real city networks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68BC8F9-B4A6-4CCF-BCEA-3212A3D50377}"/>
              </a:ext>
            </a:extLst>
          </p:cNvPr>
          <p:cNvSpPr>
            <a:spLocks noGrp="1"/>
          </p:cNvSpPr>
          <p:nvPr/>
        </p:nvSpPr>
        <p:spPr>
          <a:xfrm>
            <a:off x="609600" y="5448300"/>
            <a:ext cx="4857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A7BAC2"/>
                </a:solidFill>
              </a:defRPr>
            </a:pPr>
            <a:r>
              <a:rPr sz="1125" b="0">
                <a:solidFill>
                  <a:srgbClr val="A7BAC2"/>
                </a:solidFill>
              </a:rPr>
              <a:t>Ten cities · AMD Radeon + ROCm local inference · inspectable English WebGIS</a:t>
            </a:r>
          </a:p>
        </p:txBody>
      </p:sp>
    </p:spTree>
    <p:extLst>
      <p:ext uri="{BB962C8B-B14F-4D97-AF65-F5344CB8AC3E}">
        <p14:creationId xmlns:p14="http://schemas.microsoft.com/office/powerpoint/2010/main" val="1725178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715EEEE9-10F8-4009-A51F-61CD713B6109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01 / JUDGING RUBRIC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5D21FE-09D0-4649-9A37-BB340EF12EBC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Every scoring item has a visible proof point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1FEC99-33CA-40CA-8103-38F0C82C150D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E3B3CC-6493-429D-A054-C272E56D75AD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747D80BA-C383-4290-8B89-951A9153D02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7B51793-0232-4A33-8B0F-C668B9DDABE1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495300" cy="57150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566543-2A63-46CE-98E8-D1D20C1500B3}"/>
              </a:ext>
            </a:extLst>
          </p:cNvPr>
          <p:cNvSpPr>
            <a:spLocks noGrp="1"/>
          </p:cNvSpPr>
          <p:nvPr/>
        </p:nvSpPr>
        <p:spPr>
          <a:xfrm>
            <a:off x="81915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58A6D6"/>
                </a:solidFill>
              </a:defRPr>
            </a:pPr>
            <a:r>
              <a:rPr sz="975" b="1">
                <a:solidFill>
                  <a:srgbClr val="58A6D6"/>
                </a:solidFill>
              </a:rPr>
              <a:t>60 POINTS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74D233-1194-43AA-BE5C-6DDDAA01D07D}"/>
              </a:ext>
            </a:extLst>
          </p:cNvPr>
          <p:cNvSpPr>
            <a:spLocks noGrp="1"/>
          </p:cNvSpPr>
          <p:nvPr/>
        </p:nvSpPr>
        <p:spPr>
          <a:xfrm>
            <a:off x="81915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Functional completeness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2FB86DB-3658-4B26-8E88-BA24F49EF015}"/>
              </a:ext>
            </a:extLst>
          </p:cNvPr>
          <p:cNvSpPr>
            <a:spLocks noGrp="1"/>
          </p:cNvSpPr>
          <p:nvPr/>
        </p:nvSpPr>
        <p:spPr>
          <a:xfrm>
            <a:off x="81915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Data → agent decisions → simulation → English WebGIS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DD8178-4A09-44D6-964B-6B1690268A74}"/>
              </a:ext>
            </a:extLst>
          </p:cNvPr>
          <p:cNvSpPr>
            <a:spLocks noGrp="1"/>
          </p:cNvSpPr>
          <p:nvPr/>
        </p:nvSpPr>
        <p:spPr>
          <a:xfrm>
            <a:off x="297180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33ADCA9-43AD-441C-9233-8EAC55476C41}"/>
              </a:ext>
            </a:extLst>
          </p:cNvPr>
          <p:cNvSpPr>
            <a:spLocks noGrp="1"/>
          </p:cNvSpPr>
          <p:nvPr/>
        </p:nvSpPr>
        <p:spPr>
          <a:xfrm>
            <a:off x="333375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BCAD0E0-A660-4D19-A11F-41E6FD686560}"/>
              </a:ext>
            </a:extLst>
          </p:cNvPr>
          <p:cNvSpPr>
            <a:spLocks noGrp="1"/>
          </p:cNvSpPr>
          <p:nvPr/>
        </p:nvSpPr>
        <p:spPr>
          <a:xfrm>
            <a:off x="3543300" y="2038350"/>
            <a:ext cx="495300" cy="5715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1A6ACE-68C9-48F5-9575-4963BFD3BBE9}"/>
              </a:ext>
            </a:extLst>
          </p:cNvPr>
          <p:cNvSpPr>
            <a:spLocks noGrp="1"/>
          </p:cNvSpPr>
          <p:nvPr/>
        </p:nvSpPr>
        <p:spPr>
          <a:xfrm>
            <a:off x="354330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WITHIN 60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6A0EA6B-3B5B-49B8-B58D-80442C1276E0}"/>
              </a:ext>
            </a:extLst>
          </p:cNvPr>
          <p:cNvSpPr>
            <a:spLocks noGrp="1"/>
          </p:cNvSpPr>
          <p:nvPr/>
        </p:nvSpPr>
        <p:spPr>
          <a:xfrm>
            <a:off x="354330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Scenario innovation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4D43D3E-A1BE-457A-B533-0604B61038C6}"/>
              </a:ext>
            </a:extLst>
          </p:cNvPr>
          <p:cNvSpPr>
            <a:spLocks noGrp="1"/>
          </p:cNvSpPr>
          <p:nvPr/>
        </p:nvSpPr>
        <p:spPr>
          <a:xfrm>
            <a:off x="354330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Local AI leaders coordinate millions of resident agents under disaster constraints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C022212-6DB8-4C82-A0FB-EED9E1772E12}"/>
              </a:ext>
            </a:extLst>
          </p:cNvPr>
          <p:cNvSpPr>
            <a:spLocks noGrp="1"/>
          </p:cNvSpPr>
          <p:nvPr/>
        </p:nvSpPr>
        <p:spPr>
          <a:xfrm>
            <a:off x="569595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09121BC8-9668-4018-A1F5-E23E99541429}"/>
              </a:ext>
            </a:extLst>
          </p:cNvPr>
          <p:cNvSpPr>
            <a:spLocks noGrp="1"/>
          </p:cNvSpPr>
          <p:nvPr/>
        </p:nvSpPr>
        <p:spPr>
          <a:xfrm>
            <a:off x="605790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4ED646-E899-4D25-87B3-59F68FD4B8CB}"/>
              </a:ext>
            </a:extLst>
          </p:cNvPr>
          <p:cNvSpPr>
            <a:spLocks noGrp="1"/>
          </p:cNvSpPr>
          <p:nvPr/>
        </p:nvSpPr>
        <p:spPr>
          <a:xfrm>
            <a:off x="6267450" y="2038350"/>
            <a:ext cx="4953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A830E31-2CB8-4F4D-B78B-28B85FAFB737}"/>
              </a:ext>
            </a:extLst>
          </p:cNvPr>
          <p:cNvSpPr>
            <a:spLocks noGrp="1"/>
          </p:cNvSpPr>
          <p:nvPr/>
        </p:nvSpPr>
        <p:spPr>
          <a:xfrm>
            <a:off x="626745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4CA64"/>
                </a:solidFill>
              </a:defRPr>
            </a:pPr>
            <a:r>
              <a:rPr sz="975" b="1">
                <a:solidFill>
                  <a:srgbClr val="F4CA64"/>
                </a:solidFill>
              </a:rPr>
              <a:t>WITHIN 60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0BD393A-6B4C-4281-8028-5B658AACF364}"/>
              </a:ext>
            </a:extLst>
          </p:cNvPr>
          <p:cNvSpPr>
            <a:spLocks noGrp="1"/>
          </p:cNvSpPr>
          <p:nvPr/>
        </p:nvSpPr>
        <p:spPr>
          <a:xfrm>
            <a:off x="626745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User experience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8716855-6F85-49DB-9911-9B22D66A64B0}"/>
              </a:ext>
            </a:extLst>
          </p:cNvPr>
          <p:cNvSpPr>
            <a:spLocks noGrp="1"/>
          </p:cNvSpPr>
          <p:nvPr/>
        </p:nvSpPr>
        <p:spPr>
          <a:xfrm>
            <a:off x="626745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Ten-city switching, road tiers, playback, and scenario comparison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69534E-4206-497F-A0F8-3D71C76DD752}"/>
              </a:ext>
            </a:extLst>
          </p:cNvPr>
          <p:cNvSpPr>
            <a:spLocks noGrp="1"/>
          </p:cNvSpPr>
          <p:nvPr/>
        </p:nvSpPr>
        <p:spPr>
          <a:xfrm>
            <a:off x="842010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523B91B1-C06F-4351-BE40-FCDD6D6EC413}"/>
              </a:ext>
            </a:extLst>
          </p:cNvPr>
          <p:cNvSpPr>
            <a:spLocks noGrp="1"/>
          </p:cNvSpPr>
          <p:nvPr/>
        </p:nvSpPr>
        <p:spPr>
          <a:xfrm>
            <a:off x="878205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BE7235-46F7-4F08-88B1-DBA9E3455222}"/>
              </a:ext>
            </a:extLst>
          </p:cNvPr>
          <p:cNvSpPr>
            <a:spLocks noGrp="1"/>
          </p:cNvSpPr>
          <p:nvPr/>
        </p:nvSpPr>
        <p:spPr>
          <a:xfrm>
            <a:off x="8991600" y="2038350"/>
            <a:ext cx="4953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0A22BC0-9535-474F-AC75-1C1D44AB8899}"/>
              </a:ext>
            </a:extLst>
          </p:cNvPr>
          <p:cNvSpPr>
            <a:spLocks noGrp="1"/>
          </p:cNvSpPr>
          <p:nvPr/>
        </p:nvSpPr>
        <p:spPr>
          <a:xfrm>
            <a:off x="899160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2766B"/>
                </a:solidFill>
              </a:defRPr>
            </a:pPr>
            <a:r>
              <a:rPr sz="975" b="1">
                <a:solidFill>
                  <a:srgbClr val="F2766B"/>
                </a:solidFill>
              </a:rPr>
              <a:t>40 POINTS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B0BE01F-0C8F-4170-8A08-EA280EE0B624}"/>
              </a:ext>
            </a:extLst>
          </p:cNvPr>
          <p:cNvSpPr>
            <a:spLocks noGrp="1"/>
          </p:cNvSpPr>
          <p:nvPr/>
        </p:nvSpPr>
        <p:spPr>
          <a:xfrm>
            <a:off x="899160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AMD Radeon + ROCm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B5E6150-1F49-4E8E-9F78-7A8CFA06A8E1}"/>
              </a:ext>
            </a:extLst>
          </p:cNvPr>
          <p:cNvSpPr>
            <a:spLocks noGrp="1"/>
          </p:cNvSpPr>
          <p:nvPr/>
        </p:nvSpPr>
        <p:spPr>
          <a:xfrm>
            <a:off x="899160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Real local inference, measured runs, and memory/concurrency optimization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1656941-0346-40C9-A4D1-75BA5F15914F}"/>
              </a:ext>
            </a:extLst>
          </p:cNvPr>
          <p:cNvSpPr>
            <a:spLocks noGrp="1"/>
          </p:cNvSpPr>
          <p:nvPr/>
        </p:nvSpPr>
        <p:spPr>
          <a:xfrm>
            <a:off x="609600" y="5048250"/>
            <a:ext cx="10515600" cy="781050"/>
          </a:xfrm>
          <a:prstGeom prst="roundRect">
            <a:avLst>
              <a:gd name="adj" fmla="val 14634"/>
            </a:avLst>
          </a:prstGeom>
          <a:solidFill>
            <a:srgbClr val="0D2430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A349B54-369A-4B1D-B9B3-C9B7DBB7ECDD}"/>
              </a:ext>
            </a:extLst>
          </p:cNvPr>
          <p:cNvSpPr>
            <a:spLocks noGrp="1"/>
          </p:cNvSpPr>
          <p:nvPr/>
        </p:nvSpPr>
        <p:spPr>
          <a:xfrm>
            <a:off x="800100" y="518160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SYSTEM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CA9406D-DF93-428E-870D-4A304C0A1C32}"/>
              </a:ext>
            </a:extLst>
          </p:cNvPr>
          <p:cNvSpPr>
            <a:spLocks noGrp="1"/>
          </p:cNvSpPr>
          <p:nvPr/>
        </p:nvSpPr>
        <p:spPr>
          <a:xfrm>
            <a:off x="1543050" y="5143500"/>
            <a:ext cx="9239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We developed QuakeSense to connect LLM leaders, resident agents, evacuation simulation, and an inspectable WebGIS in one executable system.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8A76EF4-4B0D-48CC-93DF-45DE0A973B15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With the system defined, the deck follows the 60/40 rubric directly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56FF064-F161-4913-A407-4CD500D33B67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954811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715EEEE9-10F8-4009-A51F-61CD713B6109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02 / FUNCTIONAL COMPLETENESS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5D21FE-09D0-4649-9A37-BB340EF12EBC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QuakeSense closes the full problem-solving loop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1FEC99-33CA-40CA-8103-38F0C82C150D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E3B3CC-6493-429D-A054-C272E56D75AD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747D80BA-C383-4290-8B89-951A9153D02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7B51793-0232-4A33-8B0F-C668B9DDABE1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495300" cy="57150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566543-2A63-46CE-98E8-D1D20C1500B3}"/>
              </a:ext>
            </a:extLst>
          </p:cNvPr>
          <p:cNvSpPr>
            <a:spLocks noGrp="1"/>
          </p:cNvSpPr>
          <p:nvPr/>
        </p:nvSpPr>
        <p:spPr>
          <a:xfrm>
            <a:off x="81915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58A6D6"/>
                </a:solidFill>
              </a:defRPr>
            </a:pPr>
            <a:r>
              <a:rPr sz="975" b="1">
                <a:solidFill>
                  <a:srgbClr val="58A6D6"/>
                </a:solidFill>
              </a:rPr>
              <a:t>INPUTS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74D233-1194-43AA-BE5C-6DDDAA01D07D}"/>
              </a:ext>
            </a:extLst>
          </p:cNvPr>
          <p:cNvSpPr>
            <a:spLocks noGrp="1"/>
          </p:cNvSpPr>
          <p:nvPr/>
        </p:nvSpPr>
        <p:spPr>
          <a:xfrm>
            <a:off x="81915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Real city state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2FB86DB-3658-4B26-8E88-BA24F49EF015}"/>
              </a:ext>
            </a:extLst>
          </p:cNvPr>
          <p:cNvSpPr>
            <a:spLocks noGrp="1"/>
          </p:cNvSpPr>
          <p:nvPr/>
        </p:nvSpPr>
        <p:spPr>
          <a:xfrm>
            <a:off x="81915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Population, roads, terrain, shelters, and capacity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DD8178-4A09-44D6-964B-6B1690268A74}"/>
              </a:ext>
            </a:extLst>
          </p:cNvPr>
          <p:cNvSpPr>
            <a:spLocks noGrp="1"/>
          </p:cNvSpPr>
          <p:nvPr/>
        </p:nvSpPr>
        <p:spPr>
          <a:xfrm>
            <a:off x="297180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33ADCA9-43AD-441C-9233-8EAC55476C41}"/>
              </a:ext>
            </a:extLst>
          </p:cNvPr>
          <p:cNvSpPr>
            <a:spLocks noGrp="1"/>
          </p:cNvSpPr>
          <p:nvPr/>
        </p:nvSpPr>
        <p:spPr>
          <a:xfrm>
            <a:off x="333375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BCAD0E0-A660-4D19-A11F-41E6FD686560}"/>
              </a:ext>
            </a:extLst>
          </p:cNvPr>
          <p:cNvSpPr>
            <a:spLocks noGrp="1"/>
          </p:cNvSpPr>
          <p:nvPr/>
        </p:nvSpPr>
        <p:spPr>
          <a:xfrm>
            <a:off x="3543300" y="2038350"/>
            <a:ext cx="495300" cy="5715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1A6ACE-68C9-48F5-9575-4963BFD3BBE9}"/>
              </a:ext>
            </a:extLst>
          </p:cNvPr>
          <p:cNvSpPr>
            <a:spLocks noGrp="1"/>
          </p:cNvSpPr>
          <p:nvPr/>
        </p:nvSpPr>
        <p:spPr>
          <a:xfrm>
            <a:off x="354330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AGENTS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6A0EA6B-3B5B-49B8-B58D-80442C1276E0}"/>
              </a:ext>
            </a:extLst>
          </p:cNvPr>
          <p:cNvSpPr>
            <a:spLocks noGrp="1"/>
          </p:cNvSpPr>
          <p:nvPr/>
        </p:nvSpPr>
        <p:spPr>
          <a:xfrm>
            <a:off x="354330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Reason and plan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4D43D3E-A1BE-457A-B533-0604B61038C6}"/>
              </a:ext>
            </a:extLst>
          </p:cNvPr>
          <p:cNvSpPr>
            <a:spLocks noGrp="1"/>
          </p:cNvSpPr>
          <p:nvPr/>
        </p:nvSpPr>
        <p:spPr>
          <a:xfrm>
            <a:off x="354330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Leaders observe local briefs; residents maintain beliefs and routes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C022212-6DB8-4C82-A0FB-EED9E1772E12}"/>
              </a:ext>
            </a:extLst>
          </p:cNvPr>
          <p:cNvSpPr>
            <a:spLocks noGrp="1"/>
          </p:cNvSpPr>
          <p:nvPr/>
        </p:nvSpPr>
        <p:spPr>
          <a:xfrm>
            <a:off x="569595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09121BC8-9668-4018-A1F5-E23E99541429}"/>
              </a:ext>
            </a:extLst>
          </p:cNvPr>
          <p:cNvSpPr>
            <a:spLocks noGrp="1"/>
          </p:cNvSpPr>
          <p:nvPr/>
        </p:nvSpPr>
        <p:spPr>
          <a:xfrm>
            <a:off x="605790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4ED646-E899-4D25-87B3-59F68FD4B8CB}"/>
              </a:ext>
            </a:extLst>
          </p:cNvPr>
          <p:cNvSpPr>
            <a:spLocks noGrp="1"/>
          </p:cNvSpPr>
          <p:nvPr/>
        </p:nvSpPr>
        <p:spPr>
          <a:xfrm>
            <a:off x="6267450" y="2038350"/>
            <a:ext cx="4953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A830E31-2CB8-4F4D-B78B-28B85FAFB737}"/>
              </a:ext>
            </a:extLst>
          </p:cNvPr>
          <p:cNvSpPr>
            <a:spLocks noGrp="1"/>
          </p:cNvSpPr>
          <p:nvPr/>
        </p:nvSpPr>
        <p:spPr>
          <a:xfrm>
            <a:off x="626745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4CA64"/>
                </a:solidFill>
              </a:defRPr>
            </a:pPr>
            <a:r>
              <a:rPr sz="975" b="1">
                <a:solidFill>
                  <a:srgbClr val="F4CA64"/>
                </a:solidFill>
              </a:rPr>
              <a:t>EXECUTION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0BD393A-6B4C-4281-8028-5B658AACF364}"/>
              </a:ext>
            </a:extLst>
          </p:cNvPr>
          <p:cNvSpPr>
            <a:spLocks noGrp="1"/>
          </p:cNvSpPr>
          <p:nvPr/>
        </p:nvSpPr>
        <p:spPr>
          <a:xfrm>
            <a:off x="626745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Tools change state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8716855-6F85-49DB-9911-9B22D66A64B0}"/>
              </a:ext>
            </a:extLst>
          </p:cNvPr>
          <p:cNvSpPr>
            <a:spLocks noGrp="1"/>
          </p:cNvSpPr>
          <p:nvPr/>
        </p:nvSpPr>
        <p:spPr>
          <a:xfrm>
            <a:off x="626745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Validated broadcasts update knowledge, movement, and allocation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69534E-4206-497F-A0F8-3D71C76DD752}"/>
              </a:ext>
            </a:extLst>
          </p:cNvPr>
          <p:cNvSpPr>
            <a:spLocks noGrp="1"/>
          </p:cNvSpPr>
          <p:nvPr/>
        </p:nvSpPr>
        <p:spPr>
          <a:xfrm>
            <a:off x="842010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523B91B1-C06F-4351-BE40-FCDD6D6EC413}"/>
              </a:ext>
            </a:extLst>
          </p:cNvPr>
          <p:cNvSpPr>
            <a:spLocks noGrp="1"/>
          </p:cNvSpPr>
          <p:nvPr/>
        </p:nvSpPr>
        <p:spPr>
          <a:xfrm>
            <a:off x="878205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BE7235-46F7-4F08-88B1-DBA9E3455222}"/>
              </a:ext>
            </a:extLst>
          </p:cNvPr>
          <p:cNvSpPr>
            <a:spLocks noGrp="1"/>
          </p:cNvSpPr>
          <p:nvPr/>
        </p:nvSpPr>
        <p:spPr>
          <a:xfrm>
            <a:off x="8991600" y="2038350"/>
            <a:ext cx="4953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0A22BC0-9535-474F-AC75-1C1D44AB8899}"/>
              </a:ext>
            </a:extLst>
          </p:cNvPr>
          <p:cNvSpPr>
            <a:spLocks noGrp="1"/>
          </p:cNvSpPr>
          <p:nvPr/>
        </p:nvSpPr>
        <p:spPr>
          <a:xfrm>
            <a:off x="899160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2766B"/>
                </a:solidFill>
              </a:defRPr>
            </a:pPr>
            <a:r>
              <a:rPr sz="975" b="1">
                <a:solidFill>
                  <a:srgbClr val="F2766B"/>
                </a:solidFill>
              </a:rPr>
              <a:t>PRODUCT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B0BE01F-0C8F-4170-8A08-EA280EE0B624}"/>
              </a:ext>
            </a:extLst>
          </p:cNvPr>
          <p:cNvSpPr>
            <a:spLocks noGrp="1"/>
          </p:cNvSpPr>
          <p:nvPr/>
        </p:nvSpPr>
        <p:spPr>
          <a:xfrm>
            <a:off x="899160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Inspectable WebGIS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B5E6150-1F49-4E8E-9F78-7A8CFA06A8E1}"/>
              </a:ext>
            </a:extLst>
          </p:cNvPr>
          <p:cNvSpPr>
            <a:spLocks noGrp="1"/>
          </p:cNvSpPr>
          <p:nvPr/>
        </p:nvSpPr>
        <p:spPr>
          <a:xfrm>
            <a:off x="899160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Baseline/LLM comparison, layers, playback, and metrics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1656941-0346-40C9-A4D1-75BA5F15914F}"/>
              </a:ext>
            </a:extLst>
          </p:cNvPr>
          <p:cNvSpPr>
            <a:spLocks noGrp="1"/>
          </p:cNvSpPr>
          <p:nvPr/>
        </p:nvSpPr>
        <p:spPr>
          <a:xfrm>
            <a:off x="609600" y="5048250"/>
            <a:ext cx="10515600" cy="781050"/>
          </a:xfrm>
          <a:prstGeom prst="roundRect">
            <a:avLst>
              <a:gd name="adj" fmla="val 14634"/>
            </a:avLst>
          </a:prstGeom>
          <a:solidFill>
            <a:srgbClr val="0D2430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A349B54-369A-4B1D-B9B3-C9B7DBB7ECDD}"/>
              </a:ext>
            </a:extLst>
          </p:cNvPr>
          <p:cNvSpPr>
            <a:spLocks noGrp="1"/>
          </p:cNvSpPr>
          <p:nvPr/>
        </p:nvSpPr>
        <p:spPr>
          <a:xfrm>
            <a:off x="800100" y="518160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PROOF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CA9406D-DF93-428E-870D-4A304C0A1C32}"/>
              </a:ext>
            </a:extLst>
          </p:cNvPr>
          <p:cNvSpPr>
            <a:spLocks noGrp="1"/>
          </p:cNvSpPr>
          <p:nvPr/>
        </p:nvSpPr>
        <p:spPr>
          <a:xfrm>
            <a:off x="1543050" y="5143500"/>
            <a:ext cx="9239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 working path runs from real inputs to agent action, measurable outcomes, and an English decision interface.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8A76EF4-4B0D-48CC-93DF-45DE0A973B15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Functional completeness is demonstrated live—not inferred from architecture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56FF064-F161-4913-A407-4CD500D33B67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954811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91EAABD5-806E-4789-8ED9-4653130E4318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03 / LLM LEADERSHIP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41BB84D-0BFD-4D86-9BEA-8DA31B8AAAE9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A scheduled leader layer changes resident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7E79B48-37C0-4A17-A85A-A0BC3D3D0C9C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B4023E-D24F-4B8E-AC0E-8578BB53DB19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72F6D494-CAED-4BEA-9E79-AEBAFEAAE984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1943100" cy="2819400"/>
          </a:xfrm>
          <a:prstGeom prst="roundRect">
            <a:avLst>
              <a:gd name="adj" fmla="val 7843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407BBF-3255-4A8B-974D-A57AE1DD3FD1}"/>
              </a:ext>
            </a:extLst>
          </p:cNvPr>
          <p:cNvSpPr>
            <a:spLocks noGrp="1"/>
          </p:cNvSpPr>
          <p:nvPr/>
        </p:nvSpPr>
        <p:spPr>
          <a:xfrm>
            <a:off x="800100" y="2095500"/>
            <a:ext cx="457200" cy="57150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E2EDDA-7DA2-43DF-87F9-ECF26119855F}"/>
              </a:ext>
            </a:extLst>
          </p:cNvPr>
          <p:cNvSpPr>
            <a:spLocks noGrp="1"/>
          </p:cNvSpPr>
          <p:nvPr/>
        </p:nvSpPr>
        <p:spPr>
          <a:xfrm>
            <a:off x="800100" y="2381250"/>
            <a:ext cx="1562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① OBSERVE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582001A-EBAF-4283-B617-D395C645AB85}"/>
              </a:ext>
            </a:extLst>
          </p:cNvPr>
          <p:cNvSpPr>
            <a:spLocks noGrp="1"/>
          </p:cNvSpPr>
          <p:nvPr/>
        </p:nvSpPr>
        <p:spPr>
          <a:xfrm>
            <a:off x="800100" y="2895600"/>
            <a:ext cx="15621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Every 10 minutes, each leader receives its jurisdiction's local brief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9953052-A2FB-403D-84B0-F8710E2D07E9}"/>
              </a:ext>
            </a:extLst>
          </p:cNvPr>
          <p:cNvSpPr>
            <a:spLocks noGrp="1"/>
          </p:cNvSpPr>
          <p:nvPr/>
        </p:nvSpPr>
        <p:spPr>
          <a:xfrm>
            <a:off x="2533650" y="29908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7261B1D-B3FF-49AE-957B-0BDD4508E6FC}"/>
              </a:ext>
            </a:extLst>
          </p:cNvPr>
          <p:cNvSpPr>
            <a:spLocks noGrp="1"/>
          </p:cNvSpPr>
          <p:nvPr/>
        </p:nvSpPr>
        <p:spPr>
          <a:xfrm>
            <a:off x="2781300" y="1866900"/>
            <a:ext cx="1943100" cy="2819400"/>
          </a:xfrm>
          <a:prstGeom prst="roundRect">
            <a:avLst>
              <a:gd name="adj" fmla="val 7843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71A28F-8535-4FB5-B307-064ABA57A486}"/>
              </a:ext>
            </a:extLst>
          </p:cNvPr>
          <p:cNvSpPr>
            <a:spLocks noGrp="1"/>
          </p:cNvSpPr>
          <p:nvPr/>
        </p:nvSpPr>
        <p:spPr>
          <a:xfrm>
            <a:off x="2971800" y="2095500"/>
            <a:ext cx="457200" cy="5715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65BD33-A0EB-414B-A1C2-F85E65FC820C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1562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② REASON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A3EA4F-11C6-4C98-BDDD-0BD3DD6D0682}"/>
              </a:ext>
            </a:extLst>
          </p:cNvPr>
          <p:cNvSpPr>
            <a:spLocks noGrp="1"/>
          </p:cNvSpPr>
          <p:nvPr/>
        </p:nvSpPr>
        <p:spPr>
          <a:xfrm>
            <a:off x="2971800" y="2895600"/>
            <a:ext cx="15621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Local Qwen combines the current brief with compact leader memory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97FF93-F71B-49E9-AC9C-0DB24B6184CA}"/>
              </a:ext>
            </a:extLst>
          </p:cNvPr>
          <p:cNvSpPr>
            <a:spLocks noGrp="1"/>
          </p:cNvSpPr>
          <p:nvPr/>
        </p:nvSpPr>
        <p:spPr>
          <a:xfrm>
            <a:off x="4705350" y="29908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FB02A67-B976-41C8-BE9A-32B170959253}"/>
              </a:ext>
            </a:extLst>
          </p:cNvPr>
          <p:cNvSpPr>
            <a:spLocks noGrp="1"/>
          </p:cNvSpPr>
          <p:nvPr/>
        </p:nvSpPr>
        <p:spPr>
          <a:xfrm>
            <a:off x="4953000" y="1866900"/>
            <a:ext cx="1943100" cy="2819400"/>
          </a:xfrm>
          <a:prstGeom prst="roundRect">
            <a:avLst>
              <a:gd name="adj" fmla="val 7843"/>
            </a:avLst>
          </a:prstGeom>
          <a:solidFill>
            <a:srgbClr val="0D2430"/>
          </a:solidFill>
          <a:ln w="9525">
            <a:solidFill>
              <a:srgbClr val="0D2430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C2613E2-32DC-40D6-97C1-507EB74267FB}"/>
              </a:ext>
            </a:extLst>
          </p:cNvPr>
          <p:cNvSpPr>
            <a:spLocks noGrp="1"/>
          </p:cNvSpPr>
          <p:nvPr/>
        </p:nvSpPr>
        <p:spPr>
          <a:xfrm>
            <a:off x="5143500" y="2095500"/>
            <a:ext cx="4572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B14940-9670-4285-B6B0-291449F69520}"/>
              </a:ext>
            </a:extLst>
          </p:cNvPr>
          <p:cNvSpPr>
            <a:spLocks noGrp="1"/>
          </p:cNvSpPr>
          <p:nvPr/>
        </p:nvSpPr>
        <p:spPr>
          <a:xfrm>
            <a:off x="5143500" y="2381250"/>
            <a:ext cx="1562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③ PLAN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2B93C33-5CE8-477C-97DD-71639E3B49FF}"/>
              </a:ext>
            </a:extLst>
          </p:cNvPr>
          <p:cNvSpPr>
            <a:spLocks noGrp="1"/>
          </p:cNvSpPr>
          <p:nvPr/>
        </p:nvSpPr>
        <p:spPr>
          <a:xfrm>
            <a:off x="5143500" y="2895600"/>
            <a:ext cx="15621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A7BAC2"/>
                </a:solidFill>
              </a:defRPr>
            </a:pPr>
            <a:r>
              <a:rPr sz="1200" b="0">
                <a:solidFill>
                  <a:srgbClr val="A7BAC2"/>
                </a:solidFill>
              </a:rPr>
              <a:t>The leader chooses which shelters and warnings to broadcast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F054D39-063E-4CCF-AFDD-4DD2C19F4C84}"/>
              </a:ext>
            </a:extLst>
          </p:cNvPr>
          <p:cNvSpPr>
            <a:spLocks noGrp="1"/>
          </p:cNvSpPr>
          <p:nvPr/>
        </p:nvSpPr>
        <p:spPr>
          <a:xfrm>
            <a:off x="6877050" y="29908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1B496337-74BF-4AC6-9C50-5A5CDD59C8AF}"/>
              </a:ext>
            </a:extLst>
          </p:cNvPr>
          <p:cNvSpPr>
            <a:spLocks noGrp="1"/>
          </p:cNvSpPr>
          <p:nvPr/>
        </p:nvSpPr>
        <p:spPr>
          <a:xfrm>
            <a:off x="7124700" y="1866900"/>
            <a:ext cx="1943100" cy="2819400"/>
          </a:xfrm>
          <a:prstGeom prst="roundRect">
            <a:avLst>
              <a:gd name="adj" fmla="val 7843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ACE0152-49BF-4826-93FF-B0D0500E85E3}"/>
              </a:ext>
            </a:extLst>
          </p:cNvPr>
          <p:cNvSpPr>
            <a:spLocks noGrp="1"/>
          </p:cNvSpPr>
          <p:nvPr/>
        </p:nvSpPr>
        <p:spPr>
          <a:xfrm>
            <a:off x="7315200" y="2095500"/>
            <a:ext cx="4572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7DB70A3-D1E5-47C5-A4CD-9D686D892EA1}"/>
              </a:ext>
            </a:extLst>
          </p:cNvPr>
          <p:cNvSpPr>
            <a:spLocks noGrp="1"/>
          </p:cNvSpPr>
          <p:nvPr/>
        </p:nvSpPr>
        <p:spPr>
          <a:xfrm>
            <a:off x="7315200" y="2381250"/>
            <a:ext cx="1562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④ USE TOOLS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6728B51-8925-4AC2-94F6-AEFA79752DD6}"/>
              </a:ext>
            </a:extLst>
          </p:cNvPr>
          <p:cNvSpPr>
            <a:spLocks noGrp="1"/>
          </p:cNvSpPr>
          <p:nvPr/>
        </p:nvSpPr>
        <p:spPr>
          <a:xfrm>
            <a:off x="7315200" y="2895600"/>
            <a:ext cx="15621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Grammar-constrained JSON validates shelter IDs before execution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828C553-3ECD-4828-9AA9-598597394188}"/>
              </a:ext>
            </a:extLst>
          </p:cNvPr>
          <p:cNvSpPr>
            <a:spLocks noGrp="1"/>
          </p:cNvSpPr>
          <p:nvPr/>
        </p:nvSpPr>
        <p:spPr>
          <a:xfrm>
            <a:off x="9048750" y="29908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1E89D91-9F41-4649-843A-D7152E3DB288}"/>
              </a:ext>
            </a:extLst>
          </p:cNvPr>
          <p:cNvSpPr>
            <a:spLocks noGrp="1"/>
          </p:cNvSpPr>
          <p:nvPr/>
        </p:nvSpPr>
        <p:spPr>
          <a:xfrm>
            <a:off x="9296400" y="1866900"/>
            <a:ext cx="1943100" cy="2819400"/>
          </a:xfrm>
          <a:prstGeom prst="roundRect">
            <a:avLst>
              <a:gd name="adj" fmla="val 7843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6FD2183-E97B-4333-9309-22A5FE16995A}"/>
              </a:ext>
            </a:extLst>
          </p:cNvPr>
          <p:cNvSpPr>
            <a:spLocks noGrp="1"/>
          </p:cNvSpPr>
          <p:nvPr/>
        </p:nvSpPr>
        <p:spPr>
          <a:xfrm>
            <a:off x="9486900" y="2095500"/>
            <a:ext cx="457200" cy="57150"/>
          </a:xfrm>
          <a:prstGeom prst="rect">
            <a:avLst/>
          </a:prstGeom>
          <a:solidFill>
            <a:srgbClr val="39B982"/>
          </a:solidFill>
          <a:ln w="0">
            <a:solidFill>
              <a:srgbClr val="39B982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8D74200-0790-4088-9DDF-5AC72C8491EF}"/>
              </a:ext>
            </a:extLst>
          </p:cNvPr>
          <p:cNvSpPr>
            <a:spLocks noGrp="1"/>
          </p:cNvSpPr>
          <p:nvPr/>
        </p:nvSpPr>
        <p:spPr>
          <a:xfrm>
            <a:off x="9486900" y="2381250"/>
            <a:ext cx="1562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⑤ EXECUTE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B7536CD-E1FC-4DDE-AADE-50B245D88914}"/>
              </a:ext>
            </a:extLst>
          </p:cNvPr>
          <p:cNvSpPr>
            <a:spLocks noGrp="1"/>
          </p:cNvSpPr>
          <p:nvPr/>
        </p:nvSpPr>
        <p:spPr>
          <a:xfrm>
            <a:off x="9486900" y="2895600"/>
            <a:ext cx="15621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Broadcasts update resident beliefs and routes; the next round replans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070DB2F-1FD1-4CC5-8EBB-0DEA58910F2C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105156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0D2430"/>
                </a:solidFill>
              </a:defRPr>
            </a:pPr>
            <a:r>
              <a:rPr sz="1650" b="1">
                <a:solidFill>
                  <a:srgbClr val="0D2430"/>
                </a:solidFill>
              </a:rPr>
              <a:t>Xi'an: 350 leaders partition 12.95 million residents into balanced jurisdictions.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E202D3C-F0C8-4321-B19E-138B94BCF219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Observe → reason → plan → validated tool → state change → replan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57B73FC-2FF6-48F4-B4B8-59B694FBD92A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493386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6E7A35A6-D8CC-46D2-AD8E-4A8BC7F0B50F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04 / LIVE AGENT RUN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79F18CD-6CC8-49FD-A6DD-D99AB00C5EAF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350 local LLM leaders execute inside the WebGIS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B80AD7D-3F21-4C11-90BF-501CA6EB8428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05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E067389-8E09-4882-A212-6EB3D0A6EB63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3"/>
          <a:srcRect l="2288" r="2288"/>
          <a:stretch>
            <a:fillRect/>
          </a:stretch>
        </p:blipFill>
        <p:spPr>
          <a:xfrm>
            <a:off x="609600" y="1676400"/>
            <a:ext cx="7239000" cy="4267200"/>
          </a:xfrm>
          <a:prstGeom prst="roundRect">
            <a:avLst/>
          </a:prstGeom>
        </p:spPr>
      </p:pic>
      <p:sp>
        <p:nvSpPr>
          <p:cNvPr id="6" name="矩形: 圆角 5">
            <a:extLst>
              <a:ext uri="{FF2B5EF4-FFF2-40B4-BE49-F238E27FC236}">
                <a16:creationId xmlns:a16="http://schemas.microsoft.com/office/drawing/2014/main" id="{EB42D486-303C-4153-9206-5781D0916070}"/>
              </a:ext>
            </a:extLst>
          </p:cNvPr>
          <p:cNvSpPr>
            <a:spLocks noGrp="1"/>
          </p:cNvSpPr>
          <p:nvPr/>
        </p:nvSpPr>
        <p:spPr>
          <a:xfrm>
            <a:off x="8096250" y="1676400"/>
            <a:ext cx="3486150" cy="4267200"/>
          </a:xfrm>
          <a:prstGeom prst="roundRect">
            <a:avLst>
              <a:gd name="adj" fmla="val 4372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EA39380-044E-458F-99D8-1FEF912ADCB3}"/>
              </a:ext>
            </a:extLst>
          </p:cNvPr>
          <p:cNvSpPr>
            <a:spLocks noGrp="1"/>
          </p:cNvSpPr>
          <p:nvPr/>
        </p:nvSpPr>
        <p:spPr>
          <a:xfrm>
            <a:off x="8324850" y="18859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38D1C9"/>
                </a:solidFill>
              </a:defRPr>
            </a:pPr>
            <a:r>
              <a:rPr sz="1200" b="1">
                <a:solidFill>
                  <a:srgbClr val="38D1C9"/>
                </a:solidFill>
              </a:rPr>
              <a:t>XI'AN EVIDENCE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97D7312-A96D-4CDA-9019-6F289BA05B50}"/>
              </a:ext>
            </a:extLst>
          </p:cNvPr>
          <p:cNvSpPr>
            <a:spLocks noGrp="1"/>
          </p:cNvSpPr>
          <p:nvPr/>
        </p:nvSpPr>
        <p:spPr>
          <a:xfrm>
            <a:off x="8343900" y="2343150"/>
            <a:ext cx="51435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A460075-7AB9-43B0-B63B-698C6B90B47F}"/>
              </a:ext>
            </a:extLst>
          </p:cNvPr>
          <p:cNvSpPr>
            <a:spLocks noGrp="1"/>
          </p:cNvSpPr>
          <p:nvPr/>
        </p:nvSpPr>
        <p:spPr>
          <a:xfrm>
            <a:off x="9010650" y="22098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350 jurisdiction leaders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9F0BD4C-7AB1-4B34-8F47-93BFDC03601A}"/>
              </a:ext>
            </a:extLst>
          </p:cNvPr>
          <p:cNvSpPr>
            <a:spLocks noGrp="1"/>
          </p:cNvSpPr>
          <p:nvPr/>
        </p:nvSpPr>
        <p:spPr>
          <a:xfrm>
            <a:off x="8343900" y="2819400"/>
            <a:ext cx="51435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CFD1A3-5762-4FA3-884D-0E82264911D7}"/>
              </a:ext>
            </a:extLst>
          </p:cNvPr>
          <p:cNvSpPr>
            <a:spLocks noGrp="1"/>
          </p:cNvSpPr>
          <p:nvPr/>
        </p:nvSpPr>
        <p:spPr>
          <a:xfrm>
            <a:off x="9010650" y="268605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4,242 validated decisions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16B0834-A641-437D-89CA-78E6860F1FCE}"/>
              </a:ext>
            </a:extLst>
          </p:cNvPr>
          <p:cNvSpPr>
            <a:spLocks noGrp="1"/>
          </p:cNvSpPr>
          <p:nvPr/>
        </p:nvSpPr>
        <p:spPr>
          <a:xfrm>
            <a:off x="8343900" y="3295650"/>
            <a:ext cx="514350" cy="47625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B456EE2-BB36-4DAD-A6FB-71EF737B952A}"/>
              </a:ext>
            </a:extLst>
          </p:cNvPr>
          <p:cNvSpPr>
            <a:spLocks noGrp="1"/>
          </p:cNvSpPr>
          <p:nvPr/>
        </p:nvSpPr>
        <p:spPr>
          <a:xfrm>
            <a:off x="9010650" y="31623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0 failed or unparseable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6005175-8329-4DCA-8223-4EBF8D7BBC1C}"/>
              </a:ext>
            </a:extLst>
          </p:cNvPr>
          <p:cNvSpPr>
            <a:spLocks noGrp="1"/>
          </p:cNvSpPr>
          <p:nvPr/>
        </p:nvSpPr>
        <p:spPr>
          <a:xfrm>
            <a:off x="8343900" y="3771900"/>
            <a:ext cx="514350" cy="4762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9685833-E14A-4A88-97FF-914044717493}"/>
              </a:ext>
            </a:extLst>
          </p:cNvPr>
          <p:cNvSpPr>
            <a:spLocks noGrp="1"/>
          </p:cNvSpPr>
          <p:nvPr/>
        </p:nvSpPr>
        <p:spPr>
          <a:xfrm>
            <a:off x="9010650" y="363855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239,835 resident belief updates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79B5D87-511A-457C-BDA4-D7DB4648E55C}"/>
              </a:ext>
            </a:extLst>
          </p:cNvPr>
          <p:cNvSpPr>
            <a:spLocks noGrp="1"/>
          </p:cNvSpPr>
          <p:nvPr/>
        </p:nvSpPr>
        <p:spPr>
          <a:xfrm>
            <a:off x="8343900" y="4248150"/>
            <a:ext cx="51435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E27F606-BE20-40EC-BCD2-DF024379582D}"/>
              </a:ext>
            </a:extLst>
          </p:cNvPr>
          <p:cNvSpPr>
            <a:spLocks noGrp="1"/>
          </p:cNvSpPr>
          <p:nvPr/>
        </p:nvSpPr>
        <p:spPr>
          <a:xfrm>
            <a:off x="9010650" y="41148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100% decisions applied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3BE6D0-9D91-4DD3-8276-E6961C14A2F1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A7BAC2"/>
                </a:solidFill>
              </a:defRPr>
            </a:pPr>
            <a:r>
              <a:rPr sz="1050" b="1">
                <a:solidFill>
                  <a:srgbClr val="A7BAC2"/>
                </a:solidFill>
              </a:rPr>
              <a:t>LOCAL EXECUTION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31F104C-6073-4B54-B303-6C876A0D75B1}"/>
              </a:ext>
            </a:extLst>
          </p:cNvPr>
          <p:cNvSpPr>
            <a:spLocks noGrp="1"/>
          </p:cNvSpPr>
          <p:nvPr/>
        </p:nvSpPr>
        <p:spPr>
          <a:xfrm>
            <a:off x="8324850" y="51054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0.285 s mean decision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A87BDE9-685A-47CB-A3D1-5C4CD2596F2C}"/>
              </a:ext>
            </a:extLst>
          </p:cNvPr>
          <p:cNvSpPr>
            <a:spLocks noGrp="1"/>
          </p:cNvSpPr>
          <p:nvPr/>
        </p:nvSpPr>
        <p:spPr>
          <a:xfrm>
            <a:off x="8324850" y="5524500"/>
            <a:ext cx="2895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A7BAC2"/>
                </a:solidFill>
              </a:defRPr>
            </a:pPr>
            <a:r>
              <a:rPr sz="1125" b="0">
                <a:solidFill>
                  <a:srgbClr val="A7BAC2"/>
                </a:solidFill>
              </a:rPr>
              <a:t>The WebGIS exposes the cycle, execution proof, and baseline control beside the city state.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5320BCD-9102-4E1E-827A-B1A75B3B5782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English-first UI · LLM/baseline switch · agent metrics · playback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235D2D8-B721-4F90-8B8E-5B286024D888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1469264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6E7A35A6-D8CC-46D2-AD8E-4A8BC7F0B50F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05 / USER EXPERIENCE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79F18CD-6CC8-49FD-A6DD-D99AB00C5EAF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Users can inspect why the agents behave differently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B80AD7D-3F21-4C11-90BF-501CA6EB8428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06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E067389-8E09-4882-A212-6EB3D0A6EB63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3"/>
          <a:srcRect t="11809" b="11809"/>
          <a:stretch>
            <a:fillRect/>
          </a:stretch>
        </p:blipFill>
        <p:spPr>
          <a:xfrm>
            <a:off x="609600" y="1676400"/>
            <a:ext cx="7239000" cy="4267200"/>
          </a:xfrm>
          <a:prstGeom prst="roundRect">
            <a:avLst/>
          </a:prstGeom>
        </p:spPr>
      </p:pic>
      <p:sp>
        <p:nvSpPr>
          <p:cNvPr id="6" name="矩形: 圆角 5">
            <a:extLst>
              <a:ext uri="{FF2B5EF4-FFF2-40B4-BE49-F238E27FC236}">
                <a16:creationId xmlns:a16="http://schemas.microsoft.com/office/drawing/2014/main" id="{EB42D486-303C-4153-9206-5781D0916070}"/>
              </a:ext>
            </a:extLst>
          </p:cNvPr>
          <p:cNvSpPr>
            <a:spLocks noGrp="1"/>
          </p:cNvSpPr>
          <p:nvPr/>
        </p:nvSpPr>
        <p:spPr>
          <a:xfrm>
            <a:off x="8096250" y="1676400"/>
            <a:ext cx="3486150" cy="4267200"/>
          </a:xfrm>
          <a:prstGeom prst="roundRect">
            <a:avLst>
              <a:gd name="adj" fmla="val 4372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EA39380-044E-458F-99D8-1FEF912ADCB3}"/>
              </a:ext>
            </a:extLst>
          </p:cNvPr>
          <p:cNvSpPr>
            <a:spLocks noGrp="1"/>
          </p:cNvSpPr>
          <p:nvPr/>
        </p:nvSpPr>
        <p:spPr>
          <a:xfrm>
            <a:off x="8324850" y="18859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38D1C9"/>
                </a:solidFill>
              </a:defRPr>
            </a:pPr>
            <a:r>
              <a:rPr sz="1200" b="1">
                <a:solidFill>
                  <a:srgbClr val="38D1C9"/>
                </a:solidFill>
              </a:rPr>
              <a:t>VISIBLE CONTROLS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97D7312-A96D-4CDA-9019-6F289BA05B50}"/>
              </a:ext>
            </a:extLst>
          </p:cNvPr>
          <p:cNvSpPr>
            <a:spLocks noGrp="1"/>
          </p:cNvSpPr>
          <p:nvPr/>
        </p:nvSpPr>
        <p:spPr>
          <a:xfrm>
            <a:off x="8343900" y="2343150"/>
            <a:ext cx="51435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A460075-7AB9-43B0-B63B-698C6B90B47F}"/>
              </a:ext>
            </a:extLst>
          </p:cNvPr>
          <p:cNvSpPr>
            <a:spLocks noGrp="1"/>
          </p:cNvSpPr>
          <p:nvPr/>
        </p:nvSpPr>
        <p:spPr>
          <a:xfrm>
            <a:off x="9010650" y="22098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Baseline / LLM scenario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9F0BD4C-7AB1-4B34-8F47-93BFDC03601A}"/>
              </a:ext>
            </a:extLst>
          </p:cNvPr>
          <p:cNvSpPr>
            <a:spLocks noGrp="1"/>
          </p:cNvSpPr>
          <p:nvPr/>
        </p:nvSpPr>
        <p:spPr>
          <a:xfrm>
            <a:off x="8343900" y="2819400"/>
            <a:ext cx="51435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CFD1A3-5762-4FA3-884D-0E82264911D7}"/>
              </a:ext>
            </a:extLst>
          </p:cNvPr>
          <p:cNvSpPr>
            <a:spLocks noGrp="1"/>
          </p:cNvSpPr>
          <p:nvPr/>
        </p:nvSpPr>
        <p:spPr>
          <a:xfrm>
            <a:off x="9010650" y="268605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Six-stage agent cycle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16B0834-A641-437D-89CA-78E6860F1FCE}"/>
              </a:ext>
            </a:extLst>
          </p:cNvPr>
          <p:cNvSpPr>
            <a:spLocks noGrp="1"/>
          </p:cNvSpPr>
          <p:nvPr/>
        </p:nvSpPr>
        <p:spPr>
          <a:xfrm>
            <a:off x="8343900" y="3295650"/>
            <a:ext cx="514350" cy="47625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B456EE2-BB36-4DAD-A6FB-71EF737B952A}"/>
              </a:ext>
            </a:extLst>
          </p:cNvPr>
          <p:cNvSpPr>
            <a:spLocks noGrp="1"/>
          </p:cNvSpPr>
          <p:nvPr/>
        </p:nvSpPr>
        <p:spPr>
          <a:xfrm>
            <a:off x="9010650" y="31623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Road hierarchy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6005175-8329-4DCA-8223-4EBF8D7BBC1C}"/>
              </a:ext>
            </a:extLst>
          </p:cNvPr>
          <p:cNvSpPr>
            <a:spLocks noGrp="1"/>
          </p:cNvSpPr>
          <p:nvPr/>
        </p:nvSpPr>
        <p:spPr>
          <a:xfrm>
            <a:off x="8343900" y="3771900"/>
            <a:ext cx="514350" cy="4762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9685833-E14A-4A88-97FF-914044717493}"/>
              </a:ext>
            </a:extLst>
          </p:cNvPr>
          <p:cNvSpPr>
            <a:spLocks noGrp="1"/>
          </p:cNvSpPr>
          <p:nvPr/>
        </p:nvSpPr>
        <p:spPr>
          <a:xfrm>
            <a:off x="9010650" y="363855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Resident state layers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79B5D87-511A-457C-BDA4-D7DB4648E55C}"/>
              </a:ext>
            </a:extLst>
          </p:cNvPr>
          <p:cNvSpPr>
            <a:spLocks noGrp="1"/>
          </p:cNvSpPr>
          <p:nvPr/>
        </p:nvSpPr>
        <p:spPr>
          <a:xfrm>
            <a:off x="8343900" y="4248150"/>
            <a:ext cx="51435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E27F606-BE20-40EC-BCD2-DF024379582D}"/>
              </a:ext>
            </a:extLst>
          </p:cNvPr>
          <p:cNvSpPr>
            <a:spLocks noGrp="1"/>
          </p:cNvSpPr>
          <p:nvPr/>
        </p:nvSpPr>
        <p:spPr>
          <a:xfrm>
            <a:off x="9010650" y="41148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Timeline playback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3BE6D0-9D91-4DD3-8276-E6961C14A2F1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A7BAC2"/>
                </a:solidFill>
              </a:defRPr>
            </a:pPr>
            <a:r>
              <a:rPr sz="1050" b="1">
                <a:solidFill>
                  <a:srgbClr val="A7BAC2"/>
                </a:solidFill>
              </a:rPr>
              <a:t>TAIPEI EXAMPLE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31F104C-6073-4B54-B303-6C876A0D75B1}"/>
              </a:ext>
            </a:extLst>
          </p:cNvPr>
          <p:cNvSpPr>
            <a:spLocks noGrp="1"/>
          </p:cNvSpPr>
          <p:nvPr/>
        </p:nvSpPr>
        <p:spPr>
          <a:xfrm>
            <a:off x="8324850" y="5105400"/>
            <a:ext cx="285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85,202 adjacency edges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A87BDE9-685A-47CB-A3D1-5C4CD2596F2C}"/>
              </a:ext>
            </a:extLst>
          </p:cNvPr>
          <p:cNvSpPr>
            <a:spLocks noGrp="1"/>
          </p:cNvSpPr>
          <p:nvPr/>
        </p:nvSpPr>
        <p:spPr>
          <a:xfrm>
            <a:off x="8324850" y="5524500"/>
            <a:ext cx="2895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A7BAC2"/>
                </a:solidFill>
              </a:defRPr>
            </a:pPr>
            <a:r>
              <a:rPr sz="1125" b="0">
                <a:solidFill>
                  <a:srgbClr val="A7BAC2"/>
                </a:solidFill>
              </a:rPr>
              <a:t>The interface places agent intervention beside the computational road network and outcomes.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5320BCD-9102-4E1E-827A-B1A75B3B5782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English-first UI · bilingual switch · city selector · layer controls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235D2D8-B721-4F90-8B8E-5B286024D888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1469264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>
            <a:extLst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06 / MULTI-CITY VALUE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One Agentic AI contract runs across ten cities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07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noGrp="1"/>
          </p:cNvSpPr>
          <p:nvPr/>
        </p:nvSpPr>
        <p:spPr>
          <a:xfrm>
            <a:off x="6096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noGrp="1"/>
          </p:cNvSpPr>
          <p:nvPr/>
        </p:nvSpPr>
        <p:spPr>
          <a:xfrm>
            <a:off x="78105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CHENGDU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noGrp="1"/>
          </p:cNvSpPr>
          <p:nvPr/>
        </p:nvSpPr>
        <p:spPr>
          <a:xfrm>
            <a:off x="7810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China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noGrp="1"/>
          </p:cNvSpPr>
          <p:nvPr/>
        </p:nvSpPr>
        <p:spPr>
          <a:xfrm>
            <a:off x="276225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noGrp="1"/>
          </p:cNvSpPr>
          <p:nvPr/>
        </p:nvSpPr>
        <p:spPr>
          <a:xfrm>
            <a:off x="293370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noGrp="1"/>
          </p:cNvSpPr>
          <p:nvPr/>
        </p:nvSpPr>
        <p:spPr>
          <a:xfrm>
            <a:off x="293370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XI’AN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noGrp="1"/>
          </p:cNvSpPr>
          <p:nvPr/>
        </p:nvSpPr>
        <p:spPr>
          <a:xfrm>
            <a:off x="293370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China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noGrp="1"/>
          </p:cNvSpPr>
          <p:nvPr/>
        </p:nvSpPr>
        <p:spPr>
          <a:xfrm>
            <a:off x="49149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noGrp="1"/>
          </p:cNvSpPr>
          <p:nvPr/>
        </p:nvSpPr>
        <p:spPr>
          <a:xfrm>
            <a:off x="508635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noGrp="1"/>
          </p:cNvSpPr>
          <p:nvPr/>
        </p:nvSpPr>
        <p:spPr>
          <a:xfrm>
            <a:off x="50863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TAIPEI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noGrp="1"/>
          </p:cNvSpPr>
          <p:nvPr/>
        </p:nvSpPr>
        <p:spPr>
          <a:xfrm>
            <a:off x="50863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China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noGrp="1"/>
          </p:cNvSpPr>
          <p:nvPr/>
        </p:nvSpPr>
        <p:spPr>
          <a:xfrm>
            <a:off x="706755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noGrp="1"/>
          </p:cNvSpPr>
          <p:nvPr/>
        </p:nvSpPr>
        <p:spPr>
          <a:xfrm>
            <a:off x="7239000" y="196215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noGrp="1"/>
          </p:cNvSpPr>
          <p:nvPr/>
        </p:nvSpPr>
        <p:spPr>
          <a:xfrm>
            <a:off x="723900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noGrp="1"/>
          </p:cNvSpPr>
          <p:nvPr/>
        </p:nvSpPr>
        <p:spPr>
          <a:xfrm>
            <a:off x="723900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Japan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noGrp="1"/>
          </p:cNvSpPr>
          <p:nvPr/>
        </p:nvSpPr>
        <p:spPr>
          <a:xfrm>
            <a:off x="92202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noGrp="1"/>
          </p:cNvSpPr>
          <p:nvPr/>
        </p:nvSpPr>
        <p:spPr>
          <a:xfrm>
            <a:off x="9391650" y="196215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noGrp="1"/>
          </p:cNvSpPr>
          <p:nvPr/>
        </p:nvSpPr>
        <p:spPr>
          <a:xfrm>
            <a:off x="93916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L’AQUILA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noGrp="1"/>
          </p:cNvSpPr>
          <p:nvPr/>
        </p:nvSpPr>
        <p:spPr>
          <a:xfrm>
            <a:off x="93916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Italy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noGrp="1"/>
          </p:cNvSpPr>
          <p:nvPr/>
        </p:nvSpPr>
        <p:spPr>
          <a:xfrm>
            <a:off x="781050" y="331470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noGrp="1"/>
          </p:cNvSpPr>
          <p:nvPr/>
        </p:nvSpPr>
        <p:spPr>
          <a:xfrm>
            <a:off x="7810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Italy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noGrp="1"/>
          </p:cNvSpPr>
          <p:nvPr/>
        </p:nvSpPr>
        <p:spPr>
          <a:xfrm>
            <a:off x="276225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noGrp="1"/>
          </p:cNvSpPr>
          <p:nvPr/>
        </p:nvSpPr>
        <p:spPr>
          <a:xfrm>
            <a:off x="2933700" y="3314700"/>
            <a:ext cx="381000" cy="47625"/>
          </a:xfrm>
          <a:prstGeom prst="rect">
            <a:avLst/>
          </a:prstGeom>
          <a:solidFill>
            <a:srgbClr val="39B982"/>
          </a:solidFill>
          <a:ln w="0">
            <a:solidFill>
              <a:srgbClr val="39B982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noGrp="1"/>
          </p:cNvSpPr>
          <p:nvPr/>
        </p:nvSpPr>
        <p:spPr>
          <a:xfrm>
            <a:off x="293370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noGrp="1"/>
          </p:cNvSpPr>
          <p:nvPr/>
        </p:nvSpPr>
        <p:spPr>
          <a:xfrm>
            <a:off x="293370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New Zealand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noGrp="1"/>
          </p:cNvSpPr>
          <p:nvPr/>
        </p:nvSpPr>
        <p:spPr>
          <a:xfrm>
            <a:off x="49149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noGrp="1"/>
          </p:cNvSpPr>
          <p:nvPr/>
        </p:nvSpPr>
        <p:spPr>
          <a:xfrm>
            <a:off x="5086350" y="3314700"/>
            <a:ext cx="3810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noGrp="1"/>
          </p:cNvSpPr>
          <p:nvPr/>
        </p:nvSpPr>
        <p:spPr>
          <a:xfrm>
            <a:off x="50863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noGrp="1"/>
          </p:cNvSpPr>
          <p:nvPr/>
        </p:nvSpPr>
        <p:spPr>
          <a:xfrm>
            <a:off x="50863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Myanmar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noGrp="1"/>
          </p:cNvSpPr>
          <p:nvPr/>
        </p:nvSpPr>
        <p:spPr>
          <a:xfrm>
            <a:off x="706755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noGrp="1"/>
          </p:cNvSpPr>
          <p:nvPr/>
        </p:nvSpPr>
        <p:spPr>
          <a:xfrm>
            <a:off x="7239000" y="3314700"/>
            <a:ext cx="3810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noGrp="1"/>
          </p:cNvSpPr>
          <p:nvPr/>
        </p:nvSpPr>
        <p:spPr>
          <a:xfrm>
            <a:off x="723900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noGrp="1"/>
          </p:cNvSpPr>
          <p:nvPr/>
        </p:nvSpPr>
        <p:spPr>
          <a:xfrm>
            <a:off x="723900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Nepal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noGrp="1"/>
          </p:cNvSpPr>
          <p:nvPr/>
        </p:nvSpPr>
        <p:spPr>
          <a:xfrm>
            <a:off x="92202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noGrp="1"/>
          </p:cNvSpPr>
          <p:nvPr/>
        </p:nvSpPr>
        <p:spPr>
          <a:xfrm>
            <a:off x="9391650" y="3314700"/>
            <a:ext cx="381000" cy="47625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noGrp="1"/>
          </p:cNvSpPr>
          <p:nvPr/>
        </p:nvSpPr>
        <p:spPr>
          <a:xfrm>
            <a:off x="93916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noGrp="1"/>
          </p:cNvSpPr>
          <p:nvPr/>
        </p:nvSpPr>
        <p:spPr>
          <a:xfrm>
            <a:off x="93916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United States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0515600" cy="990600"/>
          </a:xfrm>
          <a:prstGeom prst="roundRect">
            <a:avLst>
              <a:gd name="adj" fmla="val 11538"/>
            </a:avLst>
          </a:prstGeom>
          <a:solidFill>
            <a:srgbClr val="0D2430"/>
          </a:solidFill>
          <a:ln w="0">
            <a:noFill/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noGrp="1"/>
          </p:cNvSpPr>
          <p:nvPr/>
        </p:nvSpPr>
        <p:spPr>
          <a:xfrm>
            <a:off x="800100" y="48958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TEN-CITY PROOF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noGrp="1"/>
          </p:cNvSpPr>
          <p:nvPr/>
        </p:nvSpPr>
        <p:spPr>
          <a:xfrm>
            <a:off x="1771650" y="4838700"/>
            <a:ext cx="8934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One agent contract · common WebGIS · 36-frame outputs · baseline/LLM comparison · automated guards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The same decision mechanism is tested against different network and capacity structures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39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20558F91-1C81-48D4-ABD4-7D48826B7E69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07 / APPLICATION VALUE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90D961-934C-4463-A67C-A57AD3A99D95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The system diagnoses physical access before simulating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54856D7-330E-485D-A30B-35F42DA4BF0A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08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7AA006-BA23-4EEA-B870-7B1ADC746A4C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95E101-BB32-4D63-8724-6B2170422DA8}"/>
              </a:ext>
            </a:extLst>
          </p:cNvPr>
          <p:cNvSpPr>
            <a:spLocks noGrp="1"/>
          </p:cNvSpPr>
          <p:nvPr/>
        </p:nvSpPr>
        <p:spPr>
          <a:xfrm>
            <a:off x="723900" y="163830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Taipei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4623AE7-EACB-4BC1-938E-5D24F843C896}"/>
              </a:ext>
            </a:extLst>
          </p:cNvPr>
          <p:cNvSpPr>
            <a:spLocks noGrp="1"/>
          </p:cNvSpPr>
          <p:nvPr/>
        </p:nvSpPr>
        <p:spPr>
          <a:xfrm>
            <a:off x="2316480" y="168592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744BAC3F-F3DE-4371-B95F-A850BB0CADB4}"/>
              </a:ext>
            </a:extLst>
          </p:cNvPr>
          <p:cNvSpPr>
            <a:spLocks noGrp="1"/>
          </p:cNvSpPr>
          <p:nvPr/>
        </p:nvSpPr>
        <p:spPr>
          <a:xfrm>
            <a:off x="2316480" y="1685925"/>
            <a:ext cx="4447786" cy="16192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544D4AE-2BFB-433C-923D-BFF3956EF8DF}"/>
              </a:ext>
            </a:extLst>
          </p:cNvPr>
          <p:cNvSpPr>
            <a:spLocks noGrp="1"/>
          </p:cNvSpPr>
          <p:nvPr/>
        </p:nvSpPr>
        <p:spPr>
          <a:xfrm>
            <a:off x="6949440" y="163830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99.1%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9E9B001-F5A1-4E2B-BD32-A26B75BA0B01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0AEE5E2-8B0B-4DE1-8E6E-D9F8EAA09AFB}"/>
              </a:ext>
            </a:extLst>
          </p:cNvPr>
          <p:cNvSpPr>
            <a:spLocks noGrp="1"/>
          </p:cNvSpPr>
          <p:nvPr/>
        </p:nvSpPr>
        <p:spPr>
          <a:xfrm>
            <a:off x="2316480" y="216217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AAB7961-09EC-47AB-BF5A-8BEDE253BAF6}"/>
              </a:ext>
            </a:extLst>
          </p:cNvPr>
          <p:cNvSpPr>
            <a:spLocks noGrp="1"/>
          </p:cNvSpPr>
          <p:nvPr/>
        </p:nvSpPr>
        <p:spPr>
          <a:xfrm>
            <a:off x="2316480" y="2162175"/>
            <a:ext cx="4434322" cy="16192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0E954F-8802-4BBD-9AC2-3E64B6AC7571}"/>
              </a:ext>
            </a:extLst>
          </p:cNvPr>
          <p:cNvSpPr>
            <a:spLocks noGrp="1"/>
          </p:cNvSpPr>
          <p:nvPr/>
        </p:nvSpPr>
        <p:spPr>
          <a:xfrm>
            <a:off x="6949440" y="211455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98.8%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F04438A-E4C1-42E2-811E-2B331E2A0BC1}"/>
              </a:ext>
            </a:extLst>
          </p:cNvPr>
          <p:cNvSpPr>
            <a:spLocks noGrp="1"/>
          </p:cNvSpPr>
          <p:nvPr/>
        </p:nvSpPr>
        <p:spPr>
          <a:xfrm>
            <a:off x="723900" y="259080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71D6A1C-BC74-4BC6-9AE5-63ECD640F406}"/>
              </a:ext>
            </a:extLst>
          </p:cNvPr>
          <p:cNvSpPr>
            <a:spLocks noGrp="1"/>
          </p:cNvSpPr>
          <p:nvPr/>
        </p:nvSpPr>
        <p:spPr>
          <a:xfrm>
            <a:off x="2316480" y="263842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703FF0E-53D9-471E-BF70-F9EB45791F3E}"/>
              </a:ext>
            </a:extLst>
          </p:cNvPr>
          <p:cNvSpPr>
            <a:spLocks noGrp="1"/>
          </p:cNvSpPr>
          <p:nvPr/>
        </p:nvSpPr>
        <p:spPr>
          <a:xfrm>
            <a:off x="2316480" y="2638425"/>
            <a:ext cx="4425345" cy="16192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FFEF24-2B51-48F2-A4C7-5DC446C5FB41}"/>
              </a:ext>
            </a:extLst>
          </p:cNvPr>
          <p:cNvSpPr>
            <a:spLocks noGrp="1"/>
          </p:cNvSpPr>
          <p:nvPr/>
        </p:nvSpPr>
        <p:spPr>
          <a:xfrm>
            <a:off x="6949440" y="259080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98.6%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704C08C-12D9-4769-AEA8-AA1D526620E4}"/>
              </a:ext>
            </a:extLst>
          </p:cNvPr>
          <p:cNvSpPr>
            <a:spLocks noGrp="1"/>
          </p:cNvSpPr>
          <p:nvPr/>
        </p:nvSpPr>
        <p:spPr>
          <a:xfrm>
            <a:off x="723900" y="306705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A17E207C-9D5E-4A3A-9640-0E384D183362}"/>
              </a:ext>
            </a:extLst>
          </p:cNvPr>
          <p:cNvSpPr>
            <a:spLocks noGrp="1"/>
          </p:cNvSpPr>
          <p:nvPr/>
        </p:nvSpPr>
        <p:spPr>
          <a:xfrm>
            <a:off x="2316480" y="311467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A571457-8CAF-4E05-8358-BAAD1A43EB48}"/>
              </a:ext>
            </a:extLst>
          </p:cNvPr>
          <p:cNvSpPr>
            <a:spLocks noGrp="1"/>
          </p:cNvSpPr>
          <p:nvPr/>
        </p:nvSpPr>
        <p:spPr>
          <a:xfrm>
            <a:off x="2316480" y="3114675"/>
            <a:ext cx="4344558" cy="16192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9C32A47-144F-4B67-BC25-9621B8A26B2B}"/>
              </a:ext>
            </a:extLst>
          </p:cNvPr>
          <p:cNvSpPr>
            <a:spLocks noGrp="1"/>
          </p:cNvSpPr>
          <p:nvPr/>
        </p:nvSpPr>
        <p:spPr>
          <a:xfrm>
            <a:off x="6949440" y="306705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96.8%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2908BB3-94E8-4A58-B996-F7D74B827B74}"/>
              </a:ext>
            </a:extLst>
          </p:cNvPr>
          <p:cNvSpPr>
            <a:spLocks noGrp="1"/>
          </p:cNvSpPr>
          <p:nvPr/>
        </p:nvSpPr>
        <p:spPr>
          <a:xfrm>
            <a:off x="723900" y="354330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FB0710-CE74-448D-BAAD-B2D02B2D415F}"/>
              </a:ext>
            </a:extLst>
          </p:cNvPr>
          <p:cNvSpPr>
            <a:spLocks noGrp="1"/>
          </p:cNvSpPr>
          <p:nvPr/>
        </p:nvSpPr>
        <p:spPr>
          <a:xfrm>
            <a:off x="2316480" y="359092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186A1D8-E9AB-4D71-9F9E-D745BBB07879}"/>
              </a:ext>
            </a:extLst>
          </p:cNvPr>
          <p:cNvSpPr>
            <a:spLocks noGrp="1"/>
          </p:cNvSpPr>
          <p:nvPr/>
        </p:nvSpPr>
        <p:spPr>
          <a:xfrm>
            <a:off x="2316480" y="3590925"/>
            <a:ext cx="4268259" cy="16192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5CB71FB-F540-45BF-84F8-A6D7BDF5C6DC}"/>
              </a:ext>
            </a:extLst>
          </p:cNvPr>
          <p:cNvSpPr>
            <a:spLocks noGrp="1"/>
          </p:cNvSpPr>
          <p:nvPr/>
        </p:nvSpPr>
        <p:spPr>
          <a:xfrm>
            <a:off x="6949440" y="354330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95.1%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94641E0-EA39-4B78-B7A0-C10005B00514}"/>
              </a:ext>
            </a:extLst>
          </p:cNvPr>
          <p:cNvSpPr>
            <a:spLocks noGrp="1"/>
          </p:cNvSpPr>
          <p:nvPr/>
        </p:nvSpPr>
        <p:spPr>
          <a:xfrm>
            <a:off x="723900" y="401955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35C2ADF-7EFD-4024-AC49-4E24CA6DABBA}"/>
              </a:ext>
            </a:extLst>
          </p:cNvPr>
          <p:cNvSpPr>
            <a:spLocks noGrp="1"/>
          </p:cNvSpPr>
          <p:nvPr/>
        </p:nvSpPr>
        <p:spPr>
          <a:xfrm>
            <a:off x="2316480" y="406717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4C5461D9-0CCA-4CB7-9061-B66B5896E2BF}"/>
              </a:ext>
            </a:extLst>
          </p:cNvPr>
          <p:cNvSpPr>
            <a:spLocks noGrp="1"/>
          </p:cNvSpPr>
          <p:nvPr/>
        </p:nvSpPr>
        <p:spPr>
          <a:xfrm>
            <a:off x="2316480" y="4067175"/>
            <a:ext cx="3253931" cy="161925"/>
          </a:xfrm>
          <a:prstGeom prst="roundRect">
            <a:avLst>
              <a:gd name="adj" fmla="val 50000"/>
            </a:avLst>
          </a:prstGeom>
          <a:solidFill>
            <a:srgbClr val="F4CA64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FEE6342-1AC4-49E3-A5ED-C6C68F0A9A60}"/>
              </a:ext>
            </a:extLst>
          </p:cNvPr>
          <p:cNvSpPr>
            <a:spLocks noGrp="1"/>
          </p:cNvSpPr>
          <p:nvPr/>
        </p:nvSpPr>
        <p:spPr>
          <a:xfrm>
            <a:off x="6949440" y="401955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72.5%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D8CD18F-3887-41DC-8448-AE4A86C54152}"/>
              </a:ext>
            </a:extLst>
          </p:cNvPr>
          <p:cNvSpPr>
            <a:spLocks noGrp="1"/>
          </p:cNvSpPr>
          <p:nvPr/>
        </p:nvSpPr>
        <p:spPr>
          <a:xfrm>
            <a:off x="723900" y="449580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L'Aquila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8121B6FD-67F6-42CB-8ACA-EC412A5E2DCD}"/>
              </a:ext>
            </a:extLst>
          </p:cNvPr>
          <p:cNvSpPr>
            <a:spLocks noGrp="1"/>
          </p:cNvSpPr>
          <p:nvPr/>
        </p:nvSpPr>
        <p:spPr>
          <a:xfrm>
            <a:off x="2316480" y="454342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B1BF07E8-C965-4E6C-A81A-EF9421399B7A}"/>
              </a:ext>
            </a:extLst>
          </p:cNvPr>
          <p:cNvSpPr>
            <a:spLocks noGrp="1"/>
          </p:cNvSpPr>
          <p:nvPr/>
        </p:nvSpPr>
        <p:spPr>
          <a:xfrm>
            <a:off x="2316480" y="4543425"/>
            <a:ext cx="2791648" cy="161925"/>
          </a:xfrm>
          <a:prstGeom prst="roundRect">
            <a:avLst>
              <a:gd name="adj" fmla="val 50000"/>
            </a:avLst>
          </a:prstGeom>
          <a:solidFill>
            <a:srgbClr val="F4CA64"/>
          </a:solidFill>
          <a:ln w="0">
            <a:noFill/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326A357-EF87-4AE5-8EEF-80817DD4BF2E}"/>
              </a:ext>
            </a:extLst>
          </p:cNvPr>
          <p:cNvSpPr>
            <a:spLocks noGrp="1"/>
          </p:cNvSpPr>
          <p:nvPr/>
        </p:nvSpPr>
        <p:spPr>
          <a:xfrm>
            <a:off x="6949440" y="449580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62.2%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38AB44E-B9AD-4B58-B765-58A04EEEFF8B}"/>
              </a:ext>
            </a:extLst>
          </p:cNvPr>
          <p:cNvSpPr>
            <a:spLocks noGrp="1"/>
          </p:cNvSpPr>
          <p:nvPr/>
        </p:nvSpPr>
        <p:spPr>
          <a:xfrm>
            <a:off x="723900" y="497205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6E3A9880-4254-4276-AF57-655FBED69DBA}"/>
              </a:ext>
            </a:extLst>
          </p:cNvPr>
          <p:cNvSpPr>
            <a:spLocks noGrp="1"/>
          </p:cNvSpPr>
          <p:nvPr/>
        </p:nvSpPr>
        <p:spPr>
          <a:xfrm>
            <a:off x="2316480" y="501967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895D8D5-5BBB-497B-8309-9EE52C48F3B2}"/>
              </a:ext>
            </a:extLst>
          </p:cNvPr>
          <p:cNvSpPr>
            <a:spLocks noGrp="1"/>
          </p:cNvSpPr>
          <p:nvPr/>
        </p:nvSpPr>
        <p:spPr>
          <a:xfrm>
            <a:off x="2316480" y="5019675"/>
            <a:ext cx="1844642" cy="161925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F70C566-02A8-463F-84D9-BA2919C1AB25}"/>
              </a:ext>
            </a:extLst>
          </p:cNvPr>
          <p:cNvSpPr>
            <a:spLocks noGrp="1"/>
          </p:cNvSpPr>
          <p:nvPr/>
        </p:nvSpPr>
        <p:spPr>
          <a:xfrm>
            <a:off x="6949440" y="497205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41.1%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870CC3F-60E2-45DB-86A3-270ED46A3936}"/>
              </a:ext>
            </a:extLst>
          </p:cNvPr>
          <p:cNvSpPr>
            <a:spLocks noGrp="1"/>
          </p:cNvSpPr>
          <p:nvPr/>
        </p:nvSpPr>
        <p:spPr>
          <a:xfrm>
            <a:off x="8420100" y="1676400"/>
            <a:ext cx="2705100" cy="3238500"/>
          </a:xfrm>
          <a:prstGeom prst="roundRect">
            <a:avLst>
              <a:gd name="adj" fmla="val 5634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E50A9D4-40C5-4E1F-AEC0-6515415ECFEB}"/>
              </a:ext>
            </a:extLst>
          </p:cNvPr>
          <p:cNvSpPr>
            <a:spLocks noGrp="1"/>
          </p:cNvSpPr>
          <p:nvPr/>
        </p:nvSpPr>
        <p:spPr>
          <a:xfrm>
            <a:off x="8648700" y="18859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159B96"/>
                </a:solidFill>
              </a:defRPr>
            </a:pPr>
            <a:r>
              <a:rPr sz="1350" b="1">
                <a:solidFill>
                  <a:srgbClr val="159B96"/>
                </a:solidFill>
              </a:rPr>
              <a:t>HOW TO READ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6D865B9-6F69-41E0-B9CF-B0CFF9556AB3}"/>
              </a:ext>
            </a:extLst>
          </p:cNvPr>
          <p:cNvSpPr>
            <a:spLocks noGrp="1"/>
          </p:cNvSpPr>
          <p:nvPr/>
        </p:nvSpPr>
        <p:spPr>
          <a:xfrm>
            <a:off x="8648700" y="2343150"/>
            <a:ext cx="2247900" cy="1866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High access is not high placement</a:t>
            </a:r>
          </a:p>
          <a:p>
            <a:endParaRPr sz="1350" b="0">
              <a:solidFill>
                <a:srgbClr val="0D2430"/>
              </a:solidFill>
            </a:endParaRPr>
          </a:p>
          <a:p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Site density, road connectivity, and terrain shape static coverage</a:t>
            </a:r>
          </a:p>
          <a:p>
            <a:endParaRPr sz="1350" b="0">
              <a:solidFill>
                <a:srgbClr val="0D2430"/>
              </a:solidFill>
            </a:endParaRPr>
          </a:p>
          <a:p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Capacity, information, and behavior further reduce dynamic safety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274F63D-9EE5-40E4-B8A7-45F11FF928CD}"/>
              </a:ext>
            </a:extLst>
          </p:cNvPr>
          <p:cNvSpPr>
            <a:spLocks noGrp="1"/>
          </p:cNvSpPr>
          <p:nvPr/>
        </p:nvSpPr>
        <p:spPr>
          <a:xfrm>
            <a:off x="8648700" y="4343400"/>
            <a:ext cx="114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F2766B"/>
                </a:solidFill>
              </a:defRPr>
            </a:pPr>
            <a:r>
              <a:rPr sz="2250" b="1">
                <a:solidFill>
                  <a:srgbClr val="F2766B"/>
                </a:solidFill>
              </a:rPr>
              <a:t>41.1%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C640789-D009-420C-84CB-D22E06C1D82A}"/>
              </a:ext>
            </a:extLst>
          </p:cNvPr>
          <p:cNvSpPr>
            <a:spLocks noGrp="1"/>
          </p:cNvSpPr>
          <p:nvPr/>
        </p:nvSpPr>
        <p:spPr>
          <a:xfrm>
            <a:off x="9791700" y="4400550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5D707A"/>
                </a:solidFill>
              </a:defRPr>
            </a:pPr>
            <a:r>
              <a:rPr sz="1125" b="1">
                <a:solidFill>
                  <a:srgbClr val="5D707A"/>
                </a:solidFill>
              </a:rPr>
              <a:t>Noto is lowest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F2E31AE-AB7D-42C4-92B2-9876B3F9FCA5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Share of population within 15 network minutes of candidate sites; common eight-city output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8B72EE34-0247-43BB-A278-3937E7B95790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3716906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矩形 52">
            <a:extLst>
              <a:ext uri="{FF2B5EF4-FFF2-40B4-BE49-F238E27FC236}">
                <a16:creationId xmlns:a16="http://schemas.microsoft.com/office/drawing/2014/main" id="{E7A13CB8-1CCB-49C0-B4EF-96EB90F6DA93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08 / APPLICATION VALUE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1D1117E-AA80-4BC6-BD24-5907AF07841D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LLM leaders change early safety across cities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721731-A231-44A3-9A1B-112D6268B1C6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09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732521E-6843-4C00-A8DE-F9833446E92A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095ED4-BFA8-4147-8FB2-448AF7300D8E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B4A3BD14-0536-48CA-A67F-0FD2B650D5EB}"/>
              </a:ext>
            </a:extLst>
          </p:cNvPr>
          <p:cNvSpPr>
            <a:spLocks noGrp="1"/>
          </p:cNvSpPr>
          <p:nvPr/>
        </p:nvSpPr>
        <p:spPr>
          <a:xfrm>
            <a:off x="2605088" y="17145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716F162-EAAC-4950-BF57-D975C9279738}"/>
              </a:ext>
            </a:extLst>
          </p:cNvPr>
          <p:cNvSpPr>
            <a:spLocks noGrp="1"/>
          </p:cNvSpPr>
          <p:nvPr/>
        </p:nvSpPr>
        <p:spPr>
          <a:xfrm>
            <a:off x="4777740" y="16764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A433081-8F4D-4922-90B2-56EFDCD6C491}"/>
              </a:ext>
            </a:extLst>
          </p:cNvPr>
          <p:cNvSpPr>
            <a:spLocks noGrp="1"/>
          </p:cNvSpPr>
          <p:nvPr/>
        </p:nvSpPr>
        <p:spPr>
          <a:xfrm>
            <a:off x="4787265" y="1714500"/>
            <a:ext cx="1982664" cy="14287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5BFC86D-2BBB-4733-A8BE-EF3FD9E5AF3A}"/>
              </a:ext>
            </a:extLst>
          </p:cNvPr>
          <p:cNvSpPr>
            <a:spLocks noGrp="1"/>
          </p:cNvSpPr>
          <p:nvPr/>
        </p:nvSpPr>
        <p:spPr>
          <a:xfrm>
            <a:off x="7119938" y="16573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+3.18 pp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E9CB398-70BB-4614-8A6A-5A63AC749C46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9A76E02-B573-4CE6-9ACA-EAC66A696F67}"/>
              </a:ext>
            </a:extLst>
          </p:cNvPr>
          <p:cNvSpPr>
            <a:spLocks noGrp="1"/>
          </p:cNvSpPr>
          <p:nvPr/>
        </p:nvSpPr>
        <p:spPr>
          <a:xfrm>
            <a:off x="2605088" y="21717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6AB158F-01D3-44F5-9E35-79526984018A}"/>
              </a:ext>
            </a:extLst>
          </p:cNvPr>
          <p:cNvSpPr>
            <a:spLocks noGrp="1"/>
          </p:cNvSpPr>
          <p:nvPr/>
        </p:nvSpPr>
        <p:spPr>
          <a:xfrm>
            <a:off x="4777740" y="21336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402A0C7-ACCC-4208-BF7C-982CC0300D97}"/>
              </a:ext>
            </a:extLst>
          </p:cNvPr>
          <p:cNvSpPr>
            <a:spLocks noGrp="1"/>
          </p:cNvSpPr>
          <p:nvPr/>
        </p:nvSpPr>
        <p:spPr>
          <a:xfrm>
            <a:off x="4787265" y="2171700"/>
            <a:ext cx="1490115" cy="14287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1CBB598-E222-4369-83CB-EF157C1A24D9}"/>
              </a:ext>
            </a:extLst>
          </p:cNvPr>
          <p:cNvSpPr>
            <a:spLocks noGrp="1"/>
          </p:cNvSpPr>
          <p:nvPr/>
        </p:nvSpPr>
        <p:spPr>
          <a:xfrm>
            <a:off x="7119938" y="21145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+2.39 pp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D265338-DD3A-4298-BFAC-BBE5A3CB7CF5}"/>
              </a:ext>
            </a:extLst>
          </p:cNvPr>
          <p:cNvSpPr>
            <a:spLocks noGrp="1"/>
          </p:cNvSpPr>
          <p:nvPr/>
        </p:nvSpPr>
        <p:spPr>
          <a:xfrm>
            <a:off x="723900" y="25717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Taipei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66C9EEC0-8979-42B3-8E41-271C3CED70C0}"/>
              </a:ext>
            </a:extLst>
          </p:cNvPr>
          <p:cNvSpPr>
            <a:spLocks noGrp="1"/>
          </p:cNvSpPr>
          <p:nvPr/>
        </p:nvSpPr>
        <p:spPr>
          <a:xfrm>
            <a:off x="2605088" y="26289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35ED5E6-2388-443D-94B9-85ADBC0E6452}"/>
              </a:ext>
            </a:extLst>
          </p:cNvPr>
          <p:cNvSpPr>
            <a:spLocks noGrp="1"/>
          </p:cNvSpPr>
          <p:nvPr/>
        </p:nvSpPr>
        <p:spPr>
          <a:xfrm>
            <a:off x="4777740" y="25908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EBEC34A4-97F9-4639-8082-D2A8DF8B8414}"/>
              </a:ext>
            </a:extLst>
          </p:cNvPr>
          <p:cNvSpPr>
            <a:spLocks noGrp="1"/>
          </p:cNvSpPr>
          <p:nvPr/>
        </p:nvSpPr>
        <p:spPr>
          <a:xfrm>
            <a:off x="4787265" y="2628900"/>
            <a:ext cx="854167" cy="14287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BD0E6F8-450A-4BD4-8C29-DB2E8912B4B1}"/>
              </a:ext>
            </a:extLst>
          </p:cNvPr>
          <p:cNvSpPr>
            <a:spLocks noGrp="1"/>
          </p:cNvSpPr>
          <p:nvPr/>
        </p:nvSpPr>
        <p:spPr>
          <a:xfrm>
            <a:off x="7119938" y="25717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+1.37 pp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B9646DE-1435-443C-934D-88BBA8833C65}"/>
              </a:ext>
            </a:extLst>
          </p:cNvPr>
          <p:cNvSpPr>
            <a:spLocks noGrp="1"/>
          </p:cNvSpPr>
          <p:nvPr/>
        </p:nvSpPr>
        <p:spPr>
          <a:xfrm>
            <a:off x="723900" y="30289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E0BABF8B-418B-4413-B033-9C966252E96E}"/>
              </a:ext>
            </a:extLst>
          </p:cNvPr>
          <p:cNvSpPr>
            <a:spLocks noGrp="1"/>
          </p:cNvSpPr>
          <p:nvPr/>
        </p:nvSpPr>
        <p:spPr>
          <a:xfrm>
            <a:off x="2605088" y="30861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FD7634A-505A-46A6-BAE1-003E6E503DFB}"/>
              </a:ext>
            </a:extLst>
          </p:cNvPr>
          <p:cNvSpPr>
            <a:spLocks noGrp="1"/>
          </p:cNvSpPr>
          <p:nvPr/>
        </p:nvSpPr>
        <p:spPr>
          <a:xfrm>
            <a:off x="4777740" y="30480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5223CD3-C8BF-4CCD-AC1A-E0BA2BF48D0E}"/>
              </a:ext>
            </a:extLst>
          </p:cNvPr>
          <p:cNvSpPr>
            <a:spLocks noGrp="1"/>
          </p:cNvSpPr>
          <p:nvPr/>
        </p:nvSpPr>
        <p:spPr>
          <a:xfrm>
            <a:off x="4787265" y="3086100"/>
            <a:ext cx="754410" cy="14287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128DCC8-1972-46F1-963C-571BF29C151C}"/>
              </a:ext>
            </a:extLst>
          </p:cNvPr>
          <p:cNvSpPr>
            <a:spLocks noGrp="1"/>
          </p:cNvSpPr>
          <p:nvPr/>
        </p:nvSpPr>
        <p:spPr>
          <a:xfrm>
            <a:off x="7119938" y="30289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+1.21 pp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64E4B78-2161-4C2C-9649-337CCB4D8373}"/>
              </a:ext>
            </a:extLst>
          </p:cNvPr>
          <p:cNvSpPr>
            <a:spLocks noGrp="1"/>
          </p:cNvSpPr>
          <p:nvPr/>
        </p:nvSpPr>
        <p:spPr>
          <a:xfrm>
            <a:off x="723900" y="34861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F58EAFF-1641-4733-A347-7F01D3C89289}"/>
              </a:ext>
            </a:extLst>
          </p:cNvPr>
          <p:cNvSpPr>
            <a:spLocks noGrp="1"/>
          </p:cNvSpPr>
          <p:nvPr/>
        </p:nvSpPr>
        <p:spPr>
          <a:xfrm>
            <a:off x="2605088" y="35433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6231C61-7928-4CDD-8237-BF11EA703086}"/>
              </a:ext>
            </a:extLst>
          </p:cNvPr>
          <p:cNvSpPr>
            <a:spLocks noGrp="1"/>
          </p:cNvSpPr>
          <p:nvPr/>
        </p:nvSpPr>
        <p:spPr>
          <a:xfrm>
            <a:off x="4777740" y="35052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BABBB2E-7393-4A26-B320-6E2EA54BF37A}"/>
              </a:ext>
            </a:extLst>
          </p:cNvPr>
          <p:cNvSpPr>
            <a:spLocks noGrp="1"/>
          </p:cNvSpPr>
          <p:nvPr/>
        </p:nvSpPr>
        <p:spPr>
          <a:xfrm>
            <a:off x="4787265" y="3543300"/>
            <a:ext cx="611010" cy="14287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2E081BD-AC6F-46B4-B743-F60E03624379}"/>
              </a:ext>
            </a:extLst>
          </p:cNvPr>
          <p:cNvSpPr>
            <a:spLocks noGrp="1"/>
          </p:cNvSpPr>
          <p:nvPr/>
        </p:nvSpPr>
        <p:spPr>
          <a:xfrm>
            <a:off x="7119938" y="34861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+0.98 pp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E99A673-780D-4ADC-AFDE-C0D70BC1AA7A}"/>
              </a:ext>
            </a:extLst>
          </p:cNvPr>
          <p:cNvSpPr>
            <a:spLocks noGrp="1"/>
          </p:cNvSpPr>
          <p:nvPr/>
        </p:nvSpPr>
        <p:spPr>
          <a:xfrm>
            <a:off x="723900" y="39433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3AF6E4CA-E9A2-49F9-BE13-5539AB5B29D8}"/>
              </a:ext>
            </a:extLst>
          </p:cNvPr>
          <p:cNvSpPr>
            <a:spLocks noGrp="1"/>
          </p:cNvSpPr>
          <p:nvPr/>
        </p:nvSpPr>
        <p:spPr>
          <a:xfrm>
            <a:off x="2605088" y="40005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02E6DE4-B7BA-4820-BCC4-B3C6D932F13D}"/>
              </a:ext>
            </a:extLst>
          </p:cNvPr>
          <p:cNvSpPr>
            <a:spLocks noGrp="1"/>
          </p:cNvSpPr>
          <p:nvPr/>
        </p:nvSpPr>
        <p:spPr>
          <a:xfrm>
            <a:off x="4777740" y="39624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B2A235BF-EE1D-45FB-A706-0DEA8E5DF0B7}"/>
              </a:ext>
            </a:extLst>
          </p:cNvPr>
          <p:cNvSpPr>
            <a:spLocks noGrp="1"/>
          </p:cNvSpPr>
          <p:nvPr/>
        </p:nvSpPr>
        <p:spPr>
          <a:xfrm>
            <a:off x="4787265" y="4000500"/>
            <a:ext cx="62348" cy="14287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9D34AA8-F0C6-4015-9594-3E51BDBF33BC}"/>
              </a:ext>
            </a:extLst>
          </p:cNvPr>
          <p:cNvSpPr>
            <a:spLocks noGrp="1"/>
          </p:cNvSpPr>
          <p:nvPr/>
        </p:nvSpPr>
        <p:spPr>
          <a:xfrm>
            <a:off x="7119938" y="39433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+0.10 pp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5724E64-0812-4795-A3A2-F9F57AA60925}"/>
              </a:ext>
            </a:extLst>
          </p:cNvPr>
          <p:cNvSpPr>
            <a:spLocks noGrp="1"/>
          </p:cNvSpPr>
          <p:nvPr/>
        </p:nvSpPr>
        <p:spPr>
          <a:xfrm>
            <a:off x="723900" y="44005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04B2884-9593-465D-985A-B2E710F59E60}"/>
              </a:ext>
            </a:extLst>
          </p:cNvPr>
          <p:cNvSpPr>
            <a:spLocks noGrp="1"/>
          </p:cNvSpPr>
          <p:nvPr/>
        </p:nvSpPr>
        <p:spPr>
          <a:xfrm>
            <a:off x="2605088" y="44577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C7E1EFA9-9E61-40BA-B553-2750C92C64EC}"/>
              </a:ext>
            </a:extLst>
          </p:cNvPr>
          <p:cNvSpPr>
            <a:spLocks noGrp="1"/>
          </p:cNvSpPr>
          <p:nvPr/>
        </p:nvSpPr>
        <p:spPr>
          <a:xfrm>
            <a:off x="4777740" y="44196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D042F21-B08F-4024-ADCB-1E0A047A54D5}"/>
              </a:ext>
            </a:extLst>
          </p:cNvPr>
          <p:cNvSpPr>
            <a:spLocks noGrp="1"/>
          </p:cNvSpPr>
          <p:nvPr/>
        </p:nvSpPr>
        <p:spPr>
          <a:xfrm>
            <a:off x="3415611" y="4457700"/>
            <a:ext cx="1371654" cy="142875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E16E0D6-549A-488A-A65C-44EE7AF8273B}"/>
              </a:ext>
            </a:extLst>
          </p:cNvPr>
          <p:cNvSpPr>
            <a:spLocks noGrp="1"/>
          </p:cNvSpPr>
          <p:nvPr/>
        </p:nvSpPr>
        <p:spPr>
          <a:xfrm>
            <a:off x="7119938" y="44005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−2.20 pp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13367A8-2E38-41AF-8884-B16418528F67}"/>
              </a:ext>
            </a:extLst>
          </p:cNvPr>
          <p:cNvSpPr>
            <a:spLocks noGrp="1"/>
          </p:cNvSpPr>
          <p:nvPr/>
        </p:nvSpPr>
        <p:spPr>
          <a:xfrm>
            <a:off x="723900" y="48577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L'Aquila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4DE5310-7EBE-450F-9042-83FCE78FEA76}"/>
              </a:ext>
            </a:extLst>
          </p:cNvPr>
          <p:cNvSpPr>
            <a:spLocks noGrp="1"/>
          </p:cNvSpPr>
          <p:nvPr/>
        </p:nvSpPr>
        <p:spPr>
          <a:xfrm>
            <a:off x="2605088" y="49149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D3101B0-6330-4AA5-AC90-5E004AA7CC34}"/>
              </a:ext>
            </a:extLst>
          </p:cNvPr>
          <p:cNvSpPr>
            <a:spLocks noGrp="1"/>
          </p:cNvSpPr>
          <p:nvPr/>
        </p:nvSpPr>
        <p:spPr>
          <a:xfrm>
            <a:off x="4777740" y="48768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9996C5E-4296-4224-8834-7EA5866C9396}"/>
              </a:ext>
            </a:extLst>
          </p:cNvPr>
          <p:cNvSpPr>
            <a:spLocks noGrp="1"/>
          </p:cNvSpPr>
          <p:nvPr/>
        </p:nvSpPr>
        <p:spPr>
          <a:xfrm>
            <a:off x="3141280" y="4914900"/>
            <a:ext cx="1645985" cy="142875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7190D99-6F0C-4B45-A3E1-23C9FF4AE948}"/>
              </a:ext>
            </a:extLst>
          </p:cNvPr>
          <p:cNvSpPr>
            <a:spLocks noGrp="1"/>
          </p:cNvSpPr>
          <p:nvPr/>
        </p:nvSpPr>
        <p:spPr>
          <a:xfrm>
            <a:off x="7119938" y="48577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−2.64 pp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02C2FE69-9F97-4440-B521-2548D29B4529}"/>
              </a:ext>
            </a:extLst>
          </p:cNvPr>
          <p:cNvSpPr>
            <a:spLocks noGrp="1"/>
          </p:cNvSpPr>
          <p:nvPr/>
        </p:nvSpPr>
        <p:spPr>
          <a:xfrm>
            <a:off x="8705850" y="1752600"/>
            <a:ext cx="2419350" cy="2952750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499F007-C2B6-4227-BCA6-77D5913FD98D}"/>
              </a:ext>
            </a:extLst>
          </p:cNvPr>
          <p:cNvSpPr>
            <a:spLocks noGrp="1"/>
          </p:cNvSpPr>
          <p:nvPr/>
        </p:nvSpPr>
        <p:spPr>
          <a:xfrm>
            <a:off x="8934450" y="1962150"/>
            <a:ext cx="1962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DIRECTIONAL RESULT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423D169-3B12-44F4-ABA4-600330501770}"/>
              </a:ext>
            </a:extLst>
          </p:cNvPr>
          <p:cNvSpPr>
            <a:spLocks noGrp="1"/>
          </p:cNvSpPr>
          <p:nvPr/>
        </p:nvSpPr>
        <p:spPr>
          <a:xfrm>
            <a:off x="8934450" y="2343150"/>
            <a:ext cx="1962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0D2430"/>
                </a:solidFill>
              </a:defRPr>
            </a:pPr>
            <a:r>
              <a:rPr sz="2850" b="1">
                <a:solidFill>
                  <a:srgbClr val="0D2430"/>
                </a:solidFill>
              </a:rPr>
              <a:t>6 / 8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01C5631-F16B-4C9E-BFC8-702F8B6F4D12}"/>
              </a:ext>
            </a:extLst>
          </p:cNvPr>
          <p:cNvSpPr>
            <a:spLocks noGrp="1"/>
          </p:cNvSpPr>
          <p:nvPr/>
        </p:nvSpPr>
        <p:spPr>
          <a:xfrm>
            <a:off x="8934450" y="2914650"/>
            <a:ext cx="1962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cities improve early safety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74B90C9F-AE71-4C83-9C7A-7209DAE3068B}"/>
              </a:ext>
            </a:extLst>
          </p:cNvPr>
          <p:cNvSpPr>
            <a:spLocks noGrp="1"/>
          </p:cNvSpPr>
          <p:nvPr/>
        </p:nvSpPr>
        <p:spPr>
          <a:xfrm>
            <a:off x="8934450" y="3562350"/>
            <a:ext cx="6858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5A2D131-8A91-46D8-A00F-F1FFB9A24B07}"/>
              </a:ext>
            </a:extLst>
          </p:cNvPr>
          <p:cNvSpPr>
            <a:spLocks noGrp="1"/>
          </p:cNvSpPr>
          <p:nvPr/>
        </p:nvSpPr>
        <p:spPr>
          <a:xfrm>
            <a:off x="8934450" y="3771900"/>
            <a:ext cx="19621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0D2430"/>
                </a:solidFill>
              </a:defRPr>
            </a:pPr>
            <a:r>
              <a:rPr sz="1200" b="0">
                <a:solidFill>
                  <a:srgbClr val="0D2430"/>
                </a:solidFill>
              </a:rPr>
              <a:t>Noto and L'Aquila decline: faster information does not remove sparse-network or capacity bottlenecks.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D477F73-BEDC-476A-8309-55EA47DBE9CA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Δ = leadership scenario − zero-knowledge baseline; percentage points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2D97AD7-D673-43C2-A788-7B76F34945DE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37812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矩形 51">
            <a:extLst>
              <a:ext uri="{FF2B5EF4-FFF2-40B4-BE49-F238E27FC236}">
                <a16:creationId xmlns:a16="http://schemas.microsoft.com/office/drawing/2014/main" id="{1C0A3175-F8EA-4E89-AA7F-4C1D2D5D4C67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09 / LIMITS OF INTERVENTION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D325CED-965E-4E1F-9C4F-41729D0E7EAC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The same LLM policy can help early and harm later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FB980C-599B-49BD-ADC5-33DBB04A53DF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FA818B9-6C2D-4D5F-A473-E4BDD30E4925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0B798F-4B50-4A81-BE54-F84B28EE863B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Angeles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CB36F6F7-EB6E-4B1C-9B84-417635EE34C6}"/>
              </a:ext>
            </a:extLst>
          </p:cNvPr>
          <p:cNvSpPr>
            <a:spLocks noGrp="1"/>
          </p:cNvSpPr>
          <p:nvPr/>
        </p:nvSpPr>
        <p:spPr>
          <a:xfrm>
            <a:off x="2857500" y="174307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31A50C-E3CE-4866-8A8C-DDC2E92AFF15}"/>
              </a:ext>
            </a:extLst>
          </p:cNvPr>
          <p:cNvSpPr>
            <a:spLocks noGrp="1"/>
          </p:cNvSpPr>
          <p:nvPr/>
        </p:nvSpPr>
        <p:spPr>
          <a:xfrm>
            <a:off x="5943600" y="170497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6CFBE6A-8DF6-464D-BB47-70CB6E387E03}"/>
              </a:ext>
            </a:extLst>
          </p:cNvPr>
          <p:cNvSpPr>
            <a:spLocks noGrp="1"/>
          </p:cNvSpPr>
          <p:nvPr/>
        </p:nvSpPr>
        <p:spPr>
          <a:xfrm>
            <a:off x="5953125" y="1743075"/>
            <a:ext cx="874059" cy="133350"/>
          </a:xfrm>
          <a:prstGeom prst="roundRect">
            <a:avLst>
              <a:gd name="adj" fmla="val 50000"/>
            </a:avLst>
          </a:prstGeom>
          <a:solidFill>
            <a:srgbClr val="38D1C9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474C1E-D1A7-44B2-BB69-411E938E7689}"/>
              </a:ext>
            </a:extLst>
          </p:cNvPr>
          <p:cNvSpPr>
            <a:spLocks noGrp="1"/>
          </p:cNvSpPr>
          <p:nvPr/>
        </p:nvSpPr>
        <p:spPr>
          <a:xfrm>
            <a:off x="9353550" y="1676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+9.60 pp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00F813A-FA85-4F7B-B8F8-43713640CF52}"/>
              </a:ext>
            </a:extLst>
          </p:cNvPr>
          <p:cNvSpPr>
            <a:spLocks noGrp="1"/>
          </p:cNvSpPr>
          <p:nvPr/>
        </p:nvSpPr>
        <p:spPr>
          <a:xfrm>
            <a:off x="819150" y="21526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Wellington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6A2CD6A-279D-48CF-B16A-3E294C7B393C}"/>
              </a:ext>
            </a:extLst>
          </p:cNvPr>
          <p:cNvSpPr>
            <a:spLocks noGrp="1"/>
          </p:cNvSpPr>
          <p:nvPr/>
        </p:nvSpPr>
        <p:spPr>
          <a:xfrm>
            <a:off x="2857500" y="221932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8D5F64A-024F-4FBA-9303-A1AB531EAF6A}"/>
              </a:ext>
            </a:extLst>
          </p:cNvPr>
          <p:cNvSpPr>
            <a:spLocks noGrp="1"/>
          </p:cNvSpPr>
          <p:nvPr/>
        </p:nvSpPr>
        <p:spPr>
          <a:xfrm>
            <a:off x="5943600" y="218122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EF61E540-E1D8-45F0-83FD-71E13DAD187C}"/>
              </a:ext>
            </a:extLst>
          </p:cNvPr>
          <p:cNvSpPr>
            <a:spLocks noGrp="1"/>
          </p:cNvSpPr>
          <p:nvPr/>
        </p:nvSpPr>
        <p:spPr>
          <a:xfrm>
            <a:off x="5953125" y="2219325"/>
            <a:ext cx="498031" cy="133350"/>
          </a:xfrm>
          <a:prstGeom prst="roundRect">
            <a:avLst>
              <a:gd name="adj" fmla="val 50000"/>
            </a:avLst>
          </a:prstGeom>
          <a:solidFill>
            <a:srgbClr val="38D1C9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FCEABD-43E4-4AF3-A6AE-61A275CE68A9}"/>
              </a:ext>
            </a:extLst>
          </p:cNvPr>
          <p:cNvSpPr>
            <a:spLocks noGrp="1"/>
          </p:cNvSpPr>
          <p:nvPr/>
        </p:nvSpPr>
        <p:spPr>
          <a:xfrm>
            <a:off x="9353550" y="21526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+5.47 pp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2DD92E8-8B03-4253-A080-6CFEC126BF76}"/>
              </a:ext>
            </a:extLst>
          </p:cNvPr>
          <p:cNvSpPr>
            <a:spLocks noGrp="1"/>
          </p:cNvSpPr>
          <p:nvPr/>
        </p:nvSpPr>
        <p:spPr>
          <a:xfrm>
            <a:off x="819150" y="26289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Naples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3244EC2F-1DF3-4B92-94A6-D4566C8CB8F4}"/>
              </a:ext>
            </a:extLst>
          </p:cNvPr>
          <p:cNvSpPr>
            <a:spLocks noGrp="1"/>
          </p:cNvSpPr>
          <p:nvPr/>
        </p:nvSpPr>
        <p:spPr>
          <a:xfrm>
            <a:off x="2857500" y="269557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B53FA0E-D899-452D-ACF8-40CF82B3F498}"/>
              </a:ext>
            </a:extLst>
          </p:cNvPr>
          <p:cNvSpPr>
            <a:spLocks noGrp="1"/>
          </p:cNvSpPr>
          <p:nvPr/>
        </p:nvSpPr>
        <p:spPr>
          <a:xfrm>
            <a:off x="5943600" y="265747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26A874B-0A77-401E-AF19-48E9FA019CF5}"/>
              </a:ext>
            </a:extLst>
          </p:cNvPr>
          <p:cNvSpPr>
            <a:spLocks noGrp="1"/>
          </p:cNvSpPr>
          <p:nvPr/>
        </p:nvSpPr>
        <p:spPr>
          <a:xfrm>
            <a:off x="5953125" y="2695575"/>
            <a:ext cx="30956" cy="133350"/>
          </a:xfrm>
          <a:prstGeom prst="roundRect">
            <a:avLst>
              <a:gd name="adj" fmla="val 50000"/>
            </a:avLst>
          </a:prstGeom>
          <a:solidFill>
            <a:srgbClr val="38D1C9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489AE2C-0013-4FE7-8A9A-99D8A5069479}"/>
              </a:ext>
            </a:extLst>
          </p:cNvPr>
          <p:cNvSpPr>
            <a:spLocks noGrp="1"/>
          </p:cNvSpPr>
          <p:nvPr/>
        </p:nvSpPr>
        <p:spPr>
          <a:xfrm>
            <a:off x="9353550" y="26289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+0.34 pp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B289202-6C39-4DFE-A529-9A37BB65293F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Taipei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41F5DE9-9995-47BB-AEF5-264A67EFC4BD}"/>
              </a:ext>
            </a:extLst>
          </p:cNvPr>
          <p:cNvSpPr>
            <a:spLocks noGrp="1"/>
          </p:cNvSpPr>
          <p:nvPr/>
        </p:nvSpPr>
        <p:spPr>
          <a:xfrm>
            <a:off x="2857500" y="317182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AD77322-E5F4-4D53-AF6D-CF409F22985D}"/>
              </a:ext>
            </a:extLst>
          </p:cNvPr>
          <p:cNvSpPr>
            <a:spLocks noGrp="1"/>
          </p:cNvSpPr>
          <p:nvPr/>
        </p:nvSpPr>
        <p:spPr>
          <a:xfrm>
            <a:off x="5943600" y="313372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5CE45FD-F6D2-47C1-95AC-E4C56B81C795}"/>
              </a:ext>
            </a:extLst>
          </p:cNvPr>
          <p:cNvSpPr>
            <a:spLocks noGrp="1"/>
          </p:cNvSpPr>
          <p:nvPr/>
        </p:nvSpPr>
        <p:spPr>
          <a:xfrm>
            <a:off x="5920348" y="3171825"/>
            <a:ext cx="32777" cy="133350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6C8F2D2-8C01-4A77-A38E-DE7459FF3C0C}"/>
              </a:ext>
            </a:extLst>
          </p:cNvPr>
          <p:cNvSpPr>
            <a:spLocks noGrp="1"/>
          </p:cNvSpPr>
          <p:nvPr/>
        </p:nvSpPr>
        <p:spPr>
          <a:xfrm>
            <a:off x="9353550" y="31051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−0.36 pp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2788E0F-5241-4B23-9D96-F81303F5F485}"/>
              </a:ext>
            </a:extLst>
          </p:cNvPr>
          <p:cNvSpPr>
            <a:spLocks noGrp="1"/>
          </p:cNvSpPr>
          <p:nvPr/>
        </p:nvSpPr>
        <p:spPr>
          <a:xfrm>
            <a:off x="819150" y="35814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Mandalay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AC5D93-AFA7-4C8B-90F6-E53684E5387F}"/>
              </a:ext>
            </a:extLst>
          </p:cNvPr>
          <p:cNvSpPr>
            <a:spLocks noGrp="1"/>
          </p:cNvSpPr>
          <p:nvPr/>
        </p:nvSpPr>
        <p:spPr>
          <a:xfrm>
            <a:off x="2857500" y="364807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22D746C-57DD-4F42-9984-CE20E54A321F}"/>
              </a:ext>
            </a:extLst>
          </p:cNvPr>
          <p:cNvSpPr>
            <a:spLocks noGrp="1"/>
          </p:cNvSpPr>
          <p:nvPr/>
        </p:nvSpPr>
        <p:spPr>
          <a:xfrm>
            <a:off x="5943600" y="360997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BB1DEAD8-3A5D-4B23-B281-9FE89CB5FB1D}"/>
              </a:ext>
            </a:extLst>
          </p:cNvPr>
          <p:cNvSpPr>
            <a:spLocks noGrp="1"/>
          </p:cNvSpPr>
          <p:nvPr/>
        </p:nvSpPr>
        <p:spPr>
          <a:xfrm>
            <a:off x="5888481" y="3648075"/>
            <a:ext cx="64644" cy="133350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912A0C3-B2B6-45CD-8B62-722479015249}"/>
              </a:ext>
            </a:extLst>
          </p:cNvPr>
          <p:cNvSpPr>
            <a:spLocks noGrp="1"/>
          </p:cNvSpPr>
          <p:nvPr/>
        </p:nvSpPr>
        <p:spPr>
          <a:xfrm>
            <a:off x="9353550" y="3581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−0.71 pp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877DF81-FA18-47EF-9106-601E1DF10AED}"/>
              </a:ext>
            </a:extLst>
          </p:cNvPr>
          <p:cNvSpPr>
            <a:spLocks noGrp="1"/>
          </p:cNvSpPr>
          <p:nvPr/>
        </p:nvSpPr>
        <p:spPr>
          <a:xfrm>
            <a:off x="819150" y="40576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Kathmandu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3BE1BE8-07DA-49B1-97C7-D2E566F78F8D}"/>
              </a:ext>
            </a:extLst>
          </p:cNvPr>
          <p:cNvSpPr>
            <a:spLocks noGrp="1"/>
          </p:cNvSpPr>
          <p:nvPr/>
        </p:nvSpPr>
        <p:spPr>
          <a:xfrm>
            <a:off x="2857500" y="412432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009CD1E-E675-4BD5-8268-5D2F6B1E57A6}"/>
              </a:ext>
            </a:extLst>
          </p:cNvPr>
          <p:cNvSpPr>
            <a:spLocks noGrp="1"/>
          </p:cNvSpPr>
          <p:nvPr/>
        </p:nvSpPr>
        <p:spPr>
          <a:xfrm>
            <a:off x="5943600" y="408622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4564E76-9FF8-4902-BC18-DC3972C0528A}"/>
              </a:ext>
            </a:extLst>
          </p:cNvPr>
          <p:cNvSpPr>
            <a:spLocks noGrp="1"/>
          </p:cNvSpPr>
          <p:nvPr/>
        </p:nvSpPr>
        <p:spPr>
          <a:xfrm>
            <a:off x="5862077" y="4124325"/>
            <a:ext cx="91048" cy="133350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0A9E865-A173-4A5A-A80C-1B733F6A586D}"/>
              </a:ext>
            </a:extLst>
          </p:cNvPr>
          <p:cNvSpPr>
            <a:spLocks noGrp="1"/>
          </p:cNvSpPr>
          <p:nvPr/>
        </p:nvSpPr>
        <p:spPr>
          <a:xfrm>
            <a:off x="9353550" y="40576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−1.00 pp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52A9321-D37B-4BD8-97BD-AC89624B79A9}"/>
              </a:ext>
            </a:extLst>
          </p:cNvPr>
          <p:cNvSpPr>
            <a:spLocks noGrp="1"/>
          </p:cNvSpPr>
          <p:nvPr/>
        </p:nvSpPr>
        <p:spPr>
          <a:xfrm>
            <a:off x="819150" y="45339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L'Aquila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8BE6741-8A76-4F04-A86B-632620317E0F}"/>
              </a:ext>
            </a:extLst>
          </p:cNvPr>
          <p:cNvSpPr>
            <a:spLocks noGrp="1"/>
          </p:cNvSpPr>
          <p:nvPr/>
        </p:nvSpPr>
        <p:spPr>
          <a:xfrm>
            <a:off x="2857500" y="460057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34E1B94-9DA8-4140-931C-14834EB0CA1C}"/>
              </a:ext>
            </a:extLst>
          </p:cNvPr>
          <p:cNvSpPr>
            <a:spLocks noGrp="1"/>
          </p:cNvSpPr>
          <p:nvPr/>
        </p:nvSpPr>
        <p:spPr>
          <a:xfrm>
            <a:off x="5943600" y="456247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C0EEE24-796E-4845-B2E3-87DD91AEA0F8}"/>
              </a:ext>
            </a:extLst>
          </p:cNvPr>
          <p:cNvSpPr>
            <a:spLocks noGrp="1"/>
          </p:cNvSpPr>
          <p:nvPr/>
        </p:nvSpPr>
        <p:spPr>
          <a:xfrm>
            <a:off x="5152815" y="4600575"/>
            <a:ext cx="800310" cy="133350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885E384-A43D-4E79-B3AF-4F7FC4711751}"/>
              </a:ext>
            </a:extLst>
          </p:cNvPr>
          <p:cNvSpPr>
            <a:spLocks noGrp="1"/>
          </p:cNvSpPr>
          <p:nvPr/>
        </p:nvSpPr>
        <p:spPr>
          <a:xfrm>
            <a:off x="9353550" y="45339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−8.79 pp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B18A3CD-8907-45DA-A6B0-3D1293039F40}"/>
              </a:ext>
            </a:extLst>
          </p:cNvPr>
          <p:cNvSpPr>
            <a:spLocks noGrp="1"/>
          </p:cNvSpPr>
          <p:nvPr/>
        </p:nvSpPr>
        <p:spPr>
          <a:xfrm>
            <a:off x="819150" y="50101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Noto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91FEF191-29B0-4E8C-82A5-2DF0D44B302C}"/>
              </a:ext>
            </a:extLst>
          </p:cNvPr>
          <p:cNvSpPr>
            <a:spLocks noGrp="1"/>
          </p:cNvSpPr>
          <p:nvPr/>
        </p:nvSpPr>
        <p:spPr>
          <a:xfrm>
            <a:off x="2857500" y="507682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6673AE2-6E0E-4241-AD6F-81E3974AD2BC}"/>
              </a:ext>
            </a:extLst>
          </p:cNvPr>
          <p:cNvSpPr>
            <a:spLocks noGrp="1"/>
          </p:cNvSpPr>
          <p:nvPr/>
        </p:nvSpPr>
        <p:spPr>
          <a:xfrm>
            <a:off x="5943600" y="503872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DB81F8B1-6EA2-4D04-A663-BFA07B79D9E6}"/>
              </a:ext>
            </a:extLst>
          </p:cNvPr>
          <p:cNvSpPr>
            <a:spLocks noGrp="1"/>
          </p:cNvSpPr>
          <p:nvPr/>
        </p:nvSpPr>
        <p:spPr>
          <a:xfrm>
            <a:off x="3005908" y="5076825"/>
            <a:ext cx="2947217" cy="133350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DFE2663-884E-43A6-9A02-985826C885D8}"/>
              </a:ext>
            </a:extLst>
          </p:cNvPr>
          <p:cNvSpPr>
            <a:spLocks noGrp="1"/>
          </p:cNvSpPr>
          <p:nvPr/>
        </p:nvSpPr>
        <p:spPr>
          <a:xfrm>
            <a:off x="9353550" y="50101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−32.37 pp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F0EB3DAA-8C93-48A2-9E68-1BBFB1DD17D0}"/>
              </a:ext>
            </a:extLst>
          </p:cNvPr>
          <p:cNvSpPr>
            <a:spLocks noGrp="1"/>
          </p:cNvSpPr>
          <p:nvPr/>
        </p:nvSpPr>
        <p:spPr>
          <a:xfrm>
            <a:off x="9810750" y="1695450"/>
            <a:ext cx="1714500" cy="3009900"/>
          </a:xfrm>
          <a:prstGeom prst="roundRect">
            <a:avLst>
              <a:gd name="adj" fmla="val 6667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AB61213-F1BD-4287-B8E4-BF9D3345D3B7}"/>
              </a:ext>
            </a:extLst>
          </p:cNvPr>
          <p:cNvSpPr>
            <a:spLocks noGrp="1"/>
          </p:cNvSpPr>
          <p:nvPr/>
        </p:nvSpPr>
        <p:spPr>
          <a:xfrm>
            <a:off x="10020300" y="1905000"/>
            <a:ext cx="1333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KEY INTERPRETATION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B7E2C89-9114-4190-AF95-DD8B341CB8D0}"/>
              </a:ext>
            </a:extLst>
          </p:cNvPr>
          <p:cNvSpPr>
            <a:spLocks noGrp="1"/>
          </p:cNvSpPr>
          <p:nvPr/>
        </p:nvSpPr>
        <p:spPr>
          <a:xfrm>
            <a:off x="10020300" y="2305050"/>
            <a:ext cx="1333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Leadership improves information visibility; it does not create road throughput or shelter capacity.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403EF3A-92B3-4FC1-A0BA-14AC39E25895}"/>
              </a:ext>
            </a:extLst>
          </p:cNvPr>
          <p:cNvSpPr>
            <a:spLocks noGrp="1"/>
          </p:cNvSpPr>
          <p:nvPr/>
        </p:nvSpPr>
        <p:spPr>
          <a:xfrm>
            <a:off x="10020300" y="3733800"/>
            <a:ext cx="1333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Noto −32.37 pp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0EDE9A8-C4D3-4D4D-A799-C72E50AF5DB6}"/>
              </a:ext>
            </a:extLst>
          </p:cNvPr>
          <p:cNvSpPr>
            <a:spLocks noGrp="1"/>
          </p:cNvSpPr>
          <p:nvPr/>
        </p:nvSpPr>
        <p:spPr>
          <a:xfrm>
            <a:off x="10020300" y="4051300"/>
            <a:ext cx="1333500" cy="5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0">
                <a:solidFill>
                  <a:srgbClr val="A7BAC2"/>
                </a:solidFill>
              </a:defRPr>
            </a:pPr>
            <a:r>
              <a:rPr lang="en-US" sz="1100" b="0">
                <a:solidFill>
                  <a:srgbClr val="A7BAC2"/>
                </a:solidFill>
              </a:rPr>
              <a:t>Late congestion</a:t>
            </a:r>
          </a:p>
          <a:p>
            <a:pPr algn="l">
              <a:buNone/>
              <a:defRPr sz="1050" b="0">
                <a:solidFill>
                  <a:srgbClr val="A7BAC2"/>
                </a:solidFill>
              </a:defRPr>
            </a:pPr>
            <a:r>
              <a:rPr lang="en-US" sz="1100" b="0">
                <a:solidFill>
                  <a:srgbClr val="A7BAC2"/>
                </a:solidFill>
              </a:rPr>
              <a:t>and allocation failure</a:t>
            </a:r>
            <a:endParaRPr sz="1100" b="0">
              <a:solidFill>
                <a:srgbClr val="A7BAC2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812D550-A5E1-42FB-9852-BC32C51E2D58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The same mechanism can produce opposite outcomes under different network–capacity conditions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A68937F5-91A8-44E6-B002-33523078C75D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562983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63B47075-63B6-490E-9B58-0A68EFC188F2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10 / SCENARIO INNOVATION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F41A09D-D012-4DAF-A34E-F7AA306EE6E8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One Agentic AI mechanism reveals three urban response profiles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E107F6A-CAF2-4C64-B355-DAB302D299FD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3A609C-C854-40AC-925F-FD56CDD3D9A2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00074B3-F36F-4DC2-85D8-4E5E3ED013C2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</p:sp>
      <p:pic>
        <p:nvPicPr>
          <p:cNvPr id="34" name="图片 33"/>
          <p:cNvPicPr>
            <a:picLocks noChangeAspect="1"/>
          </p:cNvPicPr>
          <p:nvPr/>
        </p:nvPicPr>
        <p:blipFill>
          <a:blip r:embed="rId3"/>
          <a:srcRect t="11048" b="11048"/>
          <a:stretch>
            <a:fillRect/>
          </a:stretch>
        </p:blipFill>
        <p:spPr>
          <a:xfrm>
            <a:off x="742950" y="1809750"/>
            <a:ext cx="3105150" cy="1866900"/>
          </a:xfrm>
          <a:prstGeom prst="round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DCD54FB-3509-4B47-93E0-4DB6C0D60AF0}"/>
              </a:ext>
            </a:extLst>
          </p:cNvPr>
          <p:cNvSpPr>
            <a:spLocks noGrp="1"/>
          </p:cNvSpPr>
          <p:nvPr/>
        </p:nvSpPr>
        <p:spPr>
          <a:xfrm>
            <a:off x="819150" y="3905250"/>
            <a:ext cx="457200" cy="57150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1118255-8669-4501-8EE4-66D6F57E16BA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26DDA8C-0951-4393-9EB4-8FBC1F61EC24}"/>
              </a:ext>
            </a:extLst>
          </p:cNvPr>
          <p:cNvSpPr>
            <a:spLocks noGrp="1"/>
          </p:cNvSpPr>
          <p:nvPr/>
        </p:nvSpPr>
        <p:spPr>
          <a:xfrm>
            <a:off x="81915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58A6D6"/>
                </a:solidFill>
              </a:defRPr>
            </a:pPr>
            <a:r>
              <a:rPr sz="1125" b="1">
                <a:solidFill>
                  <a:srgbClr val="58A6D6"/>
                </a:solidFill>
              </a:rPr>
              <a:t>Early +3.18 pp · late +9.60 pp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8B55778-43BB-4D4C-BADE-0710E98F1DE7}"/>
              </a:ext>
            </a:extLst>
          </p:cNvPr>
          <p:cNvSpPr>
            <a:spLocks noGrp="1"/>
          </p:cNvSpPr>
          <p:nvPr/>
        </p:nvSpPr>
        <p:spPr>
          <a:xfrm>
            <a:off x="81915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Dense sites and network redundancy turn information advantage into sustained placement.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67D95C3-A6AC-45BA-B331-74541479791F}"/>
              </a:ext>
            </a:extLst>
          </p:cNvPr>
          <p:cNvSpPr>
            <a:spLocks noGrp="1"/>
          </p:cNvSpPr>
          <p:nvPr/>
        </p:nvSpPr>
        <p:spPr>
          <a:xfrm>
            <a:off x="424815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4"/>
          <a:srcRect t="11048" b="11048"/>
          <a:stretch>
            <a:fillRect/>
          </a:stretch>
        </p:blipFill>
        <p:spPr>
          <a:xfrm>
            <a:off x="4381500" y="1809750"/>
            <a:ext cx="3105150" cy="1866900"/>
          </a:xfrm>
          <a:prstGeom prst="round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2E75B012-0BF7-4DE6-BB8D-B1050C43ED43}"/>
              </a:ext>
            </a:extLst>
          </p:cNvPr>
          <p:cNvSpPr>
            <a:spLocks noGrp="1"/>
          </p:cNvSpPr>
          <p:nvPr/>
        </p:nvSpPr>
        <p:spPr>
          <a:xfrm>
            <a:off x="4457700" y="3905250"/>
            <a:ext cx="457200" cy="57150"/>
          </a:xfrm>
          <a:prstGeom prst="rect">
            <a:avLst/>
          </a:prstGeom>
          <a:solidFill>
            <a:srgbClr val="39B982"/>
          </a:solidFill>
          <a:ln w="0">
            <a:solidFill>
              <a:srgbClr val="39B982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A5C229-4570-4960-ADD1-970CB6EBB5F1}"/>
              </a:ext>
            </a:extLst>
          </p:cNvPr>
          <p:cNvSpPr>
            <a:spLocks noGrp="1"/>
          </p:cNvSpPr>
          <p:nvPr/>
        </p:nvSpPr>
        <p:spPr>
          <a:xfrm>
            <a:off x="445770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A9D9DFF-6568-419D-92AD-9932BB35D6ED}"/>
              </a:ext>
            </a:extLst>
          </p:cNvPr>
          <p:cNvSpPr>
            <a:spLocks noGrp="1"/>
          </p:cNvSpPr>
          <p:nvPr/>
        </p:nvSpPr>
        <p:spPr>
          <a:xfrm>
            <a:off x="445770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9B982"/>
                </a:solidFill>
              </a:defRPr>
            </a:pPr>
            <a:r>
              <a:rPr sz="1125" b="1">
                <a:solidFill>
                  <a:srgbClr val="39B982"/>
                </a:solidFill>
              </a:rPr>
              <a:t>Early +2.39 pp · late +5.47 pp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34781B4-1208-432A-8405-A156C626D6D2}"/>
              </a:ext>
            </a:extLst>
          </p:cNvPr>
          <p:cNvSpPr>
            <a:spLocks noGrp="1"/>
          </p:cNvSpPr>
          <p:nvPr/>
        </p:nvSpPr>
        <p:spPr>
          <a:xfrm>
            <a:off x="445770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Leadership still improves allocation on top of high baseline accessibility.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5CE47C4-2B76-43A7-90AF-0F0F34390848}"/>
              </a:ext>
            </a:extLst>
          </p:cNvPr>
          <p:cNvSpPr>
            <a:spLocks noGrp="1"/>
          </p:cNvSpPr>
          <p:nvPr/>
        </p:nvSpPr>
        <p:spPr>
          <a:xfrm>
            <a:off x="788670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5"/>
          <a:srcRect t="11048" b="11048"/>
          <a:stretch>
            <a:fillRect/>
          </a:stretch>
        </p:blipFill>
        <p:spPr>
          <a:xfrm>
            <a:off x="8020050" y="1809750"/>
            <a:ext cx="3105150" cy="1866900"/>
          </a:xfrm>
          <a:prstGeom prst="round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5289D2CC-4315-4051-A38D-15D59B29CB8C}"/>
              </a:ext>
            </a:extLst>
          </p:cNvPr>
          <p:cNvSpPr>
            <a:spLocks noGrp="1"/>
          </p:cNvSpPr>
          <p:nvPr/>
        </p:nvSpPr>
        <p:spPr>
          <a:xfrm>
            <a:off x="8096250" y="3905250"/>
            <a:ext cx="4572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4A409A-DD7E-4615-BB71-E1C2DED563FB}"/>
              </a:ext>
            </a:extLst>
          </p:cNvPr>
          <p:cNvSpPr>
            <a:spLocks noGrp="1"/>
          </p:cNvSpPr>
          <p:nvPr/>
        </p:nvSpPr>
        <p:spPr>
          <a:xfrm>
            <a:off x="809625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FF98349-44C2-4180-9DE3-FE9E3C5AC15C}"/>
              </a:ext>
            </a:extLst>
          </p:cNvPr>
          <p:cNvSpPr>
            <a:spLocks noGrp="1"/>
          </p:cNvSpPr>
          <p:nvPr/>
        </p:nvSpPr>
        <p:spPr>
          <a:xfrm>
            <a:off x="809625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2766B"/>
                </a:solidFill>
              </a:defRPr>
            </a:pPr>
            <a:r>
              <a:rPr sz="1125" b="1">
                <a:solidFill>
                  <a:srgbClr val="F2766B"/>
                </a:solidFill>
              </a:rPr>
              <a:t>Early −2.20 pp · late −32.37 pp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379D62-FF7B-4A06-8756-58204A6AB259}"/>
              </a:ext>
            </a:extLst>
          </p:cNvPr>
          <p:cNvSpPr>
            <a:spLocks noGrp="1"/>
          </p:cNvSpPr>
          <p:nvPr/>
        </p:nvSpPr>
        <p:spPr>
          <a:xfrm>
            <a:off x="809625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Low access and sparse supply allow concentrated guidance to amplify capacity constraints.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2F90353-86AA-4F7C-87D7-638C43ACE1E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A common WebGIS structure places mechanism differences beside spatial structure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8C5D915-D91D-46B8-BACE-3C9AA781AD75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91293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371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>
            <a:extLst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11 / AMD LOCAL INFERENCE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Local Radeon inference is verified with full-run evidence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noGrp="1"/>
          </p:cNvSpPr>
          <p:nvPr/>
        </p:nvSpPr>
        <p:spPr>
          <a:xfrm>
            <a:off x="6096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noGrp="1"/>
          </p:cNvSpPr>
          <p:nvPr/>
        </p:nvSpPr>
        <p:spPr>
          <a:xfrm>
            <a:off x="78105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GPU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noGrp="1"/>
          </p:cNvSpPr>
          <p:nvPr/>
        </p:nvSpPr>
        <p:spPr>
          <a:xfrm>
            <a:off x="7810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Radeon gfx1100 · 48 GiB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noGrp="1"/>
          </p:cNvSpPr>
          <p:nvPr/>
        </p:nvSpPr>
        <p:spPr>
          <a:xfrm>
            <a:off x="276225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noGrp="1"/>
          </p:cNvSpPr>
          <p:nvPr/>
        </p:nvSpPr>
        <p:spPr>
          <a:xfrm>
            <a:off x="293370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noGrp="1"/>
          </p:cNvSpPr>
          <p:nvPr/>
        </p:nvSpPr>
        <p:spPr>
          <a:xfrm>
            <a:off x="293370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RUNTIME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noGrp="1"/>
          </p:cNvSpPr>
          <p:nvPr/>
        </p:nvSpPr>
        <p:spPr>
          <a:xfrm>
            <a:off x="293370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ROCm 7.2.1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noGrp="1"/>
          </p:cNvSpPr>
          <p:nvPr/>
        </p:nvSpPr>
        <p:spPr>
          <a:xfrm>
            <a:off x="49149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noGrp="1"/>
          </p:cNvSpPr>
          <p:nvPr/>
        </p:nvSpPr>
        <p:spPr>
          <a:xfrm>
            <a:off x="508635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noGrp="1"/>
          </p:cNvSpPr>
          <p:nvPr/>
        </p:nvSpPr>
        <p:spPr>
          <a:xfrm>
            <a:off x="50863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MODEL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noGrp="1"/>
          </p:cNvSpPr>
          <p:nvPr/>
        </p:nvSpPr>
        <p:spPr>
          <a:xfrm>
            <a:off x="50863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Qwen2.5-7B · Q4_K_M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noGrp="1"/>
          </p:cNvSpPr>
          <p:nvPr/>
        </p:nvSpPr>
        <p:spPr>
          <a:xfrm>
            <a:off x="706755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noGrp="1"/>
          </p:cNvSpPr>
          <p:nvPr/>
        </p:nvSpPr>
        <p:spPr>
          <a:xfrm>
            <a:off x="7239000" y="196215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noGrp="1"/>
          </p:cNvSpPr>
          <p:nvPr/>
        </p:nvSpPr>
        <p:spPr>
          <a:xfrm>
            <a:off x="723900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THROUGHPUT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noGrp="1"/>
          </p:cNvSpPr>
          <p:nvPr/>
        </p:nvSpPr>
        <p:spPr>
          <a:xfrm>
            <a:off x="723900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88.5 tok/s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noGrp="1"/>
          </p:cNvSpPr>
          <p:nvPr/>
        </p:nvSpPr>
        <p:spPr>
          <a:xfrm>
            <a:off x="92202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noGrp="1"/>
          </p:cNvSpPr>
          <p:nvPr/>
        </p:nvSpPr>
        <p:spPr>
          <a:xfrm>
            <a:off x="9391650" y="196215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noGrp="1"/>
          </p:cNvSpPr>
          <p:nvPr/>
        </p:nvSpPr>
        <p:spPr>
          <a:xfrm>
            <a:off x="93916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SLOTS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noGrp="1"/>
          </p:cNvSpPr>
          <p:nvPr/>
        </p:nvSpPr>
        <p:spPr>
          <a:xfrm>
            <a:off x="93916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32 concurrent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noGrp="1"/>
          </p:cNvSpPr>
          <p:nvPr/>
        </p:nvSpPr>
        <p:spPr>
          <a:xfrm>
            <a:off x="781050" y="331470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XI'AN RUN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noGrp="1"/>
          </p:cNvSpPr>
          <p:nvPr/>
        </p:nvSpPr>
        <p:spPr>
          <a:xfrm>
            <a:off x="7810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4,242 LLM calls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noGrp="1"/>
          </p:cNvSpPr>
          <p:nvPr/>
        </p:nvSpPr>
        <p:spPr>
          <a:xfrm>
            <a:off x="276225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noGrp="1"/>
          </p:cNvSpPr>
          <p:nvPr/>
        </p:nvSpPr>
        <p:spPr>
          <a:xfrm>
            <a:off x="2933700" y="3314700"/>
            <a:ext cx="381000" cy="47625"/>
          </a:xfrm>
          <a:prstGeom prst="rect">
            <a:avLst/>
          </a:prstGeom>
          <a:solidFill>
            <a:srgbClr val="39B982"/>
          </a:solidFill>
          <a:ln w="0">
            <a:solidFill>
              <a:srgbClr val="39B982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noGrp="1"/>
          </p:cNvSpPr>
          <p:nvPr/>
        </p:nvSpPr>
        <p:spPr>
          <a:xfrm>
            <a:off x="293370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DECISION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noGrp="1"/>
          </p:cNvSpPr>
          <p:nvPr/>
        </p:nvSpPr>
        <p:spPr>
          <a:xfrm>
            <a:off x="293370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0.285 s mean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noGrp="1"/>
          </p:cNvSpPr>
          <p:nvPr/>
        </p:nvSpPr>
        <p:spPr>
          <a:xfrm>
            <a:off x="49149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noGrp="1"/>
          </p:cNvSpPr>
          <p:nvPr/>
        </p:nvSpPr>
        <p:spPr>
          <a:xfrm>
            <a:off x="5086350" y="3314700"/>
            <a:ext cx="3810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noGrp="1"/>
          </p:cNvSpPr>
          <p:nvPr/>
        </p:nvSpPr>
        <p:spPr>
          <a:xfrm>
            <a:off x="50863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VALIDITY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noGrp="1"/>
          </p:cNvSpPr>
          <p:nvPr/>
        </p:nvSpPr>
        <p:spPr>
          <a:xfrm>
            <a:off x="50863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 failed / unparseable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noGrp="1"/>
          </p:cNvSpPr>
          <p:nvPr/>
        </p:nvSpPr>
        <p:spPr>
          <a:xfrm>
            <a:off x="706755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noGrp="1"/>
          </p:cNvSpPr>
          <p:nvPr/>
        </p:nvSpPr>
        <p:spPr>
          <a:xfrm>
            <a:off x="7239000" y="3314700"/>
            <a:ext cx="3810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noGrp="1"/>
          </p:cNvSpPr>
          <p:nvPr/>
        </p:nvSpPr>
        <p:spPr>
          <a:xfrm>
            <a:off x="723900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APPLICATION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noGrp="1"/>
          </p:cNvSpPr>
          <p:nvPr/>
        </p:nvSpPr>
        <p:spPr>
          <a:xfrm>
            <a:off x="723900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100% decisions applied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noGrp="1"/>
          </p:cNvSpPr>
          <p:nvPr/>
        </p:nvSpPr>
        <p:spPr>
          <a:xfrm>
            <a:off x="92202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noGrp="1"/>
          </p:cNvSpPr>
          <p:nvPr/>
        </p:nvSpPr>
        <p:spPr>
          <a:xfrm>
            <a:off x="9391650" y="3314700"/>
            <a:ext cx="381000" cy="47625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noGrp="1"/>
          </p:cNvSpPr>
          <p:nvPr/>
        </p:nvSpPr>
        <p:spPr>
          <a:xfrm>
            <a:off x="93916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VRAM CAP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noGrp="1"/>
          </p:cNvSpPr>
          <p:nvPr/>
        </p:nvSpPr>
        <p:spPr>
          <a:xfrm>
            <a:off x="93916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Torch capped at 42%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0515600" cy="990600"/>
          </a:xfrm>
          <a:prstGeom prst="roundRect">
            <a:avLst>
              <a:gd name="adj" fmla="val 11538"/>
            </a:avLst>
          </a:prstGeom>
          <a:solidFill>
            <a:srgbClr val="0D2430"/>
          </a:solidFill>
          <a:ln w="0">
            <a:noFill/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noGrp="1"/>
          </p:cNvSpPr>
          <p:nvPr/>
        </p:nvSpPr>
        <p:spPr>
          <a:xfrm>
            <a:off x="800100" y="48958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OPTIMIZED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noGrp="1"/>
          </p:cNvSpPr>
          <p:nvPr/>
        </p:nvSpPr>
        <p:spPr>
          <a:xfrm>
            <a:off x="1771650" y="4838700"/>
            <a:ext cx="8934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Full GPU offload · quantization · batching · constrained JSON · VRAM partitioning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Measured locally; CPU-vs-ROCm comparison remains a final benchmark gap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>
            <a:extLst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12 / AMD OPTIMIZATION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The stack is tuned for throughput, validity, and shared VRAM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noGrp="1"/>
          </p:cNvSpPr>
          <p:nvPr/>
        </p:nvSpPr>
        <p:spPr>
          <a:xfrm>
            <a:off x="6096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noGrp="1"/>
          </p:cNvSpPr>
          <p:nvPr/>
        </p:nvSpPr>
        <p:spPr>
          <a:xfrm>
            <a:off x="78105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QUANTIZE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noGrp="1"/>
          </p:cNvSpPr>
          <p:nvPr/>
        </p:nvSpPr>
        <p:spPr>
          <a:xfrm>
            <a:off x="7810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Q4_K_M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noGrp="1"/>
          </p:cNvSpPr>
          <p:nvPr/>
        </p:nvSpPr>
        <p:spPr>
          <a:xfrm>
            <a:off x="276225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noGrp="1"/>
          </p:cNvSpPr>
          <p:nvPr/>
        </p:nvSpPr>
        <p:spPr>
          <a:xfrm>
            <a:off x="293370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noGrp="1"/>
          </p:cNvSpPr>
          <p:nvPr/>
        </p:nvSpPr>
        <p:spPr>
          <a:xfrm>
            <a:off x="293370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GPU OFFLOAD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noGrp="1"/>
          </p:cNvSpPr>
          <p:nvPr/>
        </p:nvSpPr>
        <p:spPr>
          <a:xfrm>
            <a:off x="293370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All model layers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noGrp="1"/>
          </p:cNvSpPr>
          <p:nvPr/>
        </p:nvSpPr>
        <p:spPr>
          <a:xfrm>
            <a:off x="49149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noGrp="1"/>
          </p:cNvSpPr>
          <p:nvPr/>
        </p:nvSpPr>
        <p:spPr>
          <a:xfrm>
            <a:off x="508635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noGrp="1"/>
          </p:cNvSpPr>
          <p:nvPr/>
        </p:nvSpPr>
        <p:spPr>
          <a:xfrm>
            <a:off x="50863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SLOTS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noGrp="1"/>
          </p:cNvSpPr>
          <p:nvPr/>
        </p:nvSpPr>
        <p:spPr>
          <a:xfrm>
            <a:off x="50863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32 concurrent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noGrp="1"/>
          </p:cNvSpPr>
          <p:nvPr/>
        </p:nvSpPr>
        <p:spPr>
          <a:xfrm>
            <a:off x="706755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noGrp="1"/>
          </p:cNvSpPr>
          <p:nvPr/>
        </p:nvSpPr>
        <p:spPr>
          <a:xfrm>
            <a:off x="7239000" y="196215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noGrp="1"/>
          </p:cNvSpPr>
          <p:nvPr/>
        </p:nvSpPr>
        <p:spPr>
          <a:xfrm>
            <a:off x="723900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BATCHING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noGrp="1"/>
          </p:cNvSpPr>
          <p:nvPr/>
        </p:nvSpPr>
        <p:spPr>
          <a:xfrm>
            <a:off x="723900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Continuous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noGrp="1"/>
          </p:cNvSpPr>
          <p:nvPr/>
        </p:nvSpPr>
        <p:spPr>
          <a:xfrm>
            <a:off x="92202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noGrp="1"/>
          </p:cNvSpPr>
          <p:nvPr/>
        </p:nvSpPr>
        <p:spPr>
          <a:xfrm>
            <a:off x="9391650" y="196215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noGrp="1"/>
          </p:cNvSpPr>
          <p:nvPr/>
        </p:nvSpPr>
        <p:spPr>
          <a:xfrm>
            <a:off x="93916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JSON VALIDITY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noGrp="1"/>
          </p:cNvSpPr>
          <p:nvPr/>
        </p:nvSpPr>
        <p:spPr>
          <a:xfrm>
            <a:off x="93916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Grammar-constrained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noGrp="1"/>
          </p:cNvSpPr>
          <p:nvPr/>
        </p:nvSpPr>
        <p:spPr>
          <a:xfrm>
            <a:off x="781050" y="331470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VRAM CAP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noGrp="1"/>
          </p:cNvSpPr>
          <p:nvPr/>
        </p:nvSpPr>
        <p:spPr>
          <a:xfrm>
            <a:off x="7810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Torch 42%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noGrp="1"/>
          </p:cNvSpPr>
          <p:nvPr/>
        </p:nvSpPr>
        <p:spPr>
          <a:xfrm>
            <a:off x="276225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noGrp="1"/>
          </p:cNvSpPr>
          <p:nvPr/>
        </p:nvSpPr>
        <p:spPr>
          <a:xfrm>
            <a:off x="2933700" y="3314700"/>
            <a:ext cx="381000" cy="47625"/>
          </a:xfrm>
          <a:prstGeom prst="rect">
            <a:avLst/>
          </a:prstGeom>
          <a:solidFill>
            <a:srgbClr val="39B982"/>
          </a:solidFill>
          <a:ln w="0">
            <a:solidFill>
              <a:srgbClr val="39B982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noGrp="1"/>
          </p:cNvSpPr>
          <p:nvPr/>
        </p:nvSpPr>
        <p:spPr>
          <a:xfrm>
            <a:off x="293370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CONTEXT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noGrp="1"/>
          </p:cNvSpPr>
          <p:nvPr/>
        </p:nvSpPr>
        <p:spPr>
          <a:xfrm>
            <a:off x="293370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Compact memory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noGrp="1"/>
          </p:cNvSpPr>
          <p:nvPr/>
        </p:nvSpPr>
        <p:spPr>
          <a:xfrm>
            <a:off x="49149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noGrp="1"/>
          </p:cNvSpPr>
          <p:nvPr/>
        </p:nvSpPr>
        <p:spPr>
          <a:xfrm>
            <a:off x="5086350" y="3314700"/>
            <a:ext cx="3810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noGrp="1"/>
          </p:cNvSpPr>
          <p:nvPr/>
        </p:nvSpPr>
        <p:spPr>
          <a:xfrm>
            <a:off x="50863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APPLIED RATE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noGrp="1"/>
          </p:cNvSpPr>
          <p:nvPr/>
        </p:nvSpPr>
        <p:spPr>
          <a:xfrm>
            <a:off x="50863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100%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noGrp="1"/>
          </p:cNvSpPr>
          <p:nvPr/>
        </p:nvSpPr>
        <p:spPr>
          <a:xfrm>
            <a:off x="706755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noGrp="1"/>
          </p:cNvSpPr>
          <p:nvPr/>
        </p:nvSpPr>
        <p:spPr>
          <a:xfrm>
            <a:off x="7239000" y="3314700"/>
            <a:ext cx="3810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noGrp="1"/>
          </p:cNvSpPr>
          <p:nvPr/>
        </p:nvSpPr>
        <p:spPr>
          <a:xfrm>
            <a:off x="723900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THROUGHPUT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noGrp="1"/>
          </p:cNvSpPr>
          <p:nvPr/>
        </p:nvSpPr>
        <p:spPr>
          <a:xfrm>
            <a:off x="723900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88.5 tok/s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noGrp="1"/>
          </p:cNvSpPr>
          <p:nvPr/>
        </p:nvSpPr>
        <p:spPr>
          <a:xfrm>
            <a:off x="92202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noGrp="1"/>
          </p:cNvSpPr>
          <p:nvPr/>
        </p:nvSpPr>
        <p:spPr>
          <a:xfrm>
            <a:off x="9391650" y="3314700"/>
            <a:ext cx="381000" cy="47625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noGrp="1"/>
          </p:cNvSpPr>
          <p:nvPr/>
        </p:nvSpPr>
        <p:spPr>
          <a:xfrm>
            <a:off x="93916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MEAN CALL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noGrp="1"/>
          </p:cNvSpPr>
          <p:nvPr/>
        </p:nvSpPr>
        <p:spPr>
          <a:xfrm>
            <a:off x="93916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0.285 s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0515600" cy="990600"/>
          </a:xfrm>
          <a:prstGeom prst="roundRect">
            <a:avLst>
              <a:gd name="adj" fmla="val 11538"/>
            </a:avLst>
          </a:prstGeom>
          <a:solidFill>
            <a:srgbClr val="0D2430"/>
          </a:solidFill>
          <a:ln w="0">
            <a:noFill/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noGrp="1"/>
          </p:cNvSpPr>
          <p:nvPr/>
        </p:nvSpPr>
        <p:spPr>
          <a:xfrm>
            <a:off x="800100" y="48958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WHY IT MATTERS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noGrp="1"/>
          </p:cNvSpPr>
          <p:nvPr/>
        </p:nvSpPr>
        <p:spPr>
          <a:xfrm>
            <a:off x="1771650" y="4838700"/>
            <a:ext cx="8934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Optimization prevents simulator/LLM contention while keeping every leader decision parseable and executable.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Measured on AMD Radeon gfx1100 · 48 GiB · ROCm 7.2.1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31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1818" y="0"/>
            <a:ext cx="8728363" cy="6858000"/>
          </a:xfrm>
          <a:prstGeom prst="rect">
            <a:avLst/>
          </a:prstGeom>
        </p:spPr>
      </p:pic>
      <p:sp>
        <p:nvSpPr>
          <p:cNvPr id="6" name="CodexValidationFixCover">
            <a:extLst>
              <a:ext uri="{FF2B5EF4-FFF2-40B4-BE49-F238E27FC236}">
                <a16:creationId xmlns:a16="http://schemas.microsoft.com/office/drawing/2014/main" id="{76BAE7C9-C893-814D-C0CB-11EED17600FD}"/>
              </a:ext>
            </a:extLst>
          </p:cNvPr>
          <p:cNvSpPr/>
          <p:nvPr/>
        </p:nvSpPr>
        <p:spPr>
          <a:xfrm>
            <a:off x="2603500" y="5461000"/>
            <a:ext cx="6604000" cy="59690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CodexValidationFixBand">
            <a:extLst>
              <a:ext uri="{FF2B5EF4-FFF2-40B4-BE49-F238E27FC236}">
                <a16:creationId xmlns:a16="http://schemas.microsoft.com/office/drawing/2014/main" id="{0675C99A-9937-F0C6-7394-702ED9990E4B}"/>
              </a:ext>
            </a:extLst>
          </p:cNvPr>
          <p:cNvSpPr txBox="1"/>
          <p:nvPr/>
        </p:nvSpPr>
        <p:spPr>
          <a:xfrm>
            <a:off x="6540500" y="5473700"/>
            <a:ext cx="19685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900">
                <a:solidFill>
                  <a:srgbClr val="82AE5E"/>
                </a:solidFill>
                <a:latin typeface="Arial" panose="020B0604020202020204" pitchFamily="34" charset="0"/>
              </a:rPr>
              <a:t>comparison band: 0.8-8 km walking range</a:t>
            </a:r>
            <a:endParaRPr lang="zh-CN" altLang="en-US" sz="900">
              <a:solidFill>
                <a:srgbClr val="82AE5E"/>
              </a:solidFill>
              <a:latin typeface="Arial" panose="020B0604020202020204" pitchFamily="34" charset="0"/>
            </a:endParaRPr>
          </a:p>
        </p:txBody>
      </p:sp>
      <p:sp>
        <p:nvSpPr>
          <p:cNvPr id="8" name="CodexValidationFixCaveat">
            <a:extLst>
              <a:ext uri="{FF2B5EF4-FFF2-40B4-BE49-F238E27FC236}">
                <a16:creationId xmlns:a16="http://schemas.microsoft.com/office/drawing/2014/main" id="{CAFED685-E23F-456C-06EC-F53EFC73D95B}"/>
              </a:ext>
            </a:extLst>
          </p:cNvPr>
          <p:cNvSpPr txBox="1"/>
          <p:nvPr/>
        </p:nvSpPr>
        <p:spPr>
          <a:xfrm>
            <a:off x="2717800" y="5778500"/>
            <a:ext cx="6477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800">
                <a:solidFill>
                  <a:srgbClr val="555555"/>
                </a:solidFill>
                <a:latin typeface="Arial" panose="020B0604020202020204" pitchFamily="34" charset="0"/>
              </a:rPr>
              <a:t>Caveat: GPS data also captures long-range displacement; the model simulates local walking to shelters. Only the short-range regime (0.8-8 km) is directly comparable.</a:t>
            </a:r>
            <a:endParaRPr lang="zh-CN" altLang="en-US" sz="800">
              <a:solidFill>
                <a:srgbClr val="555555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73840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2818"/>
            <a:ext cx="12192000" cy="517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8625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13 / REPRODUCIBLE DEMO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A five-minute proof sequence covers the full 60/40 rubric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457200" cy="5715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noGrp="1"/>
          </p:cNvSpPr>
          <p:nvPr/>
        </p:nvSpPr>
        <p:spPr>
          <a:xfrm>
            <a:off x="800100" y="211455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STEP 1 / APPLICATION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noGrp="1"/>
          </p:cNvSpPr>
          <p:nvPr/>
        </p:nvSpPr>
        <p:spPr>
          <a:xfrm>
            <a:off x="2057400" y="184785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Open the English WebGIS; switch Xi’an to Dynamic simulation.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noGrp="1"/>
          </p:cNvSpPr>
          <p:nvPr/>
        </p:nvSpPr>
        <p:spPr>
          <a:xfrm>
            <a:off x="609600" y="289560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noGrp="1"/>
          </p:cNvSpPr>
          <p:nvPr/>
        </p:nvSpPr>
        <p:spPr>
          <a:xfrm>
            <a:off x="800100" y="3086100"/>
            <a:ext cx="4572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noGrp="1"/>
          </p:cNvSpPr>
          <p:nvPr/>
        </p:nvSpPr>
        <p:spPr>
          <a:xfrm>
            <a:off x="800100" y="331470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STEP 2 / AGENTS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noGrp="1"/>
          </p:cNvSpPr>
          <p:nvPr/>
        </p:nvSpPr>
        <p:spPr>
          <a:xfrm>
            <a:off x="2057400" y="304800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Compare baseline with LLM leadership; play the decision cycle.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noGrp="1"/>
          </p:cNvSpPr>
          <p:nvPr/>
        </p:nvSpPr>
        <p:spPr>
          <a:xfrm>
            <a:off x="800100" y="4286250"/>
            <a:ext cx="4572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STEP 3 / AMD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noGrp="1"/>
          </p:cNvSpPr>
          <p:nvPr/>
        </p:nvSpPr>
        <p:spPr>
          <a:xfrm>
            <a:off x="2057400" y="424815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Show local server/GPU health and validated run metrics.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noGrp="1"/>
          </p:cNvSpPr>
          <p:nvPr/>
        </p:nvSpPr>
        <p:spPr>
          <a:xfrm>
            <a:off x="6038850" y="1695450"/>
            <a:ext cx="5543550" cy="33909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noGrp="1"/>
          </p:cNvSpPr>
          <p:nvPr/>
        </p:nvSpPr>
        <p:spPr>
          <a:xfrm>
            <a:off x="6286500" y="188595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JUDGE PROOF SEQUENCE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noGrp="1"/>
          </p:cNvSpPr>
          <p:nvPr/>
        </p:nvSpPr>
        <p:spPr>
          <a:xfrm>
            <a:off x="6286500" y="23431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9525">
            <a:solidFill>
              <a:srgbClr val="159B96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noGrp="1"/>
          </p:cNvSpPr>
          <p:nvPr/>
        </p:nvSpPr>
        <p:spPr>
          <a:xfrm>
            <a:off x="6286500" y="23431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noGrp="1"/>
          </p:cNvSpPr>
          <p:nvPr/>
        </p:nvSpPr>
        <p:spPr>
          <a:xfrm>
            <a:off x="6819900" y="23431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350 active jurisdiction leaders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noGrp="1"/>
          </p:cNvSpPr>
          <p:nvPr/>
        </p:nvSpPr>
        <p:spPr>
          <a:xfrm>
            <a:off x="6286500" y="28384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9525">
            <a:solidFill>
              <a:srgbClr val="159B96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noGrp="1"/>
          </p:cNvSpPr>
          <p:nvPr/>
        </p:nvSpPr>
        <p:spPr>
          <a:xfrm>
            <a:off x="6286500" y="28384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noGrp="1"/>
          </p:cNvSpPr>
          <p:nvPr/>
        </p:nvSpPr>
        <p:spPr>
          <a:xfrm>
            <a:off x="6819900" y="28384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4,242 tool decisions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noGrp="1"/>
          </p:cNvSpPr>
          <p:nvPr/>
        </p:nvSpPr>
        <p:spPr>
          <a:xfrm>
            <a:off x="6819900" y="33337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0 failed / unparseable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noGrp="1"/>
          </p:cNvSpPr>
          <p:nvPr/>
        </p:nvSpPr>
        <p:spPr>
          <a:xfrm>
            <a:off x="6286500" y="38290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noGrp="1"/>
          </p:cNvSpPr>
          <p:nvPr/>
        </p:nvSpPr>
        <p:spPr>
          <a:xfrm>
            <a:off x="6286500" y="38290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noGrp="1"/>
          </p:cNvSpPr>
          <p:nvPr/>
        </p:nvSpPr>
        <p:spPr>
          <a:xfrm>
            <a:off x="6819900" y="38290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239,835 resident belief updates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noGrp="1"/>
          </p:cNvSpPr>
          <p:nvPr/>
        </p:nvSpPr>
        <p:spPr>
          <a:xfrm>
            <a:off x="6286500" y="43243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noGrp="1"/>
          </p:cNvSpPr>
          <p:nvPr/>
        </p:nvSpPr>
        <p:spPr>
          <a:xfrm>
            <a:off x="6286500" y="43243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noGrp="1"/>
          </p:cNvSpPr>
          <p:nvPr/>
        </p:nvSpPr>
        <p:spPr>
          <a:xfrm>
            <a:off x="6819900" y="43243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100% decisions applied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REPRODUCIBILITY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noGrp="1"/>
          </p:cNvSpPr>
          <p:nvPr/>
        </p:nvSpPr>
        <p:spPr>
          <a:xfrm>
            <a:off x="1866900" y="5486400"/>
            <a:ext cx="9620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Every claim links to a run summary, WebGIS state, or local inference benchmark.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A five-minute demo can cover the entire 60/40 scoring path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14 / CLAIM BOUNDARIES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Strong evidence is clearer when its limits are explicit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457200" cy="5715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noGrp="1"/>
          </p:cNvSpPr>
          <p:nvPr/>
        </p:nvSpPr>
        <p:spPr>
          <a:xfrm>
            <a:off x="800100" y="211455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ESTABLISHED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noGrp="1"/>
          </p:cNvSpPr>
          <p:nvPr/>
        </p:nvSpPr>
        <p:spPr>
          <a:xfrm>
            <a:off x="2057400" y="184785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Agents reason, plan, call tools, use compact memory, and mutate simulator state.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noGrp="1"/>
          </p:cNvSpPr>
          <p:nvPr/>
        </p:nvSpPr>
        <p:spPr>
          <a:xfrm>
            <a:off x="609600" y="289560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noGrp="1"/>
          </p:cNvSpPr>
          <p:nvPr/>
        </p:nvSpPr>
        <p:spPr>
          <a:xfrm>
            <a:off x="800100" y="3086100"/>
            <a:ext cx="4572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noGrp="1"/>
          </p:cNvSpPr>
          <p:nvPr/>
        </p:nvSpPr>
        <p:spPr>
          <a:xfrm>
            <a:off x="800100" y="331470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MEASURED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noGrp="1"/>
          </p:cNvSpPr>
          <p:nvPr/>
        </p:nvSpPr>
        <p:spPr>
          <a:xfrm>
            <a:off x="2057400" y="304800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Local Radeon/ROCm runs provide latency, throughput, validity, and application metrics.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noGrp="1"/>
          </p:cNvSpPr>
          <p:nvPr/>
        </p:nvSpPr>
        <p:spPr>
          <a:xfrm>
            <a:off x="800100" y="4286250"/>
            <a:ext cx="4572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NOT CLAIMED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noGrp="1"/>
          </p:cNvSpPr>
          <p:nvPr/>
        </p:nvSpPr>
        <p:spPr>
          <a:xfrm>
            <a:off x="2057400" y="424815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Leadership always improves outcomes, official capacities, or causal significance from one seed.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noGrp="1"/>
          </p:cNvSpPr>
          <p:nvPr/>
        </p:nvSpPr>
        <p:spPr>
          <a:xfrm>
            <a:off x="6038850" y="1695450"/>
            <a:ext cx="5543550" cy="33909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noGrp="1"/>
          </p:cNvSpPr>
          <p:nvPr/>
        </p:nvSpPr>
        <p:spPr>
          <a:xfrm>
            <a:off x="6286500" y="188595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NEXT EVIDENCE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noGrp="1"/>
          </p:cNvSpPr>
          <p:nvPr/>
        </p:nvSpPr>
        <p:spPr>
          <a:xfrm>
            <a:off x="6286500" y="23431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9525">
            <a:solidFill>
              <a:srgbClr val="159B96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noGrp="1"/>
          </p:cNvSpPr>
          <p:nvPr/>
        </p:nvSpPr>
        <p:spPr>
          <a:xfrm>
            <a:off x="6286500" y="23431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noGrp="1"/>
          </p:cNvSpPr>
          <p:nvPr/>
        </p:nvSpPr>
        <p:spPr>
          <a:xfrm>
            <a:off x="6819900" y="23431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CPU-vs-ROCm same-model baseline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noGrp="1"/>
          </p:cNvSpPr>
          <p:nvPr/>
        </p:nvSpPr>
        <p:spPr>
          <a:xfrm>
            <a:off x="6286500" y="28384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9525">
            <a:solidFill>
              <a:srgbClr val="159B96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noGrp="1"/>
          </p:cNvSpPr>
          <p:nvPr/>
        </p:nvSpPr>
        <p:spPr>
          <a:xfrm>
            <a:off x="6286500" y="28384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noGrp="1"/>
          </p:cNvSpPr>
          <p:nvPr/>
        </p:nvSpPr>
        <p:spPr>
          <a:xfrm>
            <a:off x="6819900" y="28384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Repeated benchmark capture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noGrp="1"/>
          </p:cNvSpPr>
          <p:nvPr/>
        </p:nvSpPr>
        <p:spPr>
          <a:xfrm>
            <a:off x="6819900" y="33337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Multiple random seeds and confidence intervals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noGrp="1"/>
          </p:cNvSpPr>
          <p:nvPr/>
        </p:nvSpPr>
        <p:spPr>
          <a:xfrm>
            <a:off x="6286500" y="38290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noGrp="1"/>
          </p:cNvSpPr>
          <p:nvPr/>
        </p:nvSpPr>
        <p:spPr>
          <a:xfrm>
            <a:off x="6286500" y="38290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noGrp="1"/>
          </p:cNvSpPr>
          <p:nvPr/>
        </p:nvSpPr>
        <p:spPr>
          <a:xfrm>
            <a:off x="6819900" y="38290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Official shelter capacity and damaged roads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noGrp="1"/>
          </p:cNvSpPr>
          <p:nvPr/>
        </p:nvSpPr>
        <p:spPr>
          <a:xfrm>
            <a:off x="6286500" y="43243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noGrp="1"/>
          </p:cNvSpPr>
          <p:nvPr/>
        </p:nvSpPr>
        <p:spPr>
          <a:xfrm>
            <a:off x="6286500" y="43243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noGrp="1"/>
          </p:cNvSpPr>
          <p:nvPr/>
        </p:nvSpPr>
        <p:spPr>
          <a:xfrm>
            <a:off x="6819900" y="43243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Parameter calibration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WHY THIS HELPS THE SCORE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noGrp="1"/>
          </p:cNvSpPr>
          <p:nvPr/>
        </p:nvSpPr>
        <p:spPr>
          <a:xfrm>
            <a:off x="1866900" y="5486400"/>
            <a:ext cx="9620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Clear boundaries make the working Agentic AI evidence more credible.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Separate demonstrated capability from the next validation milestone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15 / FINAL SCORECARD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Score the evidence—not the promise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457200" cy="5715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noGrp="1"/>
          </p:cNvSpPr>
          <p:nvPr/>
        </p:nvSpPr>
        <p:spPr>
          <a:xfrm>
            <a:off x="800100" y="211455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FUNCTIONAL / 60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noGrp="1"/>
          </p:cNvSpPr>
          <p:nvPr/>
        </p:nvSpPr>
        <p:spPr>
          <a:xfrm>
            <a:off x="2057400" y="184785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Working ten-city pipeline, agent execution, English WebGIS, playback, and scenario comparison.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noGrp="1"/>
          </p:cNvSpPr>
          <p:nvPr/>
        </p:nvSpPr>
        <p:spPr>
          <a:xfrm>
            <a:off x="609600" y="289560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noGrp="1"/>
          </p:cNvSpPr>
          <p:nvPr/>
        </p:nvSpPr>
        <p:spPr>
          <a:xfrm>
            <a:off x="800100" y="3086100"/>
            <a:ext cx="4572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noGrp="1"/>
          </p:cNvSpPr>
          <p:nvPr/>
        </p:nvSpPr>
        <p:spPr>
          <a:xfrm>
            <a:off x="800100" y="331470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INNOVATION + UX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noGrp="1"/>
          </p:cNvSpPr>
          <p:nvPr/>
        </p:nvSpPr>
        <p:spPr>
          <a:xfrm>
            <a:off x="2057400" y="304800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City-scale leader–resident coordination with inspectable road, capacity, and information mechanisms.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noGrp="1"/>
          </p:cNvSpPr>
          <p:nvPr/>
        </p:nvSpPr>
        <p:spPr>
          <a:xfrm>
            <a:off x="800100" y="4286250"/>
            <a:ext cx="4572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AMD + ROCM / 40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noGrp="1"/>
          </p:cNvSpPr>
          <p:nvPr/>
        </p:nvSpPr>
        <p:spPr>
          <a:xfrm>
            <a:off x="2057400" y="424815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Real local Radeon inference is verified with concurrency, validity, throughput, and VRAM evidence.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noGrp="1"/>
          </p:cNvSpPr>
          <p:nvPr/>
        </p:nvSpPr>
        <p:spPr>
          <a:xfrm>
            <a:off x="6038850" y="1695450"/>
            <a:ext cx="5543550" cy="33909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noGrp="1"/>
          </p:cNvSpPr>
          <p:nvPr/>
        </p:nvSpPr>
        <p:spPr>
          <a:xfrm>
            <a:off x="6286500" y="188595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LIVE DEMO ORDER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noGrp="1"/>
          </p:cNvSpPr>
          <p:nvPr/>
        </p:nvSpPr>
        <p:spPr>
          <a:xfrm>
            <a:off x="6286500" y="23431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9525">
            <a:solidFill>
              <a:srgbClr val="159B96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noGrp="1"/>
          </p:cNvSpPr>
          <p:nvPr/>
        </p:nvSpPr>
        <p:spPr>
          <a:xfrm>
            <a:off x="6286500" y="23431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noGrp="1"/>
          </p:cNvSpPr>
          <p:nvPr/>
        </p:nvSpPr>
        <p:spPr>
          <a:xfrm>
            <a:off x="6819900" y="23431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Open the English ten-city WebGIS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noGrp="1"/>
          </p:cNvSpPr>
          <p:nvPr/>
        </p:nvSpPr>
        <p:spPr>
          <a:xfrm>
            <a:off x="6286500" y="28384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9525">
            <a:solidFill>
              <a:srgbClr val="159B96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noGrp="1"/>
          </p:cNvSpPr>
          <p:nvPr/>
        </p:nvSpPr>
        <p:spPr>
          <a:xfrm>
            <a:off x="6286500" y="28384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noGrp="1"/>
          </p:cNvSpPr>
          <p:nvPr/>
        </p:nvSpPr>
        <p:spPr>
          <a:xfrm>
            <a:off x="6819900" y="28384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Show road tiers and the model adjacency network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noGrp="1"/>
          </p:cNvSpPr>
          <p:nvPr/>
        </p:nvSpPr>
        <p:spPr>
          <a:xfrm>
            <a:off x="6819900" y="33337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Run baseline vs LLM playback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noGrp="1"/>
          </p:cNvSpPr>
          <p:nvPr/>
        </p:nvSpPr>
        <p:spPr>
          <a:xfrm>
            <a:off x="6286500" y="38290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noGrp="1"/>
          </p:cNvSpPr>
          <p:nvPr/>
        </p:nvSpPr>
        <p:spPr>
          <a:xfrm>
            <a:off x="6286500" y="38290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noGrp="1"/>
          </p:cNvSpPr>
          <p:nvPr/>
        </p:nvSpPr>
        <p:spPr>
          <a:xfrm>
            <a:off x="6819900" y="38290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Show the local LLM health / GPU monitor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noGrp="1"/>
          </p:cNvSpPr>
          <p:nvPr/>
        </p:nvSpPr>
        <p:spPr>
          <a:xfrm>
            <a:off x="6286500" y="43243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noGrp="1"/>
          </p:cNvSpPr>
          <p:nvPr/>
        </p:nvSpPr>
        <p:spPr>
          <a:xfrm>
            <a:off x="6286500" y="43243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noGrp="1"/>
          </p:cNvSpPr>
          <p:nvPr/>
        </p:nvSpPr>
        <p:spPr>
          <a:xfrm>
            <a:off x="6819900" y="43243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Open Xi’an metrics: 4,242 calls, 0 failures, 100% applied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SUBMISSION CLAIM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noGrp="1"/>
          </p:cNvSpPr>
          <p:nvPr/>
        </p:nvSpPr>
        <p:spPr>
          <a:xfrm>
            <a:off x="1866900" y="5486400"/>
            <a:ext cx="9620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QuakeSense is a functional Agentic AI system whose local LLM decisions execute inside a city-scale emergency simulation on AMD Radeon + ROCm.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Show working agents, Radeon evidence, and measurable application value—without overstating causality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2801</Words>
  <Application>Microsoft Office PowerPoint</Application>
  <DocSecurity>0</DocSecurity>
  <PresentationFormat>宽屏</PresentationFormat>
  <Paragraphs>458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4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chunlin bian</cp:lastModifiedBy>
  <cp:revision>4</cp:revision>
  <dcterms:created xsi:type="dcterms:W3CDTF">2026-08-05T13:30:49Z</dcterms:created>
  <dcterms:modified xsi:type="dcterms:W3CDTF">2026-08-05T13:42:26Z</dcterms:modified>
</cp:coreProperties>
</file>