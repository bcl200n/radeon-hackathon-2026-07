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84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Public-safe title evidence: Noto, Japan full-population evacuation run.</a:t>
            </a:r>
          </a:p>
          <a:p>
            <a:endParaRPr/>
          </a:p>
          <a:p>
            <a:r>
              <a:t>[Sources]</a:t>
            </a:r>
          </a:p>
          <a:p>
            <a:r>
              <a:t>- QuakeSense results_bigsim/noto_k000/summary.json and frames.npz (measured run)</a:t>
            </a:r>
          </a:p>
          <a:p>
            <a:r>
              <a:t>- WorldPop gridded population data: https://www.worldpop.org/</a:t>
            </a:r>
          </a:p>
          <a:p>
            <a:r>
              <a:t>- OpenStreetMap road network data: https://www.openstreetmap.org/copyright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Repeat the one-sentence system context before walking through the score map. Slides 3–11 answer the 60-point block; slides 12–13 answer the 40-point AMD/ROCm block.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closed loop from real inputs to agent reasoning, validated tool execution, simulator state change, and an inspectable product.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the ten-minute scheduler: observe, reason, plan, validate, execute, update memory, and replan.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Physical access is diagnosed before behavioral interpretation, preventing the AI story from hiding road-network constraints.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early outcomes to show that leadership materially changes the trajectory, while keeping claims descriptive.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Leadership is a mechanism, not a guaranteed improvement. Long-run outcomes can reverse because capacity and road constraints persist.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Highlight innovation as a transferable leader–resident mechanism that exposes different city response profiles.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Fire-stick scenes explain model roles and local interactions. They are conceptual mechanism diagrams, not observed people or a city-specific replay.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Equations correspond to implemented assumptions and state updates.</a:t>
            </a:r>
          </a:p>
          <a:p>
            <a:r>
              <a:t>Departure parameters shown are from the Kumamoto scenario configuration.</a:t>
            </a:r>
          </a:p>
          <a:p>
            <a:r>
              <a:t>Specific flow uses 1.3 persons per metre per second.</a:t>
            </a:r>
          </a:p>
          <a:p>
            <a:r>
              <a:t>Destination rule is nearest open shelter with remaining capacity on the road graph.</a:t>
            </a:r>
          </a:p>
          <a:p>
            <a:r>
              <a:t>All reported runs check population conservation.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Angeles animated evacuation process from archived simulation outputs.</a:t>
            </a:r>
          </a:p>
          <a:p>
            <a:r>
              <a:t>Source: results_bigsim/los_angeles_k000.</a:t>
            </a:r>
          </a:p>
          <a:p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Naples animated evacuation process from archived simulation outputs.</a:t>
            </a:r>
          </a:p>
          <a:p>
            <a:r>
              <a:t>Source: results_bigsim/naples_k000.</a:t>
            </a:r>
          </a:p>
          <a:p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Wellington animated evacuation process from archived simulation outputs.</a:t>
            </a:r>
          </a:p>
          <a:p>
            <a:r>
              <a:t>Source: results_bigsim/wellington_k000.</a:t>
            </a:r>
          </a:p>
          <a:p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L'Aquila animated evacuation process from archived simulation outputs.</a:t>
            </a:r>
          </a:p>
          <a:p>
            <a:r>
              <a:t>Source: results_bigsim/l_aquila_k000.</a:t>
            </a:r>
          </a:p>
          <a:p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Noto animated evacuation process from archived simulation outputs.</a:t>
            </a:r>
          </a:p>
          <a:p>
            <a:r>
              <a:t>Source: results_bigsim/noto_k000.</a:t>
            </a:r>
          </a:p>
          <a:p>
            <a:r>
              <a:t>Synthetic scenario; not an observed evacuation and not an official emergency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 measured local Radeon evidence: GPU identity, ROCm version, model, concurrency, throughput, latency, validity, and application rate.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/workspace/persistence/codex/project/results_current/measured city_llm000/summary.json</a:t>
            </a:r>
          </a:p>
          <a:p>
            <a:r>
              <a:t>- /workspace/persistence/codex/project/results_current/measured city_llm000.log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Connect each optimization to a practical failure mode: latency, simulator contention, malformed tool calls, or excessive memory.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/workspace/persistence/codex/project/results_current/measured city_llm000/summary.json</a:t>
            </a:r>
          </a:p>
          <a:p>
            <a:r>
              <a:t>- /workspace/persistence/codex/project/hackathon/QuakeSense_AI_Project_Specification.md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boundaries before judges ask. This separates working capability from the next scientific validation milestone.</a:t>
            </a:r>
          </a:p>
          <a:p>
            <a:endParaRPr/>
          </a:p>
          <a:p>
            <a:r>
              <a:t>[Sources]</a:t>
            </a:r>
          </a:p>
          <a:p>
            <a:r>
              <a:t>- /workspace/persistence/codex/project/README.md</a:t>
            </a:r>
          </a:p>
          <a:p>
            <a:r>
              <a:t>- /workspace/persistence/codex/project/results_current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in rubric order: 60-point product and value evidence, then 40-point Radeon and ROCm evidence.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AMD Track 2: Agentic AI judging criteria</a:t>
            </a:r>
          </a:p>
          <a:p>
            <a:r>
              <a:t>- /workspace/persistence/codex/project/README.md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significance: scalable cross-city counterfactuals, privacy-preserving synthetic trajectories, auditable coordination mechanisms, and honest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Acknowledgment: AMD provided cloud computing resources supporting project execution. AMD does not endorse the research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1714500"/>
            <a:ext cx="6096000" cy="3429000"/>
          </a:xfrm>
          <a:prstGeom prst="round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16FDF4D-6496-4AB9-8FB2-1B5BB7845F41}"/>
              </a:ext>
            </a:extLst>
          </p:cNvPr>
          <p:cNvSpPr>
            <a:spLocks noGrp="1"/>
          </p:cNvSpPr>
          <p:nvPr/>
        </p:nvSpPr>
        <p:spPr>
          <a:xfrm>
            <a:off x="5810250" y="0"/>
            <a:ext cx="1143000" cy="6858000"/>
          </a:xfrm>
          <a:prstGeom prst="rect">
            <a:avLst/>
          </a:prstGeom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855B9-E471-4690-84FD-1B9AC80DE785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AMD TRACK 2 / AGENTIC AI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0E1A7B7-C717-4B28-9DE0-965433FDFB36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49530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When Does Leadership Matter?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E2B581-52DA-4533-B262-AAD27241163D}"/>
              </a:ext>
            </a:extLst>
          </p:cNvPr>
          <p:cNvSpPr>
            <a:spLocks noGrp="1"/>
          </p:cNvSpPr>
          <p:nvPr/>
        </p:nvSpPr>
        <p:spPr>
          <a:xfrm>
            <a:off x="609600" y="3009900"/>
            <a:ext cx="15621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C32269-7FEC-4451-840B-9DE2FB51AE90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495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We developed QuakeSense—an LLM-driven Agentic AI system for emergency evacuation simulation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965917-C37C-4F3E-9FA2-8737A08DAB9B}"/>
              </a:ext>
            </a:extLst>
          </p:cNvPr>
          <p:cNvSpPr>
            <a:spLocks noGrp="1"/>
          </p:cNvSpPr>
          <p:nvPr/>
        </p:nvSpPr>
        <p:spPr>
          <a:xfrm>
            <a:off x="609600" y="4152900"/>
            <a:ext cx="4762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0">
                <a:solidFill>
                  <a:srgbClr val="A7BAC2"/>
                </a:solidFill>
              </a:defRPr>
            </a:pPr>
            <a:r>
              <a:rPr sz="1425" b="0">
                <a:solidFill>
                  <a:srgbClr val="A7BAC2"/>
                </a:solidFill>
              </a:rPr>
              <a:t>Local LLM leaders reason, plan, use tools, and coordinate resident agents across real city networks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68BC8F9-B4A6-4CCF-BCEA-3212A3D50377}"/>
              </a:ext>
            </a:extLst>
          </p:cNvPr>
          <p:cNvSpPr>
            <a:spLocks noGrp="1"/>
          </p:cNvSpPr>
          <p:nvPr/>
        </p:nvSpPr>
        <p:spPr>
          <a:xfrm>
            <a:off x="609600" y="54483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A7BAC2"/>
                </a:solidFill>
              </a:defRPr>
            </a:pPr>
            <a:r>
              <a:rPr sz="1125" b="0">
                <a:solidFill>
                  <a:srgbClr val="A7BAC2"/>
                </a:solidFill>
              </a:rPr>
              <a:t>Seven overseas cities · AMD Radeon + ROCm · inspectable evidence</a:t>
            </a:r>
          </a:p>
        </p:txBody>
      </p:sp>
    </p:spTree>
    <p:extLst>
      <p:ext uri="{BB962C8B-B14F-4D97-AF65-F5344CB8AC3E}">
        <p14:creationId xmlns:p14="http://schemas.microsoft.com/office/powerpoint/2010/main" val="1725178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01 / JUDGING RUBRIC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Every scoring item has a visible proof point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4953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60 POINTS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noGrp="1"/>
          </p:cNvSpPr>
          <p:nvPr/>
        </p:nvSpPr>
        <p:spPr>
          <a:xfrm>
            <a:off x="8191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Functional completeness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noGrp="1"/>
          </p:cNvSpPr>
          <p:nvPr/>
        </p:nvSpPr>
        <p:spPr>
          <a:xfrm>
            <a:off x="8191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Data → agent decisions → simulation → English WebGIS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noGrp="1"/>
          </p:cNvSpPr>
          <p:nvPr/>
        </p:nvSpPr>
        <p:spPr>
          <a:xfrm>
            <a:off x="29718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noGrp="1"/>
          </p:cNvSpPr>
          <p:nvPr/>
        </p:nvSpPr>
        <p:spPr>
          <a:xfrm>
            <a:off x="3543300" y="2038350"/>
            <a:ext cx="4953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noGrp="1"/>
          </p:cNvSpPr>
          <p:nvPr/>
        </p:nvSpPr>
        <p:spPr>
          <a:xfrm>
            <a:off x="35433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WITHIN 60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noGrp="1"/>
          </p:cNvSpPr>
          <p:nvPr/>
        </p:nvSpPr>
        <p:spPr>
          <a:xfrm>
            <a:off x="35433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Scenario innovation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noGrp="1"/>
          </p:cNvSpPr>
          <p:nvPr/>
        </p:nvSpPr>
        <p:spPr>
          <a:xfrm>
            <a:off x="35433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Local AI leaders coordinate millions of resident agents under disaster constraints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noGrp="1"/>
          </p:cNvSpPr>
          <p:nvPr/>
        </p:nvSpPr>
        <p:spPr>
          <a:xfrm>
            <a:off x="569595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noGrp="1"/>
          </p:cNvSpPr>
          <p:nvPr/>
        </p:nvSpPr>
        <p:spPr>
          <a:xfrm>
            <a:off x="60579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noGrp="1"/>
          </p:cNvSpPr>
          <p:nvPr/>
        </p:nvSpPr>
        <p:spPr>
          <a:xfrm>
            <a:off x="6267450" y="2038350"/>
            <a:ext cx="4953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noGrp="1"/>
          </p:cNvSpPr>
          <p:nvPr/>
        </p:nvSpPr>
        <p:spPr>
          <a:xfrm>
            <a:off x="62674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WITHIN 60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noGrp="1"/>
          </p:cNvSpPr>
          <p:nvPr/>
        </p:nvSpPr>
        <p:spPr>
          <a:xfrm>
            <a:off x="62674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User experience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Overseas-city comparison, road tiers, playback, and scenario analysis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noGrp="1"/>
          </p:cNvSpPr>
          <p:nvPr/>
        </p:nvSpPr>
        <p:spPr>
          <a:xfrm>
            <a:off x="84201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noGrp="1"/>
          </p:cNvSpPr>
          <p:nvPr/>
        </p:nvSpPr>
        <p:spPr>
          <a:xfrm>
            <a:off x="87820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noGrp="1"/>
          </p:cNvSpPr>
          <p:nvPr/>
        </p:nvSpPr>
        <p:spPr>
          <a:xfrm>
            <a:off x="8991600" y="2038350"/>
            <a:ext cx="4953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noGrp="1"/>
          </p:cNvSpPr>
          <p:nvPr/>
        </p:nvSpPr>
        <p:spPr>
          <a:xfrm>
            <a:off x="89916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40 POINTS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noGrp="1"/>
          </p:cNvSpPr>
          <p:nvPr/>
        </p:nvSpPr>
        <p:spPr>
          <a:xfrm>
            <a:off x="89916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AMD Radeon + ROCm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noGrp="1"/>
          </p:cNvSpPr>
          <p:nvPr/>
        </p:nvSpPr>
        <p:spPr>
          <a:xfrm>
            <a:off x="89916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Real local inference, measured runs, and memory/concurrency optimization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10515600" cy="781050"/>
          </a:xfrm>
          <a:prstGeom prst="roundRect">
            <a:avLst>
              <a:gd name="adj" fmla="val 14634"/>
            </a:avLst>
          </a:prstGeom>
          <a:solidFill>
            <a:srgbClr val="0D243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SYSTEM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noGrp="1"/>
          </p:cNvSpPr>
          <p:nvPr/>
        </p:nvSpPr>
        <p:spPr>
          <a:xfrm>
            <a:off x="1543050" y="5143500"/>
            <a:ext cx="923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We developed QuakeSense to connect LLM leaders, resident agents, evacuation simulation, and an inspectable WebGIS in one executable system.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With the system defined, the deck follows the 60/40 rubric directly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715EEEE9-10F8-4009-A51F-61CD713B610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02 / FUNCTIONAL COMPLETENESS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5D21FE-09D0-4649-9A37-BB340EF12EB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QuakeSense closes the full problem-solving loop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1FEC99-33CA-40CA-8103-38F0C82C150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E3B3CC-6493-429D-A054-C272E56D75A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47D80BA-C383-4290-8B89-951A9153D02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B51793-0232-4A33-8B0F-C668B9DDABE1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4953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566543-2A63-46CE-98E8-D1D20C1500B3}"/>
              </a:ext>
            </a:extLst>
          </p:cNvPr>
          <p:cNvSpPr>
            <a:spLocks noGrp="1"/>
          </p:cNvSpPr>
          <p:nvPr/>
        </p:nvSpPr>
        <p:spPr>
          <a:xfrm>
            <a:off x="8191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58A6D6"/>
                </a:solidFill>
              </a:defRPr>
            </a:pPr>
            <a:r>
              <a:rPr sz="975" b="1">
                <a:solidFill>
                  <a:srgbClr val="58A6D6"/>
                </a:solidFill>
              </a:rPr>
              <a:t>INPUTS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74D233-1194-43AA-BE5C-6DDDAA01D07D}"/>
              </a:ext>
            </a:extLst>
          </p:cNvPr>
          <p:cNvSpPr>
            <a:spLocks noGrp="1"/>
          </p:cNvSpPr>
          <p:nvPr/>
        </p:nvSpPr>
        <p:spPr>
          <a:xfrm>
            <a:off x="8191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Real city state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2FB86DB-3658-4B26-8E88-BA24F49EF015}"/>
              </a:ext>
            </a:extLst>
          </p:cNvPr>
          <p:cNvSpPr>
            <a:spLocks noGrp="1"/>
          </p:cNvSpPr>
          <p:nvPr/>
        </p:nvSpPr>
        <p:spPr>
          <a:xfrm>
            <a:off x="8191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Population, roads, terrain, shelters, and capacity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DD8178-4A09-44D6-964B-6B1690268A74}"/>
              </a:ext>
            </a:extLst>
          </p:cNvPr>
          <p:cNvSpPr>
            <a:spLocks noGrp="1"/>
          </p:cNvSpPr>
          <p:nvPr/>
        </p:nvSpPr>
        <p:spPr>
          <a:xfrm>
            <a:off x="29718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33ADCA9-43AD-441C-9233-8EAC55476C41}"/>
              </a:ext>
            </a:extLst>
          </p:cNvPr>
          <p:cNvSpPr>
            <a:spLocks noGrp="1"/>
          </p:cNvSpPr>
          <p:nvPr/>
        </p:nvSpPr>
        <p:spPr>
          <a:xfrm>
            <a:off x="33337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CAD0E0-A660-4D19-A11F-41E6FD686560}"/>
              </a:ext>
            </a:extLst>
          </p:cNvPr>
          <p:cNvSpPr>
            <a:spLocks noGrp="1"/>
          </p:cNvSpPr>
          <p:nvPr/>
        </p:nvSpPr>
        <p:spPr>
          <a:xfrm>
            <a:off x="3543300" y="2038350"/>
            <a:ext cx="4953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E1A6ACE-68C9-48F5-9575-4963BFD3BBE9}"/>
              </a:ext>
            </a:extLst>
          </p:cNvPr>
          <p:cNvSpPr>
            <a:spLocks noGrp="1"/>
          </p:cNvSpPr>
          <p:nvPr/>
        </p:nvSpPr>
        <p:spPr>
          <a:xfrm>
            <a:off x="35433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AGENTS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6A0EA6B-3B5B-49B8-B58D-80442C1276E0}"/>
              </a:ext>
            </a:extLst>
          </p:cNvPr>
          <p:cNvSpPr>
            <a:spLocks noGrp="1"/>
          </p:cNvSpPr>
          <p:nvPr/>
        </p:nvSpPr>
        <p:spPr>
          <a:xfrm>
            <a:off x="35433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Reason and plan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4D43D3E-A1BE-457A-B533-0604B61038C6}"/>
              </a:ext>
            </a:extLst>
          </p:cNvPr>
          <p:cNvSpPr>
            <a:spLocks noGrp="1"/>
          </p:cNvSpPr>
          <p:nvPr/>
        </p:nvSpPr>
        <p:spPr>
          <a:xfrm>
            <a:off x="35433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Leaders observe local briefs; residents maintain beliefs and routes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C022212-6DB8-4C82-A0FB-EED9E1772E12}"/>
              </a:ext>
            </a:extLst>
          </p:cNvPr>
          <p:cNvSpPr>
            <a:spLocks noGrp="1"/>
          </p:cNvSpPr>
          <p:nvPr/>
        </p:nvSpPr>
        <p:spPr>
          <a:xfrm>
            <a:off x="569595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9121BC8-9668-4018-A1F5-E23E99541429}"/>
              </a:ext>
            </a:extLst>
          </p:cNvPr>
          <p:cNvSpPr>
            <a:spLocks noGrp="1"/>
          </p:cNvSpPr>
          <p:nvPr/>
        </p:nvSpPr>
        <p:spPr>
          <a:xfrm>
            <a:off x="605790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4ED646-E899-4D25-87B3-59F68FD4B8CB}"/>
              </a:ext>
            </a:extLst>
          </p:cNvPr>
          <p:cNvSpPr>
            <a:spLocks noGrp="1"/>
          </p:cNvSpPr>
          <p:nvPr/>
        </p:nvSpPr>
        <p:spPr>
          <a:xfrm>
            <a:off x="6267450" y="2038350"/>
            <a:ext cx="4953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830E31-2CB8-4F4D-B78B-28B85FAFB737}"/>
              </a:ext>
            </a:extLst>
          </p:cNvPr>
          <p:cNvSpPr>
            <a:spLocks noGrp="1"/>
          </p:cNvSpPr>
          <p:nvPr/>
        </p:nvSpPr>
        <p:spPr>
          <a:xfrm>
            <a:off x="626745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4CA64"/>
                </a:solidFill>
              </a:defRPr>
            </a:pPr>
            <a:r>
              <a:rPr sz="975" b="1">
                <a:solidFill>
                  <a:srgbClr val="F4CA64"/>
                </a:solidFill>
              </a:rPr>
              <a:t>EXECUTION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BD393A-6B4C-4281-8028-5B658AACF364}"/>
              </a:ext>
            </a:extLst>
          </p:cNvPr>
          <p:cNvSpPr>
            <a:spLocks noGrp="1"/>
          </p:cNvSpPr>
          <p:nvPr/>
        </p:nvSpPr>
        <p:spPr>
          <a:xfrm>
            <a:off x="626745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Tools change state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8716855-6F85-49DB-9911-9B22D66A64B0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Validated broadcasts update knowledge, movement, and allocation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69534E-4206-497F-A0F8-3D71C76DD752}"/>
              </a:ext>
            </a:extLst>
          </p:cNvPr>
          <p:cNvSpPr>
            <a:spLocks noGrp="1"/>
          </p:cNvSpPr>
          <p:nvPr/>
        </p:nvSpPr>
        <p:spPr>
          <a:xfrm>
            <a:off x="8420100" y="3019425"/>
            <a:ext cx="361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100" b="1">
                <a:solidFill>
                  <a:srgbClr val="159B96"/>
                </a:solidFill>
              </a:defRPr>
            </a:pPr>
            <a:r>
              <a:rPr sz="2100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23B91B1-C06F-4351-BE40-FCDD6D6EC413}"/>
              </a:ext>
            </a:extLst>
          </p:cNvPr>
          <p:cNvSpPr>
            <a:spLocks noGrp="1"/>
          </p:cNvSpPr>
          <p:nvPr/>
        </p:nvSpPr>
        <p:spPr>
          <a:xfrm>
            <a:off x="8782050" y="1809750"/>
            <a:ext cx="2343150" cy="2971800"/>
          </a:xfrm>
          <a:prstGeom prst="roundRect">
            <a:avLst>
              <a:gd name="adj" fmla="val 6504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BE7235-46F7-4F08-88B1-DBA9E3455222}"/>
              </a:ext>
            </a:extLst>
          </p:cNvPr>
          <p:cNvSpPr>
            <a:spLocks noGrp="1"/>
          </p:cNvSpPr>
          <p:nvPr/>
        </p:nvSpPr>
        <p:spPr>
          <a:xfrm>
            <a:off x="8991600" y="2038350"/>
            <a:ext cx="4953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0A22BC0-9535-474F-AC75-1C1D44AB8899}"/>
              </a:ext>
            </a:extLst>
          </p:cNvPr>
          <p:cNvSpPr>
            <a:spLocks noGrp="1"/>
          </p:cNvSpPr>
          <p:nvPr/>
        </p:nvSpPr>
        <p:spPr>
          <a:xfrm>
            <a:off x="8991600" y="22860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2766B"/>
                </a:solidFill>
              </a:defRPr>
            </a:pPr>
            <a:r>
              <a:rPr sz="975" b="1">
                <a:solidFill>
                  <a:srgbClr val="F2766B"/>
                </a:solidFill>
              </a:rPr>
              <a:t>PRODUCT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B0BE01F-0C8F-4170-8A08-EA280EE0B624}"/>
              </a:ext>
            </a:extLst>
          </p:cNvPr>
          <p:cNvSpPr>
            <a:spLocks noGrp="1"/>
          </p:cNvSpPr>
          <p:nvPr/>
        </p:nvSpPr>
        <p:spPr>
          <a:xfrm>
            <a:off x="8991600" y="2743200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Inspectable WebGIS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B5E6150-1F49-4E8E-9F78-7A8CFA06A8E1}"/>
              </a:ext>
            </a:extLst>
          </p:cNvPr>
          <p:cNvSpPr>
            <a:spLocks noGrp="1"/>
          </p:cNvSpPr>
          <p:nvPr/>
        </p:nvSpPr>
        <p:spPr>
          <a:xfrm>
            <a:off x="8991600" y="3352800"/>
            <a:ext cx="19240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Baseline/LLM comparison, layers, playback, and metrics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1656941-0346-40C9-A4D1-75BA5F15914F}"/>
              </a:ext>
            </a:extLst>
          </p:cNvPr>
          <p:cNvSpPr>
            <a:spLocks noGrp="1"/>
          </p:cNvSpPr>
          <p:nvPr/>
        </p:nvSpPr>
        <p:spPr>
          <a:xfrm>
            <a:off x="609600" y="5048250"/>
            <a:ext cx="10515600" cy="781050"/>
          </a:xfrm>
          <a:prstGeom prst="roundRect">
            <a:avLst>
              <a:gd name="adj" fmla="val 14634"/>
            </a:avLst>
          </a:prstGeom>
          <a:solidFill>
            <a:srgbClr val="0D243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A349B54-369A-4B1D-B9B3-C9B7DBB7ECDD}"/>
              </a:ext>
            </a:extLst>
          </p:cNvPr>
          <p:cNvSpPr>
            <a:spLocks noGrp="1"/>
          </p:cNvSpPr>
          <p:nvPr/>
        </p:nvSpPr>
        <p:spPr>
          <a:xfrm>
            <a:off x="800100" y="51816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PROOF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CA9406D-DF93-428E-870D-4A304C0A1C32}"/>
              </a:ext>
            </a:extLst>
          </p:cNvPr>
          <p:cNvSpPr>
            <a:spLocks noGrp="1"/>
          </p:cNvSpPr>
          <p:nvPr/>
        </p:nvSpPr>
        <p:spPr>
          <a:xfrm>
            <a:off x="1543050" y="5143500"/>
            <a:ext cx="923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 working path runs from real inputs to agent action, measurable outcomes, and an English decision interface.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8A76EF4-4B0D-48CC-93DF-45DE0A973B1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Functional completeness is demonstrated live—not inferred from architecture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56FF064-F161-4913-A407-4CD500D33B67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954811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91EAABD5-806E-4789-8ED9-4653130E4318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03 / LLM LEADERSHIP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1BB84D-0BFD-4D86-9BEA-8DA31B8AAAE9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A scheduled leader layer changes resident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E79B48-37C0-4A17-A85A-A0BC3D3D0C9C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B4023E-D24F-4B8E-AC0E-8578BB53DB19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2F6D494-CAED-4BEA-9E79-AEBAFEAAE984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407BBF-3255-4A8B-974D-A57AE1DD3FD1}"/>
              </a:ext>
            </a:extLst>
          </p:cNvPr>
          <p:cNvSpPr>
            <a:spLocks noGrp="1"/>
          </p:cNvSpPr>
          <p:nvPr/>
        </p:nvSpPr>
        <p:spPr>
          <a:xfrm>
            <a:off x="800100" y="209550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E2EDDA-7DA2-43DF-87F9-ECF26119855F}"/>
              </a:ext>
            </a:extLst>
          </p:cNvPr>
          <p:cNvSpPr>
            <a:spLocks noGrp="1"/>
          </p:cNvSpPr>
          <p:nvPr/>
        </p:nvSpPr>
        <p:spPr>
          <a:xfrm>
            <a:off x="8001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① OBSERVE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582001A-EBAF-4283-B617-D395C645AB85}"/>
              </a:ext>
            </a:extLst>
          </p:cNvPr>
          <p:cNvSpPr>
            <a:spLocks noGrp="1"/>
          </p:cNvSpPr>
          <p:nvPr/>
        </p:nvSpPr>
        <p:spPr>
          <a:xfrm>
            <a:off x="8001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Every 10 minutes, each leader receives its jurisdiction's local brief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953052-A2FB-403D-84B0-F8710E2D07E9}"/>
              </a:ext>
            </a:extLst>
          </p:cNvPr>
          <p:cNvSpPr>
            <a:spLocks noGrp="1"/>
          </p:cNvSpPr>
          <p:nvPr/>
        </p:nvSpPr>
        <p:spPr>
          <a:xfrm>
            <a:off x="25336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7261B1D-B3FF-49AE-957B-0BDD4508E6FC}"/>
              </a:ext>
            </a:extLst>
          </p:cNvPr>
          <p:cNvSpPr>
            <a:spLocks noGrp="1"/>
          </p:cNvSpPr>
          <p:nvPr/>
        </p:nvSpPr>
        <p:spPr>
          <a:xfrm>
            <a:off x="27813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71A28F-8535-4FB5-B307-064ABA57A486}"/>
              </a:ext>
            </a:extLst>
          </p:cNvPr>
          <p:cNvSpPr>
            <a:spLocks noGrp="1"/>
          </p:cNvSpPr>
          <p:nvPr/>
        </p:nvSpPr>
        <p:spPr>
          <a:xfrm>
            <a:off x="2971800" y="209550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65BD33-A0EB-414B-A1C2-F85E65FC820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② REASON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A3EA4F-11C6-4C98-BDDD-0BD3DD6D0682}"/>
              </a:ext>
            </a:extLst>
          </p:cNvPr>
          <p:cNvSpPr>
            <a:spLocks noGrp="1"/>
          </p:cNvSpPr>
          <p:nvPr/>
        </p:nvSpPr>
        <p:spPr>
          <a:xfrm>
            <a:off x="29718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Local Qwen combines the current brief with compact leader memory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97FF93-F71B-49E9-AC9C-0DB24B6184CA}"/>
              </a:ext>
            </a:extLst>
          </p:cNvPr>
          <p:cNvSpPr>
            <a:spLocks noGrp="1"/>
          </p:cNvSpPr>
          <p:nvPr/>
        </p:nvSpPr>
        <p:spPr>
          <a:xfrm>
            <a:off x="47053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FB02A67-B976-41C8-BE9A-32B170959253}"/>
              </a:ext>
            </a:extLst>
          </p:cNvPr>
          <p:cNvSpPr>
            <a:spLocks noGrp="1"/>
          </p:cNvSpPr>
          <p:nvPr/>
        </p:nvSpPr>
        <p:spPr>
          <a:xfrm>
            <a:off x="49530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0D2430"/>
          </a:solidFill>
          <a:ln w="9525">
            <a:solidFill>
              <a:srgbClr val="0D24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2613E2-32DC-40D6-97C1-507EB74267FB}"/>
              </a:ext>
            </a:extLst>
          </p:cNvPr>
          <p:cNvSpPr>
            <a:spLocks noGrp="1"/>
          </p:cNvSpPr>
          <p:nvPr/>
        </p:nvSpPr>
        <p:spPr>
          <a:xfrm>
            <a:off x="5143500" y="20955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B14940-9670-4285-B6B0-291449F69520}"/>
              </a:ext>
            </a:extLst>
          </p:cNvPr>
          <p:cNvSpPr>
            <a:spLocks noGrp="1"/>
          </p:cNvSpPr>
          <p:nvPr/>
        </p:nvSpPr>
        <p:spPr>
          <a:xfrm>
            <a:off x="51435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③ PLAN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B93C33-5CE8-477C-97DD-71639E3B49FF}"/>
              </a:ext>
            </a:extLst>
          </p:cNvPr>
          <p:cNvSpPr>
            <a:spLocks noGrp="1"/>
          </p:cNvSpPr>
          <p:nvPr/>
        </p:nvSpPr>
        <p:spPr>
          <a:xfrm>
            <a:off x="51435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A7BAC2"/>
                </a:solidFill>
              </a:defRPr>
            </a:pPr>
            <a:r>
              <a:rPr sz="1200" b="0">
                <a:solidFill>
                  <a:srgbClr val="A7BAC2"/>
                </a:solidFill>
              </a:rPr>
              <a:t>The leader chooses which shelters and warnings to broadcast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F054D39-063E-4CCF-AFDD-4DD2C19F4C84}"/>
              </a:ext>
            </a:extLst>
          </p:cNvPr>
          <p:cNvSpPr>
            <a:spLocks noGrp="1"/>
          </p:cNvSpPr>
          <p:nvPr/>
        </p:nvSpPr>
        <p:spPr>
          <a:xfrm>
            <a:off x="68770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1B496337-74BF-4AC6-9C50-5A5CDD59C8AF}"/>
              </a:ext>
            </a:extLst>
          </p:cNvPr>
          <p:cNvSpPr>
            <a:spLocks noGrp="1"/>
          </p:cNvSpPr>
          <p:nvPr/>
        </p:nvSpPr>
        <p:spPr>
          <a:xfrm>
            <a:off x="71247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ACE0152-49BF-4826-93FF-B0D0500E85E3}"/>
              </a:ext>
            </a:extLst>
          </p:cNvPr>
          <p:cNvSpPr>
            <a:spLocks noGrp="1"/>
          </p:cNvSpPr>
          <p:nvPr/>
        </p:nvSpPr>
        <p:spPr>
          <a:xfrm>
            <a:off x="7315200" y="209550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7DB70A3-D1E5-47C5-A4CD-9D686D892EA1}"/>
              </a:ext>
            </a:extLst>
          </p:cNvPr>
          <p:cNvSpPr>
            <a:spLocks noGrp="1"/>
          </p:cNvSpPr>
          <p:nvPr/>
        </p:nvSpPr>
        <p:spPr>
          <a:xfrm>
            <a:off x="73152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④ USE TOOLS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6728B51-8925-4AC2-94F6-AEFA79752DD6}"/>
              </a:ext>
            </a:extLst>
          </p:cNvPr>
          <p:cNvSpPr>
            <a:spLocks noGrp="1"/>
          </p:cNvSpPr>
          <p:nvPr/>
        </p:nvSpPr>
        <p:spPr>
          <a:xfrm>
            <a:off x="73152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Grammar-constrained JSON validates shelter IDs before execution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828C553-3ECD-4828-9AA9-598597394188}"/>
              </a:ext>
            </a:extLst>
          </p:cNvPr>
          <p:cNvSpPr>
            <a:spLocks noGrp="1"/>
          </p:cNvSpPr>
          <p:nvPr/>
        </p:nvSpPr>
        <p:spPr>
          <a:xfrm>
            <a:off x="9048750" y="29908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75" b="1">
                <a:solidFill>
                  <a:srgbClr val="159B96"/>
                </a:solidFill>
              </a:defRPr>
            </a:pPr>
            <a:r>
              <a:rPr sz="1875" b="1">
                <a:solidFill>
                  <a:srgbClr val="159B96"/>
                </a:solidFill>
              </a:rPr>
              <a:t>→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1E89D91-9F41-4649-843A-D7152E3DB288}"/>
              </a:ext>
            </a:extLst>
          </p:cNvPr>
          <p:cNvSpPr>
            <a:spLocks noGrp="1"/>
          </p:cNvSpPr>
          <p:nvPr/>
        </p:nvSpPr>
        <p:spPr>
          <a:xfrm>
            <a:off x="9296400" y="1866900"/>
            <a:ext cx="1943100" cy="2819400"/>
          </a:xfrm>
          <a:prstGeom prst="roundRect">
            <a:avLst>
              <a:gd name="adj" fmla="val 7843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6FD2183-E97B-4333-9309-22A5FE16995A}"/>
              </a:ext>
            </a:extLst>
          </p:cNvPr>
          <p:cNvSpPr>
            <a:spLocks noGrp="1"/>
          </p:cNvSpPr>
          <p:nvPr/>
        </p:nvSpPr>
        <p:spPr>
          <a:xfrm>
            <a:off x="9486900" y="209550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8D74200-0790-4088-9DDF-5AC72C8491EF}"/>
              </a:ext>
            </a:extLst>
          </p:cNvPr>
          <p:cNvSpPr>
            <a:spLocks noGrp="1"/>
          </p:cNvSpPr>
          <p:nvPr/>
        </p:nvSpPr>
        <p:spPr>
          <a:xfrm>
            <a:off x="9486900" y="2381250"/>
            <a:ext cx="1562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D2430"/>
                </a:solidFill>
              </a:defRPr>
            </a:pPr>
            <a:r>
              <a:rPr sz="1500" b="1">
                <a:solidFill>
                  <a:srgbClr val="0D2430"/>
                </a:solidFill>
              </a:rPr>
              <a:t>⑤ EXECUTE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B7536CD-E1FC-4DDE-AADE-50B245D88914}"/>
              </a:ext>
            </a:extLst>
          </p:cNvPr>
          <p:cNvSpPr>
            <a:spLocks noGrp="1"/>
          </p:cNvSpPr>
          <p:nvPr/>
        </p:nvSpPr>
        <p:spPr>
          <a:xfrm>
            <a:off x="9486900" y="2895600"/>
            <a:ext cx="15621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Broadcasts update resident beliefs and routes; the next round replans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070DB2F-1FD1-4CC5-8EBB-0DEA58910F2C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10515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0D2430"/>
                </a:solidFill>
              </a:defRPr>
            </a:pPr>
            <a:r>
              <a:rPr sz="1650" b="1">
                <a:solidFill>
                  <a:srgbClr val="0D2430"/>
                </a:solidFill>
              </a:rPr>
              <a:t>Measured run: 350 leaders coordinate 12.95 million resident agents across balanced jurisdictions.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E202D3C-F0C8-4321-B19E-138B94BCF21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Observe → reason → plan → validated tool → state change → replan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57B73FC-2FF6-48F4-B4B8-59B694FBD92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493386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20558F91-1C81-48D4-ABD4-7D48826B7E69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07 / APPLICATION VALUE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90D961-934C-4463-A67C-A57AD3A99D9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system diagnoses physical access before simulating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54856D7-330E-485D-A30B-35F42DA4BF0A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7AA006-BA23-4EEA-B870-7B1ADC746A4C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E9B001-F5A1-4E2B-BD32-A26B75BA0B01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0AEE5E2-8B0B-4DE1-8E6E-D9F8EAA09AFB}"/>
              </a:ext>
            </a:extLst>
          </p:cNvPr>
          <p:cNvSpPr>
            <a:spLocks noGrp="1"/>
          </p:cNvSpPr>
          <p:nvPr/>
        </p:nvSpPr>
        <p:spPr>
          <a:xfrm>
            <a:off x="2316480" y="16859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AAB7961-09EC-47AB-BF5A-8BEDE253BAF6}"/>
              </a:ext>
            </a:extLst>
          </p:cNvPr>
          <p:cNvSpPr>
            <a:spLocks noGrp="1"/>
          </p:cNvSpPr>
          <p:nvPr/>
        </p:nvSpPr>
        <p:spPr>
          <a:xfrm>
            <a:off x="2316480" y="1685925"/>
            <a:ext cx="4434322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0E954F-8802-4BBD-9AC2-3E64B6AC7571}"/>
              </a:ext>
            </a:extLst>
          </p:cNvPr>
          <p:cNvSpPr>
            <a:spLocks noGrp="1"/>
          </p:cNvSpPr>
          <p:nvPr/>
        </p:nvSpPr>
        <p:spPr>
          <a:xfrm>
            <a:off x="6949440" y="16383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98.8%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04438A-E4C1-42E2-811E-2B331E2A0BC1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71D6A1C-BC74-4BC6-9AE5-63ECD640F406}"/>
              </a:ext>
            </a:extLst>
          </p:cNvPr>
          <p:cNvSpPr>
            <a:spLocks noGrp="1"/>
          </p:cNvSpPr>
          <p:nvPr/>
        </p:nvSpPr>
        <p:spPr>
          <a:xfrm>
            <a:off x="2316480" y="21621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703FF0E-53D9-471E-BF70-F9EB45791F3E}"/>
              </a:ext>
            </a:extLst>
          </p:cNvPr>
          <p:cNvSpPr>
            <a:spLocks noGrp="1"/>
          </p:cNvSpPr>
          <p:nvPr/>
        </p:nvSpPr>
        <p:spPr>
          <a:xfrm>
            <a:off x="2316480" y="2162175"/>
            <a:ext cx="4425345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FFEF24-2B51-48F2-A4C7-5DC446C5FB41}"/>
              </a:ext>
            </a:extLst>
          </p:cNvPr>
          <p:cNvSpPr>
            <a:spLocks noGrp="1"/>
          </p:cNvSpPr>
          <p:nvPr/>
        </p:nvSpPr>
        <p:spPr>
          <a:xfrm>
            <a:off x="6949440" y="21145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98.6%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04C08C-12D9-4769-AEA8-AA1D526620E4}"/>
              </a:ext>
            </a:extLst>
          </p:cNvPr>
          <p:cNvSpPr>
            <a:spLocks noGrp="1"/>
          </p:cNvSpPr>
          <p:nvPr/>
        </p:nvSpPr>
        <p:spPr>
          <a:xfrm>
            <a:off x="723900" y="25908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17E207C-9D5E-4A3A-9640-0E384D183362}"/>
              </a:ext>
            </a:extLst>
          </p:cNvPr>
          <p:cNvSpPr>
            <a:spLocks noGrp="1"/>
          </p:cNvSpPr>
          <p:nvPr/>
        </p:nvSpPr>
        <p:spPr>
          <a:xfrm>
            <a:off x="2316480" y="26384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A571457-8CAF-4E05-8358-BAAD1A43EB48}"/>
              </a:ext>
            </a:extLst>
          </p:cNvPr>
          <p:cNvSpPr>
            <a:spLocks noGrp="1"/>
          </p:cNvSpPr>
          <p:nvPr/>
        </p:nvSpPr>
        <p:spPr>
          <a:xfrm>
            <a:off x="2316480" y="2638425"/>
            <a:ext cx="4344558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9C32A47-144F-4B67-BC25-9621B8A26B2B}"/>
              </a:ext>
            </a:extLst>
          </p:cNvPr>
          <p:cNvSpPr>
            <a:spLocks noGrp="1"/>
          </p:cNvSpPr>
          <p:nvPr/>
        </p:nvSpPr>
        <p:spPr>
          <a:xfrm>
            <a:off x="6949440" y="25908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96.8%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2908BB3-94E8-4A58-B996-F7D74B827B74}"/>
              </a:ext>
            </a:extLst>
          </p:cNvPr>
          <p:cNvSpPr>
            <a:spLocks noGrp="1"/>
          </p:cNvSpPr>
          <p:nvPr/>
        </p:nvSpPr>
        <p:spPr>
          <a:xfrm>
            <a:off x="723900" y="30670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FB0710-CE74-448D-BAAD-B2D02B2D415F}"/>
              </a:ext>
            </a:extLst>
          </p:cNvPr>
          <p:cNvSpPr>
            <a:spLocks noGrp="1"/>
          </p:cNvSpPr>
          <p:nvPr/>
        </p:nvSpPr>
        <p:spPr>
          <a:xfrm>
            <a:off x="2316480" y="31146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186A1D8-E9AB-4D71-9F9E-D745BBB07879}"/>
              </a:ext>
            </a:extLst>
          </p:cNvPr>
          <p:cNvSpPr>
            <a:spLocks noGrp="1"/>
          </p:cNvSpPr>
          <p:nvPr/>
        </p:nvSpPr>
        <p:spPr>
          <a:xfrm>
            <a:off x="2316480" y="3114675"/>
            <a:ext cx="4268259" cy="16192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5CB71FB-F540-45BF-84F8-A6D7BDF5C6DC}"/>
              </a:ext>
            </a:extLst>
          </p:cNvPr>
          <p:cNvSpPr>
            <a:spLocks noGrp="1"/>
          </p:cNvSpPr>
          <p:nvPr/>
        </p:nvSpPr>
        <p:spPr>
          <a:xfrm>
            <a:off x="6949440" y="30670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95.1%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94641E0-EA39-4B78-B7A0-C10005B00514}"/>
              </a:ext>
            </a:extLst>
          </p:cNvPr>
          <p:cNvSpPr>
            <a:spLocks noGrp="1"/>
          </p:cNvSpPr>
          <p:nvPr/>
        </p:nvSpPr>
        <p:spPr>
          <a:xfrm>
            <a:off x="723900" y="35433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35C2ADF-7EFD-4024-AC49-4E24CA6DABBA}"/>
              </a:ext>
            </a:extLst>
          </p:cNvPr>
          <p:cNvSpPr>
            <a:spLocks noGrp="1"/>
          </p:cNvSpPr>
          <p:nvPr/>
        </p:nvSpPr>
        <p:spPr>
          <a:xfrm>
            <a:off x="2316480" y="35909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4C5461D9-0CCA-4CB7-9061-B66B5896E2BF}"/>
              </a:ext>
            </a:extLst>
          </p:cNvPr>
          <p:cNvSpPr>
            <a:spLocks noGrp="1"/>
          </p:cNvSpPr>
          <p:nvPr/>
        </p:nvSpPr>
        <p:spPr>
          <a:xfrm>
            <a:off x="2316480" y="3590925"/>
            <a:ext cx="3253931" cy="161925"/>
          </a:xfrm>
          <a:prstGeom prst="roundRect">
            <a:avLst>
              <a:gd name="adj" fmla="val 50000"/>
            </a:avLst>
          </a:prstGeom>
          <a:solidFill>
            <a:srgbClr val="F4CA6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FEE6342-1AC4-49E3-A5ED-C6C68F0A9A60}"/>
              </a:ext>
            </a:extLst>
          </p:cNvPr>
          <p:cNvSpPr>
            <a:spLocks noGrp="1"/>
          </p:cNvSpPr>
          <p:nvPr/>
        </p:nvSpPr>
        <p:spPr>
          <a:xfrm>
            <a:off x="6949440" y="35433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72.5%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D8CD18F-3887-41DC-8448-AE4A86C54152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8121B6FD-67F6-42CB-8ACA-EC412A5E2DCD}"/>
              </a:ext>
            </a:extLst>
          </p:cNvPr>
          <p:cNvSpPr>
            <a:spLocks noGrp="1"/>
          </p:cNvSpPr>
          <p:nvPr/>
        </p:nvSpPr>
        <p:spPr>
          <a:xfrm>
            <a:off x="2316480" y="406717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B1BF07E8-C965-4E6C-A81A-EF9421399B7A}"/>
              </a:ext>
            </a:extLst>
          </p:cNvPr>
          <p:cNvSpPr>
            <a:spLocks noGrp="1"/>
          </p:cNvSpPr>
          <p:nvPr/>
        </p:nvSpPr>
        <p:spPr>
          <a:xfrm>
            <a:off x="2316480" y="4067175"/>
            <a:ext cx="2791648" cy="161925"/>
          </a:xfrm>
          <a:prstGeom prst="roundRect">
            <a:avLst>
              <a:gd name="adj" fmla="val 50000"/>
            </a:avLst>
          </a:prstGeom>
          <a:solidFill>
            <a:srgbClr val="F4CA6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326A357-EF87-4AE5-8EEF-80817DD4BF2E}"/>
              </a:ext>
            </a:extLst>
          </p:cNvPr>
          <p:cNvSpPr>
            <a:spLocks noGrp="1"/>
          </p:cNvSpPr>
          <p:nvPr/>
        </p:nvSpPr>
        <p:spPr>
          <a:xfrm>
            <a:off x="6949440" y="401955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62.2%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38AB44E-B9AD-4B58-B765-58A04EEEFF8B}"/>
              </a:ext>
            </a:extLst>
          </p:cNvPr>
          <p:cNvSpPr>
            <a:spLocks noGrp="1"/>
          </p:cNvSpPr>
          <p:nvPr/>
        </p:nvSpPr>
        <p:spPr>
          <a:xfrm>
            <a:off x="723900" y="4495800"/>
            <a:ext cx="159258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6E3A9880-4254-4276-AF57-655FBED69DBA}"/>
              </a:ext>
            </a:extLst>
          </p:cNvPr>
          <p:cNvSpPr>
            <a:spLocks noGrp="1"/>
          </p:cNvSpPr>
          <p:nvPr/>
        </p:nvSpPr>
        <p:spPr>
          <a:xfrm>
            <a:off x="2316480" y="4543425"/>
            <a:ext cx="4488180" cy="161925"/>
          </a:xfrm>
          <a:prstGeom prst="roundRect">
            <a:avLst>
              <a:gd name="adj" fmla="val 50000"/>
            </a:avLst>
          </a:prstGeom>
          <a:solidFill>
            <a:srgbClr val="D6E1E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895D8D5-5BBB-497B-8309-9EE52C48F3B2}"/>
              </a:ext>
            </a:extLst>
          </p:cNvPr>
          <p:cNvSpPr>
            <a:spLocks noGrp="1"/>
          </p:cNvSpPr>
          <p:nvPr/>
        </p:nvSpPr>
        <p:spPr>
          <a:xfrm>
            <a:off x="2316480" y="4543425"/>
            <a:ext cx="1844642" cy="16192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F70C566-02A8-463F-84D9-BA2919C1AB25}"/>
              </a:ext>
            </a:extLst>
          </p:cNvPr>
          <p:cNvSpPr>
            <a:spLocks noGrp="1"/>
          </p:cNvSpPr>
          <p:nvPr/>
        </p:nvSpPr>
        <p:spPr>
          <a:xfrm>
            <a:off x="6949440" y="4495800"/>
            <a:ext cx="101346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41.1%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870CC3F-60E2-45DB-86A3-270ED46A3936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705100" cy="3238500"/>
          </a:xfrm>
          <a:prstGeom prst="roundRect">
            <a:avLst>
              <a:gd name="adj" fmla="val 5634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E50A9D4-40C5-4E1F-AEC0-6515415ECFEB}"/>
              </a:ext>
            </a:extLst>
          </p:cNvPr>
          <p:cNvSpPr>
            <a:spLocks noGrp="1"/>
          </p:cNvSpPr>
          <p:nvPr/>
        </p:nvSpPr>
        <p:spPr>
          <a:xfrm>
            <a:off x="8648700" y="18859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59B96"/>
                </a:solidFill>
              </a:defRPr>
            </a:pPr>
            <a:r>
              <a:rPr sz="1350" b="1">
                <a:solidFill>
                  <a:srgbClr val="159B96"/>
                </a:solidFill>
              </a:rPr>
              <a:t>HOW TO READ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6D865B9-6F69-41E0-B9CF-B0CFF9556AB3}"/>
              </a:ext>
            </a:extLst>
          </p:cNvPr>
          <p:cNvSpPr>
            <a:spLocks noGrp="1"/>
          </p:cNvSpPr>
          <p:nvPr/>
        </p:nvSpPr>
        <p:spPr>
          <a:xfrm>
            <a:off x="8648700" y="2343150"/>
            <a:ext cx="2247900" cy="1866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High access is not high placement</a:t>
            </a:r>
          </a:p>
          <a:p>
            <a:endParaRPr sz="1350" b="0">
              <a:solidFill>
                <a:srgbClr val="0D2430"/>
              </a:solidFill>
            </a:endParaRPr>
          </a:p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Site density, road connectivity, and terrain shape static coverage</a:t>
            </a:r>
          </a:p>
          <a:p>
            <a:endParaRPr sz="1350" b="0">
              <a:solidFill>
                <a:srgbClr val="0D2430"/>
              </a:solidFill>
            </a:endParaRPr>
          </a:p>
          <a:p>
            <a:pPr algn="l">
              <a:buNone/>
              <a:defRPr sz="1350" b="0">
                <a:solidFill>
                  <a:srgbClr val="0D2430"/>
                </a:solidFill>
              </a:defRPr>
            </a:pPr>
            <a:r>
              <a:rPr sz="1350" b="0">
                <a:solidFill>
                  <a:srgbClr val="0D2430"/>
                </a:solidFill>
              </a:rPr>
              <a:t>• Capacity, information, and behavior further reduce dynamic safety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274F63D-9EE5-40E4-B8A7-45F11FF928CD}"/>
              </a:ext>
            </a:extLst>
          </p:cNvPr>
          <p:cNvSpPr>
            <a:spLocks noGrp="1"/>
          </p:cNvSpPr>
          <p:nvPr/>
        </p:nvSpPr>
        <p:spPr>
          <a:xfrm>
            <a:off x="8648700" y="4343400"/>
            <a:ext cx="114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F2766B"/>
                </a:solidFill>
              </a:defRPr>
            </a:pPr>
            <a:r>
              <a:rPr sz="2250" b="1">
                <a:solidFill>
                  <a:srgbClr val="F2766B"/>
                </a:solidFill>
              </a:rPr>
              <a:t>41.1%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C640789-D009-420C-84CB-D22E06C1D82A}"/>
              </a:ext>
            </a:extLst>
          </p:cNvPr>
          <p:cNvSpPr>
            <a:spLocks noGrp="1"/>
          </p:cNvSpPr>
          <p:nvPr/>
        </p:nvSpPr>
        <p:spPr>
          <a:xfrm>
            <a:off x="9791700" y="4400550"/>
            <a:ext cx="1104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D707A"/>
                </a:solidFill>
              </a:defRPr>
            </a:pPr>
            <a:r>
              <a:rPr sz="1125" b="1">
                <a:solidFill>
                  <a:srgbClr val="5D707A"/>
                </a:solidFill>
              </a:rPr>
              <a:t>Noto is lowest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F2E31AE-AB7D-42C4-92B2-9876B3F9FCA5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Share within 15 network minutes of candidate sites; seven-city overseas subset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8B72EE34-0247-43BB-A278-3937E7B95790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371690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E7A13CB8-1CCB-49C0-B4EF-96EB90F6DA93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08 / APPLICATION VALUE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D1117E-AA80-4BC6-BD24-5907AF07841D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LLM leaders change early safety across cities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721731-A231-44A3-9A1B-112D6268B1C6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732521E-6843-4C00-A8DE-F9833446E92A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095ED4-BFA8-4147-8FB2-448AF7300D8E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4A3BD14-0536-48CA-A67F-0FD2B650D5EB}"/>
              </a:ext>
            </a:extLst>
          </p:cNvPr>
          <p:cNvSpPr>
            <a:spLocks noGrp="1"/>
          </p:cNvSpPr>
          <p:nvPr/>
        </p:nvSpPr>
        <p:spPr>
          <a:xfrm>
            <a:off x="2605088" y="17145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716F162-EAAC-4950-BF57-D975C9279738}"/>
              </a:ext>
            </a:extLst>
          </p:cNvPr>
          <p:cNvSpPr>
            <a:spLocks noGrp="1"/>
          </p:cNvSpPr>
          <p:nvPr/>
        </p:nvSpPr>
        <p:spPr>
          <a:xfrm>
            <a:off x="4777740" y="16764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A433081-8F4D-4922-90B2-56EFDCD6C491}"/>
              </a:ext>
            </a:extLst>
          </p:cNvPr>
          <p:cNvSpPr>
            <a:spLocks noGrp="1"/>
          </p:cNvSpPr>
          <p:nvPr/>
        </p:nvSpPr>
        <p:spPr>
          <a:xfrm>
            <a:off x="4787265" y="1714500"/>
            <a:ext cx="1982664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BFC86D-2BBB-4733-A8BE-EF3FD9E5AF3A}"/>
              </a:ext>
            </a:extLst>
          </p:cNvPr>
          <p:cNvSpPr>
            <a:spLocks noGrp="1"/>
          </p:cNvSpPr>
          <p:nvPr/>
        </p:nvSpPr>
        <p:spPr>
          <a:xfrm>
            <a:off x="7119938" y="16573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+3.18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9CB398-70BB-4614-8A6A-5A63AC749C46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9A76E02-B573-4CE6-9ACA-EAC66A696F67}"/>
              </a:ext>
            </a:extLst>
          </p:cNvPr>
          <p:cNvSpPr>
            <a:spLocks noGrp="1"/>
          </p:cNvSpPr>
          <p:nvPr/>
        </p:nvSpPr>
        <p:spPr>
          <a:xfrm>
            <a:off x="2605088" y="21717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AB158F-01D3-44F5-9E35-79526984018A}"/>
              </a:ext>
            </a:extLst>
          </p:cNvPr>
          <p:cNvSpPr>
            <a:spLocks noGrp="1"/>
          </p:cNvSpPr>
          <p:nvPr/>
        </p:nvSpPr>
        <p:spPr>
          <a:xfrm>
            <a:off x="4777740" y="21336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402A0C7-ACCC-4208-BF7C-982CC0300D97}"/>
              </a:ext>
            </a:extLst>
          </p:cNvPr>
          <p:cNvSpPr>
            <a:spLocks noGrp="1"/>
          </p:cNvSpPr>
          <p:nvPr/>
        </p:nvSpPr>
        <p:spPr>
          <a:xfrm>
            <a:off x="4787265" y="2171700"/>
            <a:ext cx="1490115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CBB598-E222-4369-83CB-EF157C1A24D9}"/>
              </a:ext>
            </a:extLst>
          </p:cNvPr>
          <p:cNvSpPr>
            <a:spLocks noGrp="1"/>
          </p:cNvSpPr>
          <p:nvPr/>
        </p:nvSpPr>
        <p:spPr>
          <a:xfrm>
            <a:off x="7119938" y="21145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+2.39 pp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9646DE-1435-443C-934D-88BBA8833C65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Naples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0BABF8B-418B-4413-B033-9C966252E96E}"/>
              </a:ext>
            </a:extLst>
          </p:cNvPr>
          <p:cNvSpPr>
            <a:spLocks noGrp="1"/>
          </p:cNvSpPr>
          <p:nvPr/>
        </p:nvSpPr>
        <p:spPr>
          <a:xfrm>
            <a:off x="2605088" y="26289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D7634A-505A-46A6-BAE1-003E6E503DFB}"/>
              </a:ext>
            </a:extLst>
          </p:cNvPr>
          <p:cNvSpPr>
            <a:spLocks noGrp="1"/>
          </p:cNvSpPr>
          <p:nvPr/>
        </p:nvSpPr>
        <p:spPr>
          <a:xfrm>
            <a:off x="4777740" y="25908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5223CD3-C8BF-4CCD-AC1A-E0BA2BF48D0E}"/>
              </a:ext>
            </a:extLst>
          </p:cNvPr>
          <p:cNvSpPr>
            <a:spLocks noGrp="1"/>
          </p:cNvSpPr>
          <p:nvPr/>
        </p:nvSpPr>
        <p:spPr>
          <a:xfrm>
            <a:off x="4787265" y="2628900"/>
            <a:ext cx="754410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128DCC8-1972-46F1-963C-571BF29C151C}"/>
              </a:ext>
            </a:extLst>
          </p:cNvPr>
          <p:cNvSpPr>
            <a:spLocks noGrp="1"/>
          </p:cNvSpPr>
          <p:nvPr/>
        </p:nvSpPr>
        <p:spPr>
          <a:xfrm>
            <a:off x="7119938" y="25717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+1.21 pp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64E4B78-2161-4C2C-9649-337CCB4D8373}"/>
              </a:ext>
            </a:extLst>
          </p:cNvPr>
          <p:cNvSpPr>
            <a:spLocks noGrp="1"/>
          </p:cNvSpPr>
          <p:nvPr/>
        </p:nvSpPr>
        <p:spPr>
          <a:xfrm>
            <a:off x="723900" y="30289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Kathmandu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F58EAFF-1641-4733-A347-7F01D3C89289}"/>
              </a:ext>
            </a:extLst>
          </p:cNvPr>
          <p:cNvSpPr>
            <a:spLocks noGrp="1"/>
          </p:cNvSpPr>
          <p:nvPr/>
        </p:nvSpPr>
        <p:spPr>
          <a:xfrm>
            <a:off x="2605088" y="30861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6231C61-7928-4CDD-8237-BF11EA703086}"/>
              </a:ext>
            </a:extLst>
          </p:cNvPr>
          <p:cNvSpPr>
            <a:spLocks noGrp="1"/>
          </p:cNvSpPr>
          <p:nvPr/>
        </p:nvSpPr>
        <p:spPr>
          <a:xfrm>
            <a:off x="4777740" y="30480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BABBB2E-7393-4A26-B320-6E2EA54BF37A}"/>
              </a:ext>
            </a:extLst>
          </p:cNvPr>
          <p:cNvSpPr>
            <a:spLocks noGrp="1"/>
          </p:cNvSpPr>
          <p:nvPr/>
        </p:nvSpPr>
        <p:spPr>
          <a:xfrm>
            <a:off x="4787265" y="3086100"/>
            <a:ext cx="611010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2E081BD-AC6F-46B4-B743-F60E03624379}"/>
              </a:ext>
            </a:extLst>
          </p:cNvPr>
          <p:cNvSpPr>
            <a:spLocks noGrp="1"/>
          </p:cNvSpPr>
          <p:nvPr/>
        </p:nvSpPr>
        <p:spPr>
          <a:xfrm>
            <a:off x="7119938" y="30289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+0.98 pp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E99A673-780D-4ADC-AFDE-C0D70BC1AA7A}"/>
              </a:ext>
            </a:extLst>
          </p:cNvPr>
          <p:cNvSpPr>
            <a:spLocks noGrp="1"/>
          </p:cNvSpPr>
          <p:nvPr/>
        </p:nvSpPr>
        <p:spPr>
          <a:xfrm>
            <a:off x="723900" y="34861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Mandalay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3AF6E4CA-E9A2-49F9-BE13-5539AB5B29D8}"/>
              </a:ext>
            </a:extLst>
          </p:cNvPr>
          <p:cNvSpPr>
            <a:spLocks noGrp="1"/>
          </p:cNvSpPr>
          <p:nvPr/>
        </p:nvSpPr>
        <p:spPr>
          <a:xfrm>
            <a:off x="2605088" y="35433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02E6DE4-B7BA-4820-BCC4-B3C6D932F13D}"/>
              </a:ext>
            </a:extLst>
          </p:cNvPr>
          <p:cNvSpPr>
            <a:spLocks noGrp="1"/>
          </p:cNvSpPr>
          <p:nvPr/>
        </p:nvSpPr>
        <p:spPr>
          <a:xfrm>
            <a:off x="4777740" y="35052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B2A235BF-EE1D-45FB-A706-0DEA8E5DF0B7}"/>
              </a:ext>
            </a:extLst>
          </p:cNvPr>
          <p:cNvSpPr>
            <a:spLocks noGrp="1"/>
          </p:cNvSpPr>
          <p:nvPr/>
        </p:nvSpPr>
        <p:spPr>
          <a:xfrm>
            <a:off x="4787265" y="3543300"/>
            <a:ext cx="62348" cy="142875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9D34AA8-F0C6-4015-9594-3E51BDBF33BC}"/>
              </a:ext>
            </a:extLst>
          </p:cNvPr>
          <p:cNvSpPr>
            <a:spLocks noGrp="1"/>
          </p:cNvSpPr>
          <p:nvPr/>
        </p:nvSpPr>
        <p:spPr>
          <a:xfrm>
            <a:off x="7119938" y="34861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159B96"/>
                </a:solidFill>
              </a:defRPr>
            </a:pPr>
            <a:r>
              <a:rPr sz="1050" b="1">
                <a:solidFill>
                  <a:srgbClr val="159B96"/>
                </a:solidFill>
              </a:rPr>
              <a:t>+0.10 pp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5724E64-0812-4795-A3A2-F9F57AA60925}"/>
              </a:ext>
            </a:extLst>
          </p:cNvPr>
          <p:cNvSpPr>
            <a:spLocks noGrp="1"/>
          </p:cNvSpPr>
          <p:nvPr/>
        </p:nvSpPr>
        <p:spPr>
          <a:xfrm>
            <a:off x="723900" y="39433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04B2884-9593-465D-985A-B2E710F59E60}"/>
              </a:ext>
            </a:extLst>
          </p:cNvPr>
          <p:cNvSpPr>
            <a:spLocks noGrp="1"/>
          </p:cNvSpPr>
          <p:nvPr/>
        </p:nvSpPr>
        <p:spPr>
          <a:xfrm>
            <a:off x="2605088" y="40005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7E1EFA9-9E61-40BA-B553-2750C92C64EC}"/>
              </a:ext>
            </a:extLst>
          </p:cNvPr>
          <p:cNvSpPr>
            <a:spLocks noGrp="1"/>
          </p:cNvSpPr>
          <p:nvPr/>
        </p:nvSpPr>
        <p:spPr>
          <a:xfrm>
            <a:off x="4777740" y="39624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D042F21-B08F-4024-ADCB-1E0A047A54D5}"/>
              </a:ext>
            </a:extLst>
          </p:cNvPr>
          <p:cNvSpPr>
            <a:spLocks noGrp="1"/>
          </p:cNvSpPr>
          <p:nvPr/>
        </p:nvSpPr>
        <p:spPr>
          <a:xfrm>
            <a:off x="3415611" y="4000500"/>
            <a:ext cx="1371654" cy="14287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E16E0D6-549A-488A-A65C-44EE7AF8273B}"/>
              </a:ext>
            </a:extLst>
          </p:cNvPr>
          <p:cNvSpPr>
            <a:spLocks noGrp="1"/>
          </p:cNvSpPr>
          <p:nvPr/>
        </p:nvSpPr>
        <p:spPr>
          <a:xfrm>
            <a:off x="7119938" y="39433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−2.20 pp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13367A8-2E38-41AF-8884-B16418528F67}"/>
              </a:ext>
            </a:extLst>
          </p:cNvPr>
          <p:cNvSpPr>
            <a:spLocks noGrp="1"/>
          </p:cNvSpPr>
          <p:nvPr/>
        </p:nvSpPr>
        <p:spPr>
          <a:xfrm>
            <a:off x="723900" y="4400550"/>
            <a:ext cx="165544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0D2430"/>
                </a:solidFill>
              </a:defRPr>
            </a:pPr>
            <a:r>
              <a:rPr sz="1125" b="1">
                <a:solidFill>
                  <a:srgbClr val="0D2430"/>
                </a:solidFill>
              </a:rPr>
              <a:t>L'Aquila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4DE5310-7EBE-450F-9042-83FCE78FEA76}"/>
              </a:ext>
            </a:extLst>
          </p:cNvPr>
          <p:cNvSpPr>
            <a:spLocks noGrp="1"/>
          </p:cNvSpPr>
          <p:nvPr/>
        </p:nvSpPr>
        <p:spPr>
          <a:xfrm>
            <a:off x="2605088" y="4457700"/>
            <a:ext cx="4364355" cy="142875"/>
          </a:xfrm>
          <a:prstGeom prst="roundRect">
            <a:avLst>
              <a:gd name="adj" fmla="val 50000"/>
            </a:avLst>
          </a:prstGeom>
          <a:solidFill>
            <a:srgbClr val="E3EAE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3101B0-6330-4AA5-AC90-5E004AA7CC34}"/>
              </a:ext>
            </a:extLst>
          </p:cNvPr>
          <p:cNvSpPr>
            <a:spLocks noGrp="1"/>
          </p:cNvSpPr>
          <p:nvPr/>
        </p:nvSpPr>
        <p:spPr>
          <a:xfrm>
            <a:off x="4777740" y="4419600"/>
            <a:ext cx="19050" cy="228600"/>
          </a:xfrm>
          <a:prstGeom prst="rect">
            <a:avLst/>
          </a:prstGeom>
          <a:solidFill>
            <a:srgbClr val="5D707A"/>
          </a:solidFill>
          <a:ln w="0">
            <a:solidFill>
              <a:srgbClr val="5D707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9996C5E-4296-4224-8834-7EA5866C9396}"/>
              </a:ext>
            </a:extLst>
          </p:cNvPr>
          <p:cNvSpPr>
            <a:spLocks noGrp="1"/>
          </p:cNvSpPr>
          <p:nvPr/>
        </p:nvSpPr>
        <p:spPr>
          <a:xfrm>
            <a:off x="3141280" y="4457700"/>
            <a:ext cx="1645985" cy="142875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7190D99-6F0C-4B45-A3E1-23C9FF4AE948}"/>
              </a:ext>
            </a:extLst>
          </p:cNvPr>
          <p:cNvSpPr>
            <a:spLocks noGrp="1"/>
          </p:cNvSpPr>
          <p:nvPr/>
        </p:nvSpPr>
        <p:spPr>
          <a:xfrm>
            <a:off x="7119938" y="4400550"/>
            <a:ext cx="1128713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−2.64 pp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02C2FE69-9F97-4440-B521-2548D29B4529}"/>
              </a:ext>
            </a:extLst>
          </p:cNvPr>
          <p:cNvSpPr>
            <a:spLocks noGrp="1"/>
          </p:cNvSpPr>
          <p:nvPr/>
        </p:nvSpPr>
        <p:spPr>
          <a:xfrm>
            <a:off x="8705850" y="1752600"/>
            <a:ext cx="2419350" cy="2952750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499F007-C2B6-4227-BCA6-77D5913FD98D}"/>
              </a:ext>
            </a:extLst>
          </p:cNvPr>
          <p:cNvSpPr>
            <a:spLocks noGrp="1"/>
          </p:cNvSpPr>
          <p:nvPr/>
        </p:nvSpPr>
        <p:spPr>
          <a:xfrm>
            <a:off x="8934450" y="1962150"/>
            <a:ext cx="1962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DIRECTIONAL RESULT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423D169-3B12-44F4-ABA4-600330501770}"/>
              </a:ext>
            </a:extLst>
          </p:cNvPr>
          <p:cNvSpPr>
            <a:spLocks noGrp="1"/>
          </p:cNvSpPr>
          <p:nvPr/>
        </p:nvSpPr>
        <p:spPr>
          <a:xfrm>
            <a:off x="8934450" y="2343150"/>
            <a:ext cx="1962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0D2430"/>
                </a:solidFill>
              </a:defRPr>
            </a:pPr>
            <a:r>
              <a:rPr sz="2850" b="1">
                <a:solidFill>
                  <a:srgbClr val="0D2430"/>
                </a:solidFill>
              </a:rPr>
              <a:t>5 / 7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01C5631-F16B-4C9E-BFC8-702F8B6F4D12}"/>
              </a:ext>
            </a:extLst>
          </p:cNvPr>
          <p:cNvSpPr>
            <a:spLocks noGrp="1"/>
          </p:cNvSpPr>
          <p:nvPr/>
        </p:nvSpPr>
        <p:spPr>
          <a:xfrm>
            <a:off x="8934450" y="2914650"/>
            <a:ext cx="1962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5D707A"/>
                </a:solidFill>
              </a:defRPr>
            </a:pPr>
            <a:r>
              <a:rPr sz="1275" b="0">
                <a:solidFill>
                  <a:srgbClr val="5D707A"/>
                </a:solidFill>
              </a:rPr>
              <a:t>overseas cities improve early safety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4B90C9F-AE71-4C83-9C7A-7209DAE3068B}"/>
              </a:ext>
            </a:extLst>
          </p:cNvPr>
          <p:cNvSpPr>
            <a:spLocks noGrp="1"/>
          </p:cNvSpPr>
          <p:nvPr/>
        </p:nvSpPr>
        <p:spPr>
          <a:xfrm>
            <a:off x="8934450" y="3562350"/>
            <a:ext cx="6858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5A2D131-8A91-46D8-A00F-F1FFB9A24B07}"/>
              </a:ext>
            </a:extLst>
          </p:cNvPr>
          <p:cNvSpPr>
            <a:spLocks noGrp="1"/>
          </p:cNvSpPr>
          <p:nvPr/>
        </p:nvSpPr>
        <p:spPr>
          <a:xfrm>
            <a:off x="8934450" y="3771900"/>
            <a:ext cx="19621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0D2430"/>
                </a:solidFill>
              </a:defRPr>
            </a:pPr>
            <a:r>
              <a:rPr sz="1200" b="0">
                <a:solidFill>
                  <a:srgbClr val="0D2430"/>
                </a:solidFill>
              </a:rPr>
              <a:t>Noto and L'Aquila decline: faster information does not remove sparse-network or capacity bottlenecks.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D477F73-BEDC-476A-8309-55EA47DBE9CA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Δ = leadership scenario − zero-knowledge baseline; percentage points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2D97AD7-D673-43C2-A788-7B76F34945DE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37812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1C0A3175-F8EA-4E89-AA7F-4C1D2D5D4C67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09 / LIMITS OF INTERVENTION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D325CED-965E-4E1F-9C4F-41729D0E7EAC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The same LLM policy can help early and harm later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FB980C-599B-49BD-ADC5-33DBB04A53DF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FA818B9-6C2D-4D5F-A473-E4BDD30E492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0B798F-4B50-4A81-BE54-F84B28EE863B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Los Angeles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B36F6F7-EB6E-4B1C-9B84-417635EE34C6}"/>
              </a:ext>
            </a:extLst>
          </p:cNvPr>
          <p:cNvSpPr>
            <a:spLocks noGrp="1"/>
          </p:cNvSpPr>
          <p:nvPr/>
        </p:nvSpPr>
        <p:spPr>
          <a:xfrm>
            <a:off x="2857500" y="17430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1A50C-E3CE-4866-8A8C-DDC2E92AFF15}"/>
              </a:ext>
            </a:extLst>
          </p:cNvPr>
          <p:cNvSpPr>
            <a:spLocks noGrp="1"/>
          </p:cNvSpPr>
          <p:nvPr/>
        </p:nvSpPr>
        <p:spPr>
          <a:xfrm>
            <a:off x="5943600" y="17049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6CFBE6A-8DF6-464D-BB47-70CB6E387E03}"/>
              </a:ext>
            </a:extLst>
          </p:cNvPr>
          <p:cNvSpPr>
            <a:spLocks noGrp="1"/>
          </p:cNvSpPr>
          <p:nvPr/>
        </p:nvSpPr>
        <p:spPr>
          <a:xfrm>
            <a:off x="5953125" y="1743075"/>
            <a:ext cx="874059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474C1E-D1A7-44B2-BB69-411E938E7689}"/>
              </a:ext>
            </a:extLst>
          </p:cNvPr>
          <p:cNvSpPr>
            <a:spLocks noGrp="1"/>
          </p:cNvSpPr>
          <p:nvPr/>
        </p:nvSpPr>
        <p:spPr>
          <a:xfrm>
            <a:off x="9353550" y="1676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0F813A-FA85-4F7B-B8F8-43713640CF52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Wellington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A2CD6A-279D-48CF-B16A-3E294C7B393C}"/>
              </a:ext>
            </a:extLst>
          </p:cNvPr>
          <p:cNvSpPr>
            <a:spLocks noGrp="1"/>
          </p:cNvSpPr>
          <p:nvPr/>
        </p:nvSpPr>
        <p:spPr>
          <a:xfrm>
            <a:off x="2857500" y="22193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8D5F64A-024F-4FBA-9303-A1AB531EAF6A}"/>
              </a:ext>
            </a:extLst>
          </p:cNvPr>
          <p:cNvSpPr>
            <a:spLocks noGrp="1"/>
          </p:cNvSpPr>
          <p:nvPr/>
        </p:nvSpPr>
        <p:spPr>
          <a:xfrm>
            <a:off x="5943600" y="21812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F61E540-E1D8-45F0-83FD-71E13DAD187C}"/>
              </a:ext>
            </a:extLst>
          </p:cNvPr>
          <p:cNvSpPr>
            <a:spLocks noGrp="1"/>
          </p:cNvSpPr>
          <p:nvPr/>
        </p:nvSpPr>
        <p:spPr>
          <a:xfrm>
            <a:off x="5953125" y="2219325"/>
            <a:ext cx="498031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FCEABD-43E4-4AF3-A6AE-61A275CE68A9}"/>
              </a:ext>
            </a:extLst>
          </p:cNvPr>
          <p:cNvSpPr>
            <a:spLocks noGrp="1"/>
          </p:cNvSpPr>
          <p:nvPr/>
        </p:nvSpPr>
        <p:spPr>
          <a:xfrm>
            <a:off x="9353550" y="2152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+5.47 pp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2DD92E8-8B03-4253-A080-6CFEC126BF76}"/>
              </a:ext>
            </a:extLst>
          </p:cNvPr>
          <p:cNvSpPr>
            <a:spLocks noGrp="1"/>
          </p:cNvSpPr>
          <p:nvPr/>
        </p:nvSpPr>
        <p:spPr>
          <a:xfrm>
            <a:off x="819150" y="26289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Naples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244EC2F-1DF3-4B92-94A6-D4566C8CB8F4}"/>
              </a:ext>
            </a:extLst>
          </p:cNvPr>
          <p:cNvSpPr>
            <a:spLocks noGrp="1"/>
          </p:cNvSpPr>
          <p:nvPr/>
        </p:nvSpPr>
        <p:spPr>
          <a:xfrm>
            <a:off x="2857500" y="26955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53FA0E-D899-452D-ACF8-40CF82B3F498}"/>
              </a:ext>
            </a:extLst>
          </p:cNvPr>
          <p:cNvSpPr>
            <a:spLocks noGrp="1"/>
          </p:cNvSpPr>
          <p:nvPr/>
        </p:nvSpPr>
        <p:spPr>
          <a:xfrm>
            <a:off x="5943600" y="26574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26A874B-0A77-401E-AF19-48E9FA019CF5}"/>
              </a:ext>
            </a:extLst>
          </p:cNvPr>
          <p:cNvSpPr>
            <a:spLocks noGrp="1"/>
          </p:cNvSpPr>
          <p:nvPr/>
        </p:nvSpPr>
        <p:spPr>
          <a:xfrm>
            <a:off x="5953125" y="2695575"/>
            <a:ext cx="30956" cy="133350"/>
          </a:xfrm>
          <a:prstGeom prst="roundRect">
            <a:avLst>
              <a:gd name="adj" fmla="val 50000"/>
            </a:avLst>
          </a:prstGeom>
          <a:solidFill>
            <a:srgbClr val="38D1C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89AE2C-0013-4FE7-8A9A-99D8A5069479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38D1C9"/>
                </a:solidFill>
              </a:defRPr>
            </a:pPr>
            <a:r>
              <a:rPr sz="1050" b="1">
                <a:solidFill>
                  <a:srgbClr val="38D1C9"/>
                </a:solidFill>
              </a:rPr>
              <a:t>+0.34 pp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2788E0F-5241-4B23-9D96-F81303F5F48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Mandalay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AC5D93-AFA7-4C8B-90F6-E53684E5387F}"/>
              </a:ext>
            </a:extLst>
          </p:cNvPr>
          <p:cNvSpPr>
            <a:spLocks noGrp="1"/>
          </p:cNvSpPr>
          <p:nvPr/>
        </p:nvSpPr>
        <p:spPr>
          <a:xfrm>
            <a:off x="2857500" y="31718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2D746C-57DD-4F42-9984-CE20E54A321F}"/>
              </a:ext>
            </a:extLst>
          </p:cNvPr>
          <p:cNvSpPr>
            <a:spLocks noGrp="1"/>
          </p:cNvSpPr>
          <p:nvPr/>
        </p:nvSpPr>
        <p:spPr>
          <a:xfrm>
            <a:off x="5943600" y="31337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B1DEAD8-3A5D-4B23-B281-9FE89CB5FB1D}"/>
              </a:ext>
            </a:extLst>
          </p:cNvPr>
          <p:cNvSpPr>
            <a:spLocks noGrp="1"/>
          </p:cNvSpPr>
          <p:nvPr/>
        </p:nvSpPr>
        <p:spPr>
          <a:xfrm>
            <a:off x="5888481" y="3171825"/>
            <a:ext cx="64644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912A0C3-B2B6-45CD-8B62-722479015249}"/>
              </a:ext>
            </a:extLst>
          </p:cNvPr>
          <p:cNvSpPr>
            <a:spLocks noGrp="1"/>
          </p:cNvSpPr>
          <p:nvPr/>
        </p:nvSpPr>
        <p:spPr>
          <a:xfrm>
            <a:off x="9353550" y="31051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−0.71 pp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877DF81-FA18-47EF-9106-601E1DF10AED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Kathmandu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3BE1BE8-07DA-49B1-97C7-D2E566F78F8D}"/>
              </a:ext>
            </a:extLst>
          </p:cNvPr>
          <p:cNvSpPr>
            <a:spLocks noGrp="1"/>
          </p:cNvSpPr>
          <p:nvPr/>
        </p:nvSpPr>
        <p:spPr>
          <a:xfrm>
            <a:off x="2857500" y="36480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009CD1E-E675-4BD5-8268-5D2F6B1E57A6}"/>
              </a:ext>
            </a:extLst>
          </p:cNvPr>
          <p:cNvSpPr>
            <a:spLocks noGrp="1"/>
          </p:cNvSpPr>
          <p:nvPr/>
        </p:nvSpPr>
        <p:spPr>
          <a:xfrm>
            <a:off x="5943600" y="36099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4564E76-9FF8-4902-BC18-DC3972C0528A}"/>
              </a:ext>
            </a:extLst>
          </p:cNvPr>
          <p:cNvSpPr>
            <a:spLocks noGrp="1"/>
          </p:cNvSpPr>
          <p:nvPr/>
        </p:nvSpPr>
        <p:spPr>
          <a:xfrm>
            <a:off x="5862077" y="3648075"/>
            <a:ext cx="91048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A9E865-A173-4A5A-A80C-1B733F6A586D}"/>
              </a:ext>
            </a:extLst>
          </p:cNvPr>
          <p:cNvSpPr>
            <a:spLocks noGrp="1"/>
          </p:cNvSpPr>
          <p:nvPr/>
        </p:nvSpPr>
        <p:spPr>
          <a:xfrm>
            <a:off x="93535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−1.00 pp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2A9321-D37B-4BD8-97BD-AC89624B79A9}"/>
              </a:ext>
            </a:extLst>
          </p:cNvPr>
          <p:cNvSpPr>
            <a:spLocks noGrp="1"/>
          </p:cNvSpPr>
          <p:nvPr/>
        </p:nvSpPr>
        <p:spPr>
          <a:xfrm>
            <a:off x="819150" y="4057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L'Aquila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8BE6741-8A76-4F04-A86B-632620317E0F}"/>
              </a:ext>
            </a:extLst>
          </p:cNvPr>
          <p:cNvSpPr>
            <a:spLocks noGrp="1"/>
          </p:cNvSpPr>
          <p:nvPr/>
        </p:nvSpPr>
        <p:spPr>
          <a:xfrm>
            <a:off x="2857500" y="412432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34E1B94-9DA8-4140-931C-14834EB0CA1C}"/>
              </a:ext>
            </a:extLst>
          </p:cNvPr>
          <p:cNvSpPr>
            <a:spLocks noGrp="1"/>
          </p:cNvSpPr>
          <p:nvPr/>
        </p:nvSpPr>
        <p:spPr>
          <a:xfrm>
            <a:off x="5943600" y="408622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C0EEE24-796E-4845-B2E3-87DD91AEA0F8}"/>
              </a:ext>
            </a:extLst>
          </p:cNvPr>
          <p:cNvSpPr>
            <a:spLocks noGrp="1"/>
          </p:cNvSpPr>
          <p:nvPr/>
        </p:nvSpPr>
        <p:spPr>
          <a:xfrm>
            <a:off x="5152815" y="4124325"/>
            <a:ext cx="800310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885E384-A43D-4E79-B3AF-4F7FC4711751}"/>
              </a:ext>
            </a:extLst>
          </p:cNvPr>
          <p:cNvSpPr>
            <a:spLocks noGrp="1"/>
          </p:cNvSpPr>
          <p:nvPr/>
        </p:nvSpPr>
        <p:spPr>
          <a:xfrm>
            <a:off x="9353550" y="4057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050" b="1">
                <a:solidFill>
                  <a:srgbClr val="F2766B"/>
                </a:solidFill>
              </a:defRPr>
            </a:pPr>
            <a:r>
              <a:rPr sz="1050" b="1">
                <a:solidFill>
                  <a:srgbClr val="F2766B"/>
                </a:solidFill>
              </a:rPr>
              <a:t>−8.79 pp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B18A3CD-8907-45DA-A6B0-3D1293039F40}"/>
              </a:ext>
            </a:extLst>
          </p:cNvPr>
          <p:cNvSpPr>
            <a:spLocks noGrp="1"/>
          </p:cNvSpPr>
          <p:nvPr/>
        </p:nvSpPr>
        <p:spPr>
          <a:xfrm>
            <a:off x="819150" y="45339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Noto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1FEF191-29B0-4E8C-82A5-2DF0D44B302C}"/>
              </a:ext>
            </a:extLst>
          </p:cNvPr>
          <p:cNvSpPr>
            <a:spLocks noGrp="1"/>
          </p:cNvSpPr>
          <p:nvPr/>
        </p:nvSpPr>
        <p:spPr>
          <a:xfrm>
            <a:off x="2857500" y="4600575"/>
            <a:ext cx="6191250" cy="133350"/>
          </a:xfrm>
          <a:prstGeom prst="roundRect">
            <a:avLst>
              <a:gd name="adj" fmla="val 50000"/>
            </a:avLst>
          </a:prstGeom>
          <a:solidFill>
            <a:srgbClr val="20374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6673AE2-6E0E-4241-AD6F-81E3974AD2BC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19050" cy="219075"/>
          </a:xfrm>
          <a:prstGeom prst="rect">
            <a:avLst/>
          </a:prstGeom>
          <a:solidFill>
            <a:srgbClr val="A7BAC2"/>
          </a:solidFill>
          <a:ln w="0">
            <a:solidFill>
              <a:srgbClr val="A7BAC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B81F8B1-6EA2-4D04-A663-BFA07B79D9E6}"/>
              </a:ext>
            </a:extLst>
          </p:cNvPr>
          <p:cNvSpPr>
            <a:spLocks noGrp="1"/>
          </p:cNvSpPr>
          <p:nvPr/>
        </p:nvSpPr>
        <p:spPr>
          <a:xfrm>
            <a:off x="3005908" y="4600575"/>
            <a:ext cx="2947217" cy="133350"/>
          </a:xfrm>
          <a:prstGeom prst="roundRect">
            <a:avLst>
              <a:gd name="adj" fmla="val 50000"/>
            </a:avLst>
          </a:prstGeom>
          <a:solidFill>
            <a:srgbClr val="F2766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F0EB3DAA-8C93-48A2-9E68-1BBFB1DD17D0}"/>
              </a:ext>
            </a:extLst>
          </p:cNvPr>
          <p:cNvSpPr>
            <a:spLocks noGrp="1"/>
          </p:cNvSpPr>
          <p:nvPr/>
        </p:nvSpPr>
        <p:spPr>
          <a:xfrm>
            <a:off x="9810750" y="1695450"/>
            <a:ext cx="1714500" cy="3009900"/>
          </a:xfrm>
          <a:prstGeom prst="roundRect">
            <a:avLst>
              <a:gd name="adj" fmla="val 6667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AB61213-F1BD-4287-B8E4-BF9D3345D3B7}"/>
              </a:ext>
            </a:extLst>
          </p:cNvPr>
          <p:cNvSpPr>
            <a:spLocks noGrp="1"/>
          </p:cNvSpPr>
          <p:nvPr/>
        </p:nvSpPr>
        <p:spPr>
          <a:xfrm>
            <a:off x="10020300" y="1905000"/>
            <a:ext cx="133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KEY INTERPRETATION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B7E2C89-9114-4190-AF95-DD8B341CB8D0}"/>
              </a:ext>
            </a:extLst>
          </p:cNvPr>
          <p:cNvSpPr>
            <a:spLocks noGrp="1"/>
          </p:cNvSpPr>
          <p:nvPr/>
        </p:nvSpPr>
        <p:spPr>
          <a:xfrm>
            <a:off x="10020300" y="2305050"/>
            <a:ext cx="1333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Leadership improves information visibility; it does not create road throughput or shelter capacity.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403EF3A-92B3-4FC1-A0BA-14AC39E25895}"/>
              </a:ext>
            </a:extLst>
          </p:cNvPr>
          <p:cNvSpPr>
            <a:spLocks noGrp="1"/>
          </p:cNvSpPr>
          <p:nvPr/>
        </p:nvSpPr>
        <p:spPr>
          <a:xfrm>
            <a:off x="10020300" y="3733800"/>
            <a:ext cx="133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Noto −32.37 pp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0EDE9A8-C4D3-4D4D-A799-C72E50AF5DB6}"/>
              </a:ext>
            </a:extLst>
          </p:cNvPr>
          <p:cNvSpPr>
            <a:spLocks noGrp="1"/>
          </p:cNvSpPr>
          <p:nvPr/>
        </p:nvSpPr>
        <p:spPr>
          <a:xfrm>
            <a:off x="10020300" y="4191000"/>
            <a:ext cx="133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A7BAC2"/>
                </a:solidFill>
              </a:defRPr>
            </a:pPr>
            <a:r>
              <a:rPr sz="1050" b="0">
                <a:solidFill>
                  <a:srgbClr val="A7BAC2"/>
                </a:solidFill>
              </a:rPr>
              <a:t>Late congestion and capacity failure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12D550-A5E1-42FB-9852-BC32C51E2D58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The same mechanism can produce opposite outcomes under different network–capacity conditions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A68937F5-91A8-44E6-B002-33523078C75D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562983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3B47075-63B6-490E-9B58-0A68EFC188F2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10 / SCENARIO INNOVATION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41A09D-D012-4DAF-A34E-F7AA306EE6E8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One Agentic AI mechanism reveals three urban response profiles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E107F6A-CAF2-4C64-B355-DAB302D299FD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3A609C-C854-40AC-925F-FD56CDD3D9A2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00074B3-F36F-4DC2-85D8-4E5E3ED013C2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4" name="图片 33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DCD54FB-3509-4B47-93E0-4DB6C0D60AF0}"/>
              </a:ext>
            </a:extLst>
          </p:cNvPr>
          <p:cNvSpPr>
            <a:spLocks noGrp="1"/>
          </p:cNvSpPr>
          <p:nvPr/>
        </p:nvSpPr>
        <p:spPr>
          <a:xfrm>
            <a:off x="819150" y="3905250"/>
            <a:ext cx="457200" cy="57150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118255-8669-4501-8EE4-66D6F57E16BA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Los Angeles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6DDA8C-0951-4393-9EB4-8FBC1F61EC24}"/>
              </a:ext>
            </a:extLst>
          </p:cNvPr>
          <p:cNvSpPr>
            <a:spLocks noGrp="1"/>
          </p:cNvSpPr>
          <p:nvPr/>
        </p:nvSpPr>
        <p:spPr>
          <a:xfrm>
            <a:off x="8191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58A6D6"/>
                </a:solidFill>
              </a:defRPr>
            </a:pPr>
            <a:r>
              <a:rPr sz="1125" b="1">
                <a:solidFill>
                  <a:srgbClr val="58A6D6"/>
                </a:solidFill>
              </a:rPr>
              <a:t>Early +3.18 pp · late +9.60 pp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B55778-43BB-4D4C-BADE-0710E98F1DE7}"/>
              </a:ext>
            </a:extLst>
          </p:cNvPr>
          <p:cNvSpPr>
            <a:spLocks noGrp="1"/>
          </p:cNvSpPr>
          <p:nvPr/>
        </p:nvSpPr>
        <p:spPr>
          <a:xfrm>
            <a:off x="8191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Dense sites and network redundancy turn information advantage into sustained placement.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67D95C3-A6AC-45BA-B331-74541479791F}"/>
              </a:ext>
            </a:extLst>
          </p:cNvPr>
          <p:cNvSpPr>
            <a:spLocks noGrp="1"/>
          </p:cNvSpPr>
          <p:nvPr/>
        </p:nvSpPr>
        <p:spPr>
          <a:xfrm>
            <a:off x="424815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2E75B012-0BF7-4DE6-BB8D-B1050C43ED43}"/>
              </a:ext>
            </a:extLst>
          </p:cNvPr>
          <p:cNvSpPr>
            <a:spLocks noGrp="1"/>
          </p:cNvSpPr>
          <p:nvPr/>
        </p:nvSpPr>
        <p:spPr>
          <a:xfrm>
            <a:off x="4457700" y="3905250"/>
            <a:ext cx="457200" cy="57150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A5C229-4570-4960-ADD1-970CB6EBB5F1}"/>
              </a:ext>
            </a:extLst>
          </p:cNvPr>
          <p:cNvSpPr>
            <a:spLocks noGrp="1"/>
          </p:cNvSpPr>
          <p:nvPr/>
        </p:nvSpPr>
        <p:spPr>
          <a:xfrm>
            <a:off x="445770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Wellington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A9D9DFF-6568-419D-92AD-9932BB35D6ED}"/>
              </a:ext>
            </a:extLst>
          </p:cNvPr>
          <p:cNvSpPr>
            <a:spLocks noGrp="1"/>
          </p:cNvSpPr>
          <p:nvPr/>
        </p:nvSpPr>
        <p:spPr>
          <a:xfrm>
            <a:off x="445770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9B982"/>
                </a:solidFill>
              </a:defRPr>
            </a:pPr>
            <a:r>
              <a:rPr sz="1125" b="1">
                <a:solidFill>
                  <a:srgbClr val="39B982"/>
                </a:solidFill>
              </a:rPr>
              <a:t>Early +2.39 pp · late +5.47 pp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34781B4-1208-432A-8405-A156C626D6D2}"/>
              </a:ext>
            </a:extLst>
          </p:cNvPr>
          <p:cNvSpPr>
            <a:spLocks noGrp="1"/>
          </p:cNvSpPr>
          <p:nvPr/>
        </p:nvSpPr>
        <p:spPr>
          <a:xfrm>
            <a:off x="445770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Leadership still improves allocation on top of high baseline accessibility.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5CE47C4-2B76-43A7-90AF-0F0F34390848}"/>
              </a:ext>
            </a:extLst>
          </p:cNvPr>
          <p:cNvSpPr>
            <a:spLocks noGrp="1"/>
          </p:cNvSpPr>
          <p:nvPr/>
        </p:nvSpPr>
        <p:spPr>
          <a:xfrm>
            <a:off x="7886700" y="1676400"/>
            <a:ext cx="3371850" cy="4229100"/>
          </a:xfrm>
          <a:prstGeom prst="roundRect">
            <a:avLst>
              <a:gd name="adj" fmla="val 4520"/>
            </a:avLst>
          </a:prstGeom>
          <a:solidFill>
            <a:srgbClr val="F3F7F7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5289D2CC-4315-4051-A38D-15D59B29CB8C}"/>
              </a:ext>
            </a:extLst>
          </p:cNvPr>
          <p:cNvSpPr>
            <a:spLocks noGrp="1"/>
          </p:cNvSpPr>
          <p:nvPr/>
        </p:nvSpPr>
        <p:spPr>
          <a:xfrm>
            <a:off x="8096250" y="3905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4A409A-DD7E-4615-BB71-E1C2DED563FB}"/>
              </a:ext>
            </a:extLst>
          </p:cNvPr>
          <p:cNvSpPr>
            <a:spLocks noGrp="1"/>
          </p:cNvSpPr>
          <p:nvPr/>
        </p:nvSpPr>
        <p:spPr>
          <a:xfrm>
            <a:off x="8096250" y="4114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0D2430"/>
                </a:solidFill>
              </a:defRPr>
            </a:pPr>
            <a:r>
              <a:rPr sz="1875" b="1">
                <a:solidFill>
                  <a:srgbClr val="0D2430"/>
                </a:solidFill>
              </a:rPr>
              <a:t>Noto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F98349-44C2-4180-9DE3-FE9E3C5AC15C}"/>
              </a:ext>
            </a:extLst>
          </p:cNvPr>
          <p:cNvSpPr>
            <a:spLocks noGrp="1"/>
          </p:cNvSpPr>
          <p:nvPr/>
        </p:nvSpPr>
        <p:spPr>
          <a:xfrm>
            <a:off x="8096250" y="44767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F2766B"/>
                </a:solidFill>
              </a:defRPr>
            </a:pPr>
            <a:r>
              <a:rPr sz="1125" b="1">
                <a:solidFill>
                  <a:srgbClr val="F2766B"/>
                </a:solidFill>
              </a:rPr>
              <a:t>Early −2.20 pp · late −32.37 pp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379D62-FF7B-4A06-8756-58204A6AB259}"/>
              </a:ext>
            </a:extLst>
          </p:cNvPr>
          <p:cNvSpPr>
            <a:spLocks noGrp="1"/>
          </p:cNvSpPr>
          <p:nvPr/>
        </p:nvSpPr>
        <p:spPr>
          <a:xfrm>
            <a:off x="8096250" y="4857750"/>
            <a:ext cx="2952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0">
                <a:solidFill>
                  <a:srgbClr val="5D707A"/>
                </a:solidFill>
              </a:defRPr>
            </a:pPr>
            <a:r>
              <a:rPr sz="1200" b="0">
                <a:solidFill>
                  <a:srgbClr val="5D707A"/>
                </a:solidFill>
              </a:rPr>
              <a:t>Low access and sparse supply allow concentrated guidance to amplify capacity constraints.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2F90353-86AA-4F7C-87D7-638C43ACE1E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A common WebGIS structure places mechanism differences beside spatial structure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8C5D915-D91D-46B8-BACE-3C9AA781AD75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49" name="图片 4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150E1057-54B3-4E2A-BF7E-0EFC71EE923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AGENT ROLES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A08A62-1D8B-4727-8384-B69A05B0580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From individual roles to collective evacuation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26ACD4A-1A10-4344-B293-175FE0A68A78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09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438CC0F5-EA5C-4722-A72F-1047D964FF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EB07B3B-18C4-4ACF-8340-BD524B06CAC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578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234D803F-9428-487F-8623-347BFF25AF57}"/>
              </a:ext>
            </a:extLst>
          </p:cNvPr>
          <p:cNvSpPr>
            <a:spLocks noGrp="1"/>
          </p:cNvSpPr>
          <p:nvPr/>
        </p:nvSpPr>
        <p:spPr>
          <a:xfrm>
            <a:off x="6057900" y="1600200"/>
            <a:ext cx="5524500" cy="4514850"/>
          </a:xfrm>
          <a:prstGeom prst="roundRect">
            <a:avLst>
              <a:gd name="adj" fmla="val 2532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193899" y="1752600"/>
            <a:ext cx="4089202" cy="3048000"/>
          </a:xfrm>
          <a:prstGeom prst="rect">
            <a:avLst/>
          </a:prstGeom>
        </p:spPr>
      </p:pic>
      <p:pic>
        <p:nvPicPr>
          <p:cNvPr id="58" name="图片 57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225340" y="1752600"/>
            <a:ext cx="3189620" cy="3048000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313CCE2E-36EE-494D-9BE4-8A0F8F67C57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WHO MOVES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32FB857-F9EA-45BD-8DAB-16AF2BCDE0AB}"/>
              </a:ext>
            </a:extLst>
          </p:cNvPr>
          <p:cNvSpPr>
            <a:spLocks noGrp="1"/>
          </p:cNvSpPr>
          <p:nvPr/>
        </p:nvSpPr>
        <p:spPr>
          <a:xfrm>
            <a:off x="819150" y="5219700"/>
            <a:ext cx="476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Commander · informed resident · uninformed resident · volunteer · elderly · child · responder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DD604AF-95B9-4D3B-AA70-F48D4031D564}"/>
              </a:ext>
            </a:extLst>
          </p:cNvPr>
          <p:cNvSpPr>
            <a:spLocks noGrp="1"/>
          </p:cNvSpPr>
          <p:nvPr/>
        </p:nvSpPr>
        <p:spPr>
          <a:xfrm>
            <a:off x="6286500" y="49530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HOW THEY INTERACT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1B168A7-90C1-444D-94B9-A2436DE7B80A}"/>
              </a:ext>
            </a:extLst>
          </p:cNvPr>
          <p:cNvSpPr>
            <a:spLocks noGrp="1"/>
          </p:cNvSpPr>
          <p:nvPr/>
        </p:nvSpPr>
        <p:spPr>
          <a:xfrm>
            <a:off x="6286500" y="5219700"/>
            <a:ext cx="495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5F7FB"/>
                </a:solidFill>
              </a:defRPr>
            </a:pPr>
            <a:r>
              <a:rPr sz="1350" b="0">
                <a:solidFill>
                  <a:srgbClr val="F5F7FB"/>
                </a:solidFill>
              </a:rPr>
              <a:t>Broadcast · word of mouth · following · guiding · mutual assistance · shelter admission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993E1FD-17A2-4374-AF2A-53C9FB4987CD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Conceptual micro-scene: role and interaction mechanism, not a city observation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E1062DF-E2DA-4FF1-8F27-F1BCD7916281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/>
          <p:cNvPicPr>
            <a:picLocks noChangeAspect="1"/>
          </p:cNvPicPr>
          <p:nvPr/>
        </p:nvPicPr>
        <p:blipFill>
          <a:blip r:embed="rId3"/>
          <a:srcRect t="11048" b="11048"/>
          <a:stretch>
            <a:fillRect/>
          </a:stretch>
        </p:blipFill>
        <p:spPr>
          <a:xfrm>
            <a:off x="742950" y="1809750"/>
            <a:ext cx="3105150" cy="1866900"/>
          </a:xfrm>
          <a:prstGeom prst="roundRect">
            <a:avLst/>
          </a:prstGeom>
        </p:spPr>
      </p:pic>
      <p:pic>
        <p:nvPicPr>
          <p:cNvPr id="59" name="图片 58"/>
          <p:cNvPicPr>
            <a:picLocks noChangeAspect="1"/>
          </p:cNvPicPr>
          <p:nvPr/>
        </p:nvPicPr>
        <p:blipFill>
          <a:blip r:embed="rId4"/>
          <a:srcRect t="11048" b="11048"/>
          <a:stretch>
            <a:fillRect/>
          </a:stretch>
        </p:blipFill>
        <p:spPr>
          <a:xfrm>
            <a:off x="4381500" y="1809750"/>
            <a:ext cx="3105150" cy="1866900"/>
          </a:xfrm>
          <a:prstGeom prst="roundRect">
            <a:avLst/>
          </a:prstGeom>
        </p:spPr>
      </p:pic>
      <p:pic>
        <p:nvPicPr>
          <p:cNvPr id="60" name="图片 59"/>
          <p:cNvPicPr>
            <a:picLocks noChangeAspect="1"/>
          </p:cNvPicPr>
          <p:nvPr/>
        </p:nvPicPr>
        <p:blipFill>
          <a:blip r:embed="rId5"/>
          <a:srcRect t="11048" b="11048"/>
          <a:stretch>
            <a:fillRect/>
          </a:stretch>
        </p:blipFill>
        <p:spPr>
          <a:xfrm>
            <a:off x="8020050" y="1809750"/>
            <a:ext cx="3105150" cy="1866900"/>
          </a:xfrm>
          <a:prstGeom prst="round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8EFFC9E1-47E3-43E3-9632-F6D449EB48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MICRO MECHANISM / EQUATIONS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4417C00-C74B-4129-9AF0-CBA2ECA3E6E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Four rules generate the city-scale process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B6E7BF7-20AF-4158-AA90-2DA01C6E814A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10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C84ECF5-FBC3-4F47-8407-16822CC16C0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604A575-BDDE-459F-B3F9-0D29F9842BA8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F229678-D14C-4706-8AC0-26C319215854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BA936B1-303F-4AC7-8625-A525F1B8A570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F9D3D"/>
                </a:solidFill>
              </a:defRPr>
            </a:pPr>
            <a:r>
              <a:rPr sz="1275" b="1">
                <a:solidFill>
                  <a:srgbClr val="FF9D3D"/>
                </a:solidFill>
              </a:rPr>
              <a:t>1 · Departure delay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D7D0D62-4743-448C-8F2D-FF4B18DFA2AC}"/>
              </a:ext>
            </a:extLst>
          </p:cNvPr>
          <p:cNvSpPr>
            <a:spLocks noGrp="1"/>
          </p:cNvSpPr>
          <p:nvPr/>
        </p:nvSpPr>
        <p:spPr>
          <a:xfrm>
            <a:off x="83820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Tᵢ ~ LogNormal(μ = ln 180 s, σ = 0.8)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DCC7FF7-8C70-4553-AB85-718CF5DB1AC5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Kumamoto scenario assumption; roles and warning state can shift departure timing.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885BBB3-6363-4881-8CBF-CA02EA14EAE1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79AB0B1-1B45-4546-963D-F478EE68C305}"/>
              </a:ext>
            </a:extLst>
          </p:cNvPr>
          <p:cNvSpPr>
            <a:spLocks noGrp="1"/>
          </p:cNvSpPr>
          <p:nvPr/>
        </p:nvSpPr>
        <p:spPr>
          <a:xfrm>
            <a:off x="6153150" y="167640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09D7A8B-9F6A-418D-B959-DB5F71FE529A}"/>
              </a:ext>
            </a:extLst>
          </p:cNvPr>
          <p:cNvSpPr>
            <a:spLocks noGrp="1"/>
          </p:cNvSpPr>
          <p:nvPr/>
        </p:nvSpPr>
        <p:spPr>
          <a:xfrm>
            <a:off x="6381750" y="18478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2 · Boundary flow capacity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62E19C8-AD2A-4A52-9A09-FF3414610366}"/>
              </a:ext>
            </a:extLst>
          </p:cNvPr>
          <p:cNvSpPr>
            <a:spLocks noGrp="1"/>
          </p:cNvSpPr>
          <p:nvPr/>
        </p:nvSpPr>
        <p:spPr>
          <a:xfrm>
            <a:off x="6381750" y="22098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Cᵢ = wᵢ qₛ,   qₛ = 1.3 persons·m⁻¹·s⁻¹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497BD8C-AA45-433C-978E-9C37D8BE7167}"/>
              </a:ext>
            </a:extLst>
          </p:cNvPr>
          <p:cNvSpPr>
            <a:spLocks noGrp="1"/>
          </p:cNvSpPr>
          <p:nvPr/>
        </p:nvSpPr>
        <p:spPr>
          <a:xfrm>
            <a:off x="6381750" y="27051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Road-enclosed blocks release people through finite egress width; queues emerge when demand exceeds capacity.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6B66072-5DA3-46F2-8B70-C3DEF9A7F7B7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683934E3-D1B7-4E68-96DB-F0960927C26A}"/>
              </a:ext>
            </a:extLst>
          </p:cNvPr>
          <p:cNvSpPr>
            <a:spLocks noGrp="1"/>
          </p:cNvSpPr>
          <p:nvPr/>
        </p:nvSpPr>
        <p:spPr>
          <a:xfrm>
            <a:off x="60960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73D06F"/>
          </a:solidFill>
          <a:ln w="9525">
            <a:solidFill>
              <a:srgbClr val="73D06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6AA059B-19FC-4455-A086-F82689E9322C}"/>
              </a:ext>
            </a:extLst>
          </p:cNvPr>
          <p:cNvSpPr>
            <a:spLocks noGrp="1"/>
          </p:cNvSpPr>
          <p:nvPr/>
        </p:nvSpPr>
        <p:spPr>
          <a:xfrm>
            <a:off x="83820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73D06F"/>
                </a:solidFill>
              </a:defRPr>
            </a:pPr>
            <a:r>
              <a:rPr sz="1275" b="1">
                <a:solidFill>
                  <a:srgbClr val="73D06F"/>
                </a:solidFill>
              </a:rPr>
              <a:t>3 · Capacity-aware destination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5C1A9B6-2707-4210-9C35-055B9D40CA29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s*(i,t) = arg min dᴳ(i,s),  s ∈ O(t)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F365BF5-8AAB-4EDE-AA4B-8C50A3571255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O(t) contains shelters that remain open and have capacity. A multi-source shortest-path tree is rebuilt when status changes.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B8F84CB2-AA80-406B-82AB-0683322C0BC2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5429250" cy="1790700"/>
          </a:xfrm>
          <a:prstGeom prst="roundRect">
            <a:avLst>
              <a:gd name="adj" fmla="val 6383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3D9F7345-3AB1-4F05-A50F-8626A3AA2ADA}"/>
              </a:ext>
            </a:extLst>
          </p:cNvPr>
          <p:cNvSpPr>
            <a:spLocks noGrp="1"/>
          </p:cNvSpPr>
          <p:nvPr/>
        </p:nvSpPr>
        <p:spPr>
          <a:xfrm>
            <a:off x="6153150" y="3676650"/>
            <a:ext cx="66675" cy="1790700"/>
          </a:xfrm>
          <a:prstGeom prst="roundRect">
            <a:avLst>
              <a:gd name="adj" fmla="val 50000"/>
            </a:avLst>
          </a:prstGeom>
          <a:solidFill>
            <a:srgbClr val="F3C66C"/>
          </a:solidFill>
          <a:ln w="9525">
            <a:solidFill>
              <a:srgbClr val="F3C6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05E534C-42C9-481F-A1D7-8FBE682A7D47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4 · Population conservation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08D8112-BC7E-4EB4-9899-4643F0CF7181}"/>
              </a:ext>
            </a:extLst>
          </p:cNvPr>
          <p:cNvSpPr>
            <a:spLocks noGrp="1"/>
          </p:cNvSpPr>
          <p:nvPr/>
        </p:nvSpPr>
        <p:spPr>
          <a:xfrm>
            <a:off x="6381750" y="42100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5F7FB"/>
                </a:solidFill>
              </a:defRPr>
            </a:pPr>
            <a:r>
              <a:rPr sz="1875" b="1">
                <a:solidFill>
                  <a:srgbClr val="F5F7FB"/>
                </a:solidFill>
              </a:rPr>
              <a:t>N = Σᵢ[Iᵢ(t)+Mᵢ(t)+Qᵢ(t)] + H(t) + S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0FEB719F-708C-44BA-A406-7C8169BA81CF}"/>
              </a:ext>
            </a:extLst>
          </p:cNvPr>
          <p:cNvSpPr>
            <a:spLocks noGrp="1"/>
          </p:cNvSpPr>
          <p:nvPr/>
        </p:nvSpPr>
        <p:spPr>
          <a:xfrm>
            <a:off x="6381750" y="47053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9AA9C2"/>
                </a:solidFill>
              </a:defRPr>
            </a:pPr>
            <a:r>
              <a:rPr sz="1200" b="0">
                <a:solidFill>
                  <a:srgbClr val="9AA9C2"/>
                </a:solidFill>
              </a:rPr>
              <a:t>Indoors + internal movement + boundary queue + sheltered + stay-put remains constant to numerical precision.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BC05953-DA3E-45A2-B4DA-7C10BEECCF0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Rendered points follow each block's cumulative departure curve and the solved congestion field—no separate animation curve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1ABB3A6-AF90-4B79-BED4-239F59F992E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791293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216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250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图形 4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500" y="0"/>
            <a:ext cx="4762500" cy="6858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0574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58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rcRect t="25" b="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032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11 / AMD LOCAL INFERENCE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Local Radeon inference is verified with full-run evidence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Radeon gfx1100 · 48 GiB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noGrp="1"/>
          </p:cNvSpPr>
          <p:nvPr/>
        </p:nvSpPr>
        <p:spPr>
          <a:xfrm>
            <a:off x="27622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noGrp="1"/>
          </p:cNvSpPr>
          <p:nvPr/>
        </p:nvSpPr>
        <p:spPr>
          <a:xfrm>
            <a:off x="293370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RUNTIME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noGrp="1"/>
          </p:cNvSpPr>
          <p:nvPr/>
        </p:nvSpPr>
        <p:spPr>
          <a:xfrm>
            <a:off x="29337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ROCm 7.2.1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noGrp="1"/>
          </p:cNvSpPr>
          <p:nvPr/>
        </p:nvSpPr>
        <p:spPr>
          <a:xfrm>
            <a:off x="49149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noGrp="1"/>
          </p:cNvSpPr>
          <p:nvPr/>
        </p:nvSpPr>
        <p:spPr>
          <a:xfrm>
            <a:off x="50863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noGrp="1"/>
          </p:cNvSpPr>
          <p:nvPr/>
        </p:nvSpPr>
        <p:spPr>
          <a:xfrm>
            <a:off x="50863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MODEL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noGrp="1"/>
          </p:cNvSpPr>
          <p:nvPr/>
        </p:nvSpPr>
        <p:spPr>
          <a:xfrm>
            <a:off x="50863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Qwen2.5-7B · Q4_K_M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noGrp="1"/>
          </p:cNvSpPr>
          <p:nvPr/>
        </p:nvSpPr>
        <p:spPr>
          <a:xfrm>
            <a:off x="723900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noGrp="1"/>
          </p:cNvSpPr>
          <p:nvPr/>
        </p:nvSpPr>
        <p:spPr>
          <a:xfrm>
            <a:off x="72390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noGrp="1"/>
          </p:cNvSpPr>
          <p:nvPr/>
        </p:nvSpPr>
        <p:spPr>
          <a:xfrm>
            <a:off x="92202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noGrp="1"/>
          </p:cNvSpPr>
          <p:nvPr/>
        </p:nvSpPr>
        <p:spPr>
          <a:xfrm>
            <a:off x="939165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noGrp="1"/>
          </p:cNvSpPr>
          <p:nvPr/>
        </p:nvSpPr>
        <p:spPr>
          <a:xfrm>
            <a:off x="93916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noGrp="1"/>
          </p:cNvSpPr>
          <p:nvPr/>
        </p:nvSpPr>
        <p:spPr>
          <a:xfrm>
            <a:off x="781050" y="331470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MEASURED RUN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4,242 LLM calls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noGrp="1"/>
          </p:cNvSpPr>
          <p:nvPr/>
        </p:nvSpPr>
        <p:spPr>
          <a:xfrm>
            <a:off x="27622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noGrp="1"/>
          </p:cNvSpPr>
          <p:nvPr/>
        </p:nvSpPr>
        <p:spPr>
          <a:xfrm>
            <a:off x="2933700" y="3314700"/>
            <a:ext cx="381000" cy="47625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noGrp="1"/>
          </p:cNvSpPr>
          <p:nvPr/>
        </p:nvSpPr>
        <p:spPr>
          <a:xfrm>
            <a:off x="29337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DECISION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noGrp="1"/>
          </p:cNvSpPr>
          <p:nvPr/>
        </p:nvSpPr>
        <p:spPr>
          <a:xfrm>
            <a:off x="29337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 mean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noGrp="1"/>
          </p:cNvSpPr>
          <p:nvPr/>
        </p:nvSpPr>
        <p:spPr>
          <a:xfrm>
            <a:off x="49149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noGrp="1"/>
          </p:cNvSpPr>
          <p:nvPr/>
        </p:nvSpPr>
        <p:spPr>
          <a:xfrm>
            <a:off x="508635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noGrp="1"/>
          </p:cNvSpPr>
          <p:nvPr/>
        </p:nvSpPr>
        <p:spPr>
          <a:xfrm>
            <a:off x="50863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VALIDITY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noGrp="1"/>
          </p:cNvSpPr>
          <p:nvPr/>
        </p:nvSpPr>
        <p:spPr>
          <a:xfrm>
            <a:off x="50863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 failed / unparseable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noGrp="1"/>
          </p:cNvSpPr>
          <p:nvPr/>
        </p:nvSpPr>
        <p:spPr>
          <a:xfrm>
            <a:off x="723900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noGrp="1"/>
          </p:cNvSpPr>
          <p:nvPr/>
        </p:nvSpPr>
        <p:spPr>
          <a:xfrm>
            <a:off x="72390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APPLICATION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noGrp="1"/>
          </p:cNvSpPr>
          <p:nvPr/>
        </p:nvSpPr>
        <p:spPr>
          <a:xfrm>
            <a:off x="72390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 decisions applied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noGrp="1"/>
          </p:cNvSpPr>
          <p:nvPr/>
        </p:nvSpPr>
        <p:spPr>
          <a:xfrm>
            <a:off x="9391650" y="3314700"/>
            <a:ext cx="38100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noGrp="1"/>
          </p:cNvSpPr>
          <p:nvPr/>
        </p:nvSpPr>
        <p:spPr>
          <a:xfrm>
            <a:off x="93916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noGrp="1"/>
          </p:cNvSpPr>
          <p:nvPr/>
        </p:nvSpPr>
        <p:spPr>
          <a:xfrm>
            <a:off x="93916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capped at 42%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515600" cy="990600"/>
          </a:xfrm>
          <a:prstGeom prst="roundRect">
            <a:avLst>
              <a:gd name="adj" fmla="val 11538"/>
            </a:avLst>
          </a:prstGeom>
          <a:solidFill>
            <a:srgbClr val="0D243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OPTIMIZED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noGrp="1"/>
          </p:cNvSpPr>
          <p:nvPr/>
        </p:nvSpPr>
        <p:spPr>
          <a:xfrm>
            <a:off x="1771650" y="4838700"/>
            <a:ext cx="8934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Full GPU offload · quantization · batching · constrained JSON · VRAM partitioning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locally; CPU-vs-ROCm comparison remains a final benchmark gap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>
            <a:extLst>
              <a:ext uri="{FF2B5EF4-FFF2-40B4-BE49-F238E27FC236}">
                <a16:creationId xmlns:a16="http://schemas.microsoft.com/office/drawing/2014/main" id="{A8BEF62C-B5C9-4968-882E-6367975B940A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59B96"/>
                </a:solidFill>
              </a:defRPr>
            </a:pPr>
            <a:r>
              <a:rPr sz="975" b="1">
                <a:solidFill>
                  <a:srgbClr val="159B96"/>
                </a:solidFill>
              </a:rPr>
              <a:t>12 / AMD OPTIMIZATION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5A3645-1FAA-41CE-B41D-2DA3D5CDB0D5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0D2430"/>
                </a:solidFill>
              </a:defRPr>
            </a:pPr>
            <a:r>
              <a:rPr sz="3000" b="1">
                <a:solidFill>
                  <a:srgbClr val="0D2430"/>
                </a:solidFill>
              </a:rPr>
              <a:t>The stack is tuned for throughput, validity, and shared VRAM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655271-68DD-4C02-ADAB-AD79803FF6B3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5D707A"/>
                </a:solidFill>
              </a:defRPr>
            </a:pPr>
            <a:r>
              <a:rPr sz="1200" b="1">
                <a:solidFill>
                  <a:srgbClr val="5D707A"/>
                </a:solidFill>
              </a:rPr>
              <a:t>13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A09DA-5A79-41C2-870F-5A7D4B6313ED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159B96"/>
          </a:solidFill>
          <a:ln w="0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E45AD0E-DB12-4145-AFD4-1C408FD69829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A8DB8C4-B60F-4DF8-9CD2-CC2D1CE0A6B1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F7F2C-CB2B-4827-8138-DDBF18120DDE}"/>
              </a:ext>
            </a:extLst>
          </p:cNvPr>
          <p:cNvSpPr>
            <a:spLocks noGrp="1"/>
          </p:cNvSpPr>
          <p:nvPr/>
        </p:nvSpPr>
        <p:spPr>
          <a:xfrm>
            <a:off x="7810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QUANTIZE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3DC3CA-D38A-4E37-A50B-F1896871820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Q4_K_M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8207A64-EC90-4644-AFE5-4F50872F70C7}"/>
              </a:ext>
            </a:extLst>
          </p:cNvPr>
          <p:cNvSpPr>
            <a:spLocks noGrp="1"/>
          </p:cNvSpPr>
          <p:nvPr/>
        </p:nvSpPr>
        <p:spPr>
          <a:xfrm>
            <a:off x="27622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DC0E9-583B-44B1-B806-93AC05614B28}"/>
              </a:ext>
            </a:extLst>
          </p:cNvPr>
          <p:cNvSpPr>
            <a:spLocks noGrp="1"/>
          </p:cNvSpPr>
          <p:nvPr/>
        </p:nvSpPr>
        <p:spPr>
          <a:xfrm>
            <a:off x="293370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F192EC2-6A0A-43D1-87EA-DFDECAF2C942}"/>
              </a:ext>
            </a:extLst>
          </p:cNvPr>
          <p:cNvSpPr>
            <a:spLocks noGrp="1"/>
          </p:cNvSpPr>
          <p:nvPr/>
        </p:nvSpPr>
        <p:spPr>
          <a:xfrm>
            <a:off x="29337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GPU OFFLOAD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BF5DDC-7CF9-47F0-A9C9-E8F1BC3A91DB}"/>
              </a:ext>
            </a:extLst>
          </p:cNvPr>
          <p:cNvSpPr>
            <a:spLocks noGrp="1"/>
          </p:cNvSpPr>
          <p:nvPr/>
        </p:nvSpPr>
        <p:spPr>
          <a:xfrm>
            <a:off x="29337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All model layers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B471B39-38F1-4EDD-B0A8-1B7EA50368B6}"/>
              </a:ext>
            </a:extLst>
          </p:cNvPr>
          <p:cNvSpPr>
            <a:spLocks noGrp="1"/>
          </p:cNvSpPr>
          <p:nvPr/>
        </p:nvSpPr>
        <p:spPr>
          <a:xfrm>
            <a:off x="49149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73E0E3-B4AC-4751-918A-195C328E350E}"/>
              </a:ext>
            </a:extLst>
          </p:cNvPr>
          <p:cNvSpPr>
            <a:spLocks noGrp="1"/>
          </p:cNvSpPr>
          <p:nvPr/>
        </p:nvSpPr>
        <p:spPr>
          <a:xfrm>
            <a:off x="5086350" y="1962150"/>
            <a:ext cx="381000" cy="47625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13BC7B2-76DD-468E-9AD6-2A4FA80F28B2}"/>
              </a:ext>
            </a:extLst>
          </p:cNvPr>
          <p:cNvSpPr>
            <a:spLocks noGrp="1"/>
          </p:cNvSpPr>
          <p:nvPr/>
        </p:nvSpPr>
        <p:spPr>
          <a:xfrm>
            <a:off x="50863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SLOTS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3919BE-B591-402F-B17C-BA23204C063D}"/>
              </a:ext>
            </a:extLst>
          </p:cNvPr>
          <p:cNvSpPr>
            <a:spLocks noGrp="1"/>
          </p:cNvSpPr>
          <p:nvPr/>
        </p:nvSpPr>
        <p:spPr>
          <a:xfrm>
            <a:off x="50863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32 concurrent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5A70F86-2D13-496B-B7E5-92C62C3B439B}"/>
              </a:ext>
            </a:extLst>
          </p:cNvPr>
          <p:cNvSpPr>
            <a:spLocks noGrp="1"/>
          </p:cNvSpPr>
          <p:nvPr/>
        </p:nvSpPr>
        <p:spPr>
          <a:xfrm>
            <a:off x="706755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CA0FA7D-58ED-4F58-A48B-CBBE8B40CAEA}"/>
              </a:ext>
            </a:extLst>
          </p:cNvPr>
          <p:cNvSpPr>
            <a:spLocks noGrp="1"/>
          </p:cNvSpPr>
          <p:nvPr/>
        </p:nvSpPr>
        <p:spPr>
          <a:xfrm>
            <a:off x="723900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6B907E-614E-4B5C-80E2-400F4DC905D3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BATCHING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9D8C9D-6FEA-4ADE-871A-4FEE0872758A}"/>
              </a:ext>
            </a:extLst>
          </p:cNvPr>
          <p:cNvSpPr>
            <a:spLocks noGrp="1"/>
          </p:cNvSpPr>
          <p:nvPr/>
        </p:nvSpPr>
        <p:spPr>
          <a:xfrm>
            <a:off x="723900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Continuous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015A97-07E9-4E38-BDC3-8CAB3069598C}"/>
              </a:ext>
            </a:extLst>
          </p:cNvPr>
          <p:cNvSpPr>
            <a:spLocks noGrp="1"/>
          </p:cNvSpPr>
          <p:nvPr/>
        </p:nvSpPr>
        <p:spPr>
          <a:xfrm>
            <a:off x="9220200" y="179070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2EDDBB-B9BF-4F8C-BC5B-AF045CC9035D}"/>
              </a:ext>
            </a:extLst>
          </p:cNvPr>
          <p:cNvSpPr>
            <a:spLocks noGrp="1"/>
          </p:cNvSpPr>
          <p:nvPr/>
        </p:nvSpPr>
        <p:spPr>
          <a:xfrm>
            <a:off x="9391650" y="196215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4FDBA5-114F-4C2A-845F-8707CFEFFD2D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JSON VALIDITY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8F6E73-9F93-4315-9240-FB90D6986AA5}"/>
              </a:ext>
            </a:extLst>
          </p:cNvPr>
          <p:cNvSpPr>
            <a:spLocks noGrp="1"/>
          </p:cNvSpPr>
          <p:nvPr/>
        </p:nvSpPr>
        <p:spPr>
          <a:xfrm>
            <a:off x="9391650" y="253365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Grammar-constrained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2120515-8680-4FA4-8957-7E7A3A1FA12D}"/>
              </a:ext>
            </a:extLst>
          </p:cNvPr>
          <p:cNvSpPr>
            <a:spLocks noGrp="1"/>
          </p:cNvSpPr>
          <p:nvPr/>
        </p:nvSpPr>
        <p:spPr>
          <a:xfrm>
            <a:off x="6096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713B8-AF00-4C7D-A665-2E9B57110217}"/>
              </a:ext>
            </a:extLst>
          </p:cNvPr>
          <p:cNvSpPr>
            <a:spLocks noGrp="1"/>
          </p:cNvSpPr>
          <p:nvPr/>
        </p:nvSpPr>
        <p:spPr>
          <a:xfrm>
            <a:off x="781050" y="3314700"/>
            <a:ext cx="381000" cy="47625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ABAD49D-5804-4B4B-AA07-5DB5E7EF1188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VRAM CAP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AAF77A4-7C37-4255-838D-C79D97B07E4E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Torch 42%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C379092-FAC6-4A61-8372-D5F34E01662E}"/>
              </a:ext>
            </a:extLst>
          </p:cNvPr>
          <p:cNvSpPr>
            <a:spLocks noGrp="1"/>
          </p:cNvSpPr>
          <p:nvPr/>
        </p:nvSpPr>
        <p:spPr>
          <a:xfrm>
            <a:off x="27622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38E7C50-073E-4BEF-B7C2-AD383796A18E}"/>
              </a:ext>
            </a:extLst>
          </p:cNvPr>
          <p:cNvSpPr>
            <a:spLocks noGrp="1"/>
          </p:cNvSpPr>
          <p:nvPr/>
        </p:nvSpPr>
        <p:spPr>
          <a:xfrm>
            <a:off x="2933700" y="3314700"/>
            <a:ext cx="381000" cy="47625"/>
          </a:xfrm>
          <a:prstGeom prst="rect">
            <a:avLst/>
          </a:prstGeom>
          <a:solidFill>
            <a:srgbClr val="39B982"/>
          </a:solidFill>
          <a:ln w="0">
            <a:solidFill>
              <a:srgbClr val="39B9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BD084F-B457-452B-8A32-67B078168699}"/>
              </a:ext>
            </a:extLst>
          </p:cNvPr>
          <p:cNvSpPr>
            <a:spLocks noGrp="1"/>
          </p:cNvSpPr>
          <p:nvPr/>
        </p:nvSpPr>
        <p:spPr>
          <a:xfrm>
            <a:off x="29337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CONTEXT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A1B1A6F-78C7-4E79-B9F8-B36906287B9F}"/>
              </a:ext>
            </a:extLst>
          </p:cNvPr>
          <p:cNvSpPr>
            <a:spLocks noGrp="1"/>
          </p:cNvSpPr>
          <p:nvPr/>
        </p:nvSpPr>
        <p:spPr>
          <a:xfrm>
            <a:off x="29337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Compact memory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A5680BD-5F6A-453E-99FA-CECD457964F3}"/>
              </a:ext>
            </a:extLst>
          </p:cNvPr>
          <p:cNvSpPr>
            <a:spLocks noGrp="1"/>
          </p:cNvSpPr>
          <p:nvPr/>
        </p:nvSpPr>
        <p:spPr>
          <a:xfrm>
            <a:off x="49149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263EA-2C59-46DD-ABEF-A3810AD0BF68}"/>
              </a:ext>
            </a:extLst>
          </p:cNvPr>
          <p:cNvSpPr>
            <a:spLocks noGrp="1"/>
          </p:cNvSpPr>
          <p:nvPr/>
        </p:nvSpPr>
        <p:spPr>
          <a:xfrm>
            <a:off x="508635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A6A70E-2CC6-466B-939C-5B74C60435D6}"/>
              </a:ext>
            </a:extLst>
          </p:cNvPr>
          <p:cNvSpPr>
            <a:spLocks noGrp="1"/>
          </p:cNvSpPr>
          <p:nvPr/>
        </p:nvSpPr>
        <p:spPr>
          <a:xfrm>
            <a:off x="50863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APPLIED RATE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A5CFB4-59D1-4297-A347-271A8E68703F}"/>
              </a:ext>
            </a:extLst>
          </p:cNvPr>
          <p:cNvSpPr>
            <a:spLocks noGrp="1"/>
          </p:cNvSpPr>
          <p:nvPr/>
        </p:nvSpPr>
        <p:spPr>
          <a:xfrm>
            <a:off x="50863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100%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C648400-13A1-452E-BAEC-C20F25310F7E}"/>
              </a:ext>
            </a:extLst>
          </p:cNvPr>
          <p:cNvSpPr>
            <a:spLocks noGrp="1"/>
          </p:cNvSpPr>
          <p:nvPr/>
        </p:nvSpPr>
        <p:spPr>
          <a:xfrm>
            <a:off x="706755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4D20D9E-3DAC-48F4-B0D7-B9D76264B450}"/>
              </a:ext>
            </a:extLst>
          </p:cNvPr>
          <p:cNvSpPr>
            <a:spLocks noGrp="1"/>
          </p:cNvSpPr>
          <p:nvPr/>
        </p:nvSpPr>
        <p:spPr>
          <a:xfrm>
            <a:off x="7239000" y="3314700"/>
            <a:ext cx="381000" cy="47625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11B5E9D-9CAF-4853-9636-71C87CC29F56}"/>
              </a:ext>
            </a:extLst>
          </p:cNvPr>
          <p:cNvSpPr>
            <a:spLocks noGrp="1"/>
          </p:cNvSpPr>
          <p:nvPr/>
        </p:nvSpPr>
        <p:spPr>
          <a:xfrm>
            <a:off x="723900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THROUGHPUT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2E1DB8A-D05D-46FB-ACDF-7254E99C3EE0}"/>
              </a:ext>
            </a:extLst>
          </p:cNvPr>
          <p:cNvSpPr>
            <a:spLocks noGrp="1"/>
          </p:cNvSpPr>
          <p:nvPr/>
        </p:nvSpPr>
        <p:spPr>
          <a:xfrm>
            <a:off x="723900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88.5 tok/s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3F187F2-1CC7-468A-BCBF-308BBC8407D3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9431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232B2A9-7329-4D1D-986D-62C286B269B8}"/>
              </a:ext>
            </a:extLst>
          </p:cNvPr>
          <p:cNvSpPr>
            <a:spLocks noGrp="1"/>
          </p:cNvSpPr>
          <p:nvPr/>
        </p:nvSpPr>
        <p:spPr>
          <a:xfrm>
            <a:off x="9391650" y="3314700"/>
            <a:ext cx="381000" cy="47625"/>
          </a:xfrm>
          <a:prstGeom prst="rect">
            <a:avLst/>
          </a:prstGeom>
          <a:solidFill>
            <a:srgbClr val="58A6D6"/>
          </a:solidFill>
          <a:ln w="0">
            <a:solidFill>
              <a:srgbClr val="58A6D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210251F-5EE0-41C5-BF4F-9D0DCDABCEAE}"/>
              </a:ext>
            </a:extLst>
          </p:cNvPr>
          <p:cNvSpPr>
            <a:spLocks noGrp="1"/>
          </p:cNvSpPr>
          <p:nvPr/>
        </p:nvSpPr>
        <p:spPr>
          <a:xfrm>
            <a:off x="9391650" y="3505200"/>
            <a:ext cx="1600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00" b="1">
                <a:solidFill>
                  <a:srgbClr val="0D2430"/>
                </a:solidFill>
              </a:defRPr>
            </a:pPr>
            <a:r>
              <a:rPr sz="1800" b="1">
                <a:solidFill>
                  <a:srgbClr val="0D2430"/>
                </a:solidFill>
              </a:rPr>
              <a:t>MEAN CALL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D1BF0F6-48F3-46AE-BA0C-3D2808C08F13}"/>
              </a:ext>
            </a:extLst>
          </p:cNvPr>
          <p:cNvSpPr>
            <a:spLocks noGrp="1"/>
          </p:cNvSpPr>
          <p:nvPr/>
        </p:nvSpPr>
        <p:spPr>
          <a:xfrm>
            <a:off x="9391650" y="38862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5D707A"/>
                </a:solidFill>
              </a:defRPr>
            </a:pPr>
            <a:r>
              <a:rPr sz="1050" b="0">
                <a:solidFill>
                  <a:srgbClr val="5D707A"/>
                </a:solidFill>
              </a:rPr>
              <a:t>0.285 s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44F5ACF-13A6-48A7-A554-A5AB48184C32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515600" cy="990600"/>
          </a:xfrm>
          <a:prstGeom prst="roundRect">
            <a:avLst>
              <a:gd name="adj" fmla="val 11538"/>
            </a:avLst>
          </a:prstGeom>
          <a:solidFill>
            <a:srgbClr val="0D243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E1C829-35AA-48CF-AD74-17AC339D4E50}"/>
              </a:ext>
            </a:extLst>
          </p:cNvPr>
          <p:cNvSpPr>
            <a:spLocks noGrp="1"/>
          </p:cNvSpPr>
          <p:nvPr/>
        </p:nvSpPr>
        <p:spPr>
          <a:xfrm>
            <a:off x="800100" y="48958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IT MATTERS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9B47050-8F31-4C42-9BB4-FF811DD12933}"/>
              </a:ext>
            </a:extLst>
          </p:cNvPr>
          <p:cNvSpPr>
            <a:spLocks noGrp="1"/>
          </p:cNvSpPr>
          <p:nvPr/>
        </p:nvSpPr>
        <p:spPr>
          <a:xfrm>
            <a:off x="1771650" y="4838700"/>
            <a:ext cx="8934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Optimization prevents simulator/LLM contention while keeping every leader decision parseable and executable.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FCC7153-7ABD-4C5F-8272-8522E4062639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Measured on AMD Radeon gfx1100 · 48 GiB · ROCm 7.2.1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162FFCB-C15C-4525-9E4E-778724C57269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5D707A"/>
                </a:solidFill>
              </a:defRPr>
            </a:pPr>
            <a:r>
              <a:rPr sz="825" b="0">
                <a:solidFill>
                  <a:srgbClr val="5D707A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094089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14 / CLAIM BOUNDARIES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Strong evidence is clearer when its limits are explicit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ESTABLISHED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noGrp="1"/>
          </p:cNvSpPr>
          <p:nvPr/>
        </p:nvSpPr>
        <p:spPr>
          <a:xfrm>
            <a:off x="2057400" y="18478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Agents reason, plan, call tools, use compact memory, and mutate simulator state.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MEASURED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noGrp="1"/>
          </p:cNvSpPr>
          <p:nvPr/>
        </p:nvSpPr>
        <p:spPr>
          <a:xfrm>
            <a:off x="2057400" y="304800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Local Radeon/ROCm runs provide latency, throughput, validity, and application metrics.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noGrp="1"/>
          </p:cNvSpPr>
          <p:nvPr/>
        </p:nvSpPr>
        <p:spPr>
          <a:xfrm>
            <a:off x="800100" y="4286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NOT CLAIMED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noGrp="1"/>
          </p:cNvSpPr>
          <p:nvPr/>
        </p:nvSpPr>
        <p:spPr>
          <a:xfrm>
            <a:off x="2057400" y="42481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Leadership always improves outcomes, official capacities, or causal significance from one seed.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554355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NEXT EVIDENCE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CPU-vs-ROCm same-model baseline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noGrp="1"/>
          </p:cNvSpPr>
          <p:nvPr/>
        </p:nvSpPr>
        <p:spPr>
          <a:xfrm>
            <a:off x="6819900" y="28384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Repeated benchmark capture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noGrp="1"/>
          </p:cNvSpPr>
          <p:nvPr/>
        </p:nvSpPr>
        <p:spPr>
          <a:xfrm>
            <a:off x="6819900" y="33337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Multiple random seeds and confidence intervals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noGrp="1"/>
          </p:cNvSpPr>
          <p:nvPr/>
        </p:nvSpPr>
        <p:spPr>
          <a:xfrm>
            <a:off x="6819900" y="38290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Official shelter capacity and damaged roads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Parameter calibration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WHY THIS HELPS THE SCORE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noGrp="1"/>
          </p:cNvSpPr>
          <p:nvPr/>
        </p:nvSpPr>
        <p:spPr>
          <a:xfrm>
            <a:off x="1866900" y="5486400"/>
            <a:ext cx="962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Clear boundaries make the working Agentic AI evidence more credible.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Separate demonstrated capability from the next validation milestone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>
            <a:extLst>
              <a:ext uri="{FF2B5EF4-FFF2-40B4-BE49-F238E27FC236}">
                <a16:creationId xmlns:a16="http://schemas.microsoft.com/office/drawing/2014/main" id="{E4726515-D2D0-4362-82C1-1E786B3B9A25}"/>
              </a:ext>
            </a:extLst>
          </p:cNvPr>
          <p:cNvSpPr>
            <a:spLocks noGrp="1"/>
          </p:cNvSpPr>
          <p:nvPr/>
        </p:nvSpPr>
        <p:spPr>
          <a:xfrm>
            <a:off x="609600" y="47625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8D1C9"/>
                </a:solidFill>
              </a:defRPr>
            </a:pPr>
            <a:r>
              <a:rPr sz="975" b="1">
                <a:solidFill>
                  <a:srgbClr val="38D1C9"/>
                </a:solidFill>
              </a:rPr>
              <a:t>15 / FINAL SCORECARD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91321-A9E2-465B-B1F1-D2907549FA46}"/>
              </a:ext>
            </a:extLst>
          </p:cNvPr>
          <p:cNvSpPr>
            <a:spLocks noGrp="1"/>
          </p:cNvSpPr>
          <p:nvPr/>
        </p:nvSpPr>
        <p:spPr>
          <a:xfrm>
            <a:off x="609600" y="762000"/>
            <a:ext cx="9048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</a:rPr>
              <a:t>Score the evidence—not the promise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F39858-3EAD-4C3D-8F2B-D665E21C7A97}"/>
              </a:ext>
            </a:extLst>
          </p:cNvPr>
          <p:cNvSpPr>
            <a:spLocks noGrp="1"/>
          </p:cNvSpPr>
          <p:nvPr/>
        </p:nvSpPr>
        <p:spPr>
          <a:xfrm>
            <a:off x="10934700" y="552450"/>
            <a:ext cx="571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A7BAC2"/>
                </a:solidFill>
              </a:defRPr>
            </a:pPr>
            <a:r>
              <a:rPr sz="1200" b="1">
                <a:solidFill>
                  <a:srgbClr val="A7BAC2"/>
                </a:solidFill>
              </a:rPr>
              <a:t>16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FB1FC1-728D-46F0-BCC0-57298C8AB290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1428750" cy="3810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82370B4-999A-4E76-9074-A4AABCE9C28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865440-1318-4A5A-A31D-AE9D62440336}"/>
              </a:ext>
            </a:extLst>
          </p:cNvPr>
          <p:cNvSpPr>
            <a:spLocks noGrp="1"/>
          </p:cNvSpPr>
          <p:nvPr/>
        </p:nvSpPr>
        <p:spPr>
          <a:xfrm>
            <a:off x="800100" y="1885950"/>
            <a:ext cx="457200" cy="57150"/>
          </a:xfrm>
          <a:prstGeom prst="rect">
            <a:avLst/>
          </a:prstGeom>
          <a:solidFill>
            <a:srgbClr val="38D1C9"/>
          </a:solidFill>
          <a:ln w="0">
            <a:solidFill>
              <a:srgbClr val="38D1C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B76A29-1953-404F-A7BE-C2BC228C0E99}"/>
              </a:ext>
            </a:extLst>
          </p:cNvPr>
          <p:cNvSpPr>
            <a:spLocks noGrp="1"/>
          </p:cNvSpPr>
          <p:nvPr/>
        </p:nvSpPr>
        <p:spPr>
          <a:xfrm>
            <a:off x="800100" y="21145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38D1C9"/>
                </a:solidFill>
              </a:defRPr>
            </a:pPr>
            <a:r>
              <a:rPr sz="1350" b="1">
                <a:solidFill>
                  <a:srgbClr val="38D1C9"/>
                </a:solidFill>
              </a:rPr>
              <a:t>FUNCTIONAL / 60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C24D74-D678-4B01-8E8A-035D7B6022F8}"/>
              </a:ext>
            </a:extLst>
          </p:cNvPr>
          <p:cNvSpPr>
            <a:spLocks noGrp="1"/>
          </p:cNvSpPr>
          <p:nvPr/>
        </p:nvSpPr>
        <p:spPr>
          <a:xfrm>
            <a:off x="2057400" y="18478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Working overseas-city pipeline, agent execution, playback, and scenario comparison.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61AB1B-925E-4F7A-9D42-B64B1B2CEA90}"/>
              </a:ext>
            </a:extLst>
          </p:cNvPr>
          <p:cNvSpPr>
            <a:spLocks noGrp="1"/>
          </p:cNvSpPr>
          <p:nvPr/>
        </p:nvSpPr>
        <p:spPr>
          <a:xfrm>
            <a:off x="609600" y="289560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BA4322-EBF8-4E09-BFD6-117583368991}"/>
              </a:ext>
            </a:extLst>
          </p:cNvPr>
          <p:cNvSpPr>
            <a:spLocks noGrp="1"/>
          </p:cNvSpPr>
          <p:nvPr/>
        </p:nvSpPr>
        <p:spPr>
          <a:xfrm>
            <a:off x="800100" y="3086100"/>
            <a:ext cx="457200" cy="57150"/>
          </a:xfrm>
          <a:prstGeom prst="rect">
            <a:avLst/>
          </a:prstGeom>
          <a:solidFill>
            <a:srgbClr val="F4CA64"/>
          </a:solidFill>
          <a:ln w="0">
            <a:solidFill>
              <a:srgbClr val="F4CA6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5A5703-11DE-43E5-8765-031FC1E2992A}"/>
              </a:ext>
            </a:extLst>
          </p:cNvPr>
          <p:cNvSpPr>
            <a:spLocks noGrp="1"/>
          </p:cNvSpPr>
          <p:nvPr/>
        </p:nvSpPr>
        <p:spPr>
          <a:xfrm>
            <a:off x="800100" y="331470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4CA64"/>
                </a:solidFill>
              </a:defRPr>
            </a:pPr>
            <a:r>
              <a:rPr sz="1350" b="1">
                <a:solidFill>
                  <a:srgbClr val="F4CA64"/>
                </a:solidFill>
              </a:rPr>
              <a:t>INNOVATION + UX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EDA0A0-C1F0-463E-A7F9-096D9E62D971}"/>
              </a:ext>
            </a:extLst>
          </p:cNvPr>
          <p:cNvSpPr>
            <a:spLocks noGrp="1"/>
          </p:cNvSpPr>
          <p:nvPr/>
        </p:nvSpPr>
        <p:spPr>
          <a:xfrm>
            <a:off x="2057400" y="304800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City-scale leader–resident coordination with inspectable road, capacity, and information mechanisms.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970159-6BD2-4819-8E44-CFB2EB906B2D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5086350" cy="990600"/>
          </a:xfrm>
          <a:prstGeom prst="roundRect">
            <a:avLst>
              <a:gd name="adj" fmla="val 11538"/>
            </a:avLst>
          </a:prstGeom>
          <a:solidFill>
            <a:srgbClr val="102532"/>
          </a:solidFill>
          <a:ln w="9525">
            <a:solidFill>
              <a:srgbClr val="24414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12F9533-5DF9-4ABA-9FF5-49D49D4781D2}"/>
              </a:ext>
            </a:extLst>
          </p:cNvPr>
          <p:cNvSpPr>
            <a:spLocks noGrp="1"/>
          </p:cNvSpPr>
          <p:nvPr/>
        </p:nvSpPr>
        <p:spPr>
          <a:xfrm>
            <a:off x="800100" y="4286250"/>
            <a:ext cx="457200" cy="57150"/>
          </a:xfrm>
          <a:prstGeom prst="rect">
            <a:avLst/>
          </a:prstGeom>
          <a:solidFill>
            <a:srgbClr val="F2766B"/>
          </a:solidFill>
          <a:ln w="0">
            <a:solidFill>
              <a:srgbClr val="F2766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589273-0B0B-4FE9-A11F-357DB064DBBD}"/>
              </a:ext>
            </a:extLst>
          </p:cNvPr>
          <p:cNvSpPr>
            <a:spLocks noGrp="1"/>
          </p:cNvSpPr>
          <p:nvPr/>
        </p:nvSpPr>
        <p:spPr>
          <a:xfrm>
            <a:off x="800100" y="4514850"/>
            <a:ext cx="1181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2766B"/>
                </a:solidFill>
              </a:defRPr>
            </a:pPr>
            <a:r>
              <a:rPr sz="1350" b="1">
                <a:solidFill>
                  <a:srgbClr val="F2766B"/>
                </a:solidFill>
              </a:rPr>
              <a:t>AMD + ROCM / 40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0CAEA2F-1CF3-43E5-951F-B47368F437D5}"/>
              </a:ext>
            </a:extLst>
          </p:cNvPr>
          <p:cNvSpPr>
            <a:spLocks noGrp="1"/>
          </p:cNvSpPr>
          <p:nvPr/>
        </p:nvSpPr>
        <p:spPr>
          <a:xfrm>
            <a:off x="2057400" y="4248150"/>
            <a:ext cx="3371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Real local Radeon inference is verified with concurrency, validity, throughput, and VRAM evidence.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8E1669C-9AF1-4CAD-821B-90099E162D97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554355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191532-1B67-4AE9-B11A-10BDF2D1A5E8}"/>
              </a:ext>
            </a:extLst>
          </p:cNvPr>
          <p:cNvSpPr>
            <a:spLocks noGrp="1"/>
          </p:cNvSpPr>
          <p:nvPr/>
        </p:nvSpPr>
        <p:spPr>
          <a:xfrm>
            <a:off x="6286500" y="188595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159B96"/>
                </a:solidFill>
              </a:defRPr>
            </a:pPr>
            <a:r>
              <a:rPr sz="1425" b="1">
                <a:solidFill>
                  <a:srgbClr val="159B96"/>
                </a:solidFill>
              </a:rPr>
              <a:t>LIVE DEMO ORDER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3ED774C-8903-4E49-9845-888ECFFBCE59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AEB1B82-9442-463D-AAB7-9950B32F7270}"/>
              </a:ext>
            </a:extLst>
          </p:cNvPr>
          <p:cNvSpPr>
            <a:spLocks noGrp="1"/>
          </p:cNvSpPr>
          <p:nvPr/>
        </p:nvSpPr>
        <p:spPr>
          <a:xfrm>
            <a:off x="6286500" y="23431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047ACA7-70AF-469F-895B-BB465EC282D8}"/>
              </a:ext>
            </a:extLst>
          </p:cNvPr>
          <p:cNvSpPr>
            <a:spLocks noGrp="1"/>
          </p:cNvSpPr>
          <p:nvPr/>
        </p:nvSpPr>
        <p:spPr>
          <a:xfrm>
            <a:off x="6819900" y="23431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Open the English overseas-city evidence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6C5346D-5776-4D9E-8615-6C48ABA5FE73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159B96"/>
          </a:solidFill>
          <a:ln w="9525">
            <a:solidFill>
              <a:srgbClr val="159B9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846489B-6ABC-4A35-BF3F-A1A25A46935D}"/>
              </a:ext>
            </a:extLst>
          </p:cNvPr>
          <p:cNvSpPr>
            <a:spLocks noGrp="1"/>
          </p:cNvSpPr>
          <p:nvPr/>
        </p:nvSpPr>
        <p:spPr>
          <a:xfrm>
            <a:off x="6286500" y="28384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58B807F-98BB-45F4-A02F-C72A28619172}"/>
              </a:ext>
            </a:extLst>
          </p:cNvPr>
          <p:cNvSpPr>
            <a:spLocks noGrp="1"/>
          </p:cNvSpPr>
          <p:nvPr/>
        </p:nvSpPr>
        <p:spPr>
          <a:xfrm>
            <a:off x="6819900" y="28384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0D2430"/>
                </a:solidFill>
              </a:defRPr>
            </a:pPr>
            <a:r>
              <a:rPr sz="1275" b="1">
                <a:solidFill>
                  <a:srgbClr val="0D2430"/>
                </a:solidFill>
              </a:rPr>
              <a:t>Show road tiers and the model adjacency network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F0229F-9DE8-4A70-A1BA-D925B18D15D8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AD646A-A7A0-44E2-AF93-2782F6A06FF0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E41CCB4-533B-4C32-96A4-0FF4E816BBC8}"/>
              </a:ext>
            </a:extLst>
          </p:cNvPr>
          <p:cNvSpPr>
            <a:spLocks noGrp="1"/>
          </p:cNvSpPr>
          <p:nvPr/>
        </p:nvSpPr>
        <p:spPr>
          <a:xfrm>
            <a:off x="6819900" y="33337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Run baseline vs LLM playback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AAF9FF7-F56B-4DBB-A911-1705532CA841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CA980A2-25F8-4A26-A48D-079E6D531320}"/>
              </a:ext>
            </a:extLst>
          </p:cNvPr>
          <p:cNvSpPr>
            <a:spLocks noGrp="1"/>
          </p:cNvSpPr>
          <p:nvPr/>
        </p:nvSpPr>
        <p:spPr>
          <a:xfrm>
            <a:off x="6286500" y="38290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559D2E-0711-4D5E-817E-ECFB50BF09EB}"/>
              </a:ext>
            </a:extLst>
          </p:cNvPr>
          <p:cNvSpPr>
            <a:spLocks noGrp="1"/>
          </p:cNvSpPr>
          <p:nvPr/>
        </p:nvSpPr>
        <p:spPr>
          <a:xfrm>
            <a:off x="6819900" y="38290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Show the local LLM health / GPU monitor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EA4402E-2DAD-4A58-8489-C89A57C9DF3A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oundRect">
            <a:avLst>
              <a:gd name="adj" fmla="val 50000"/>
            </a:avLst>
          </a:prstGeom>
          <a:solidFill>
            <a:srgbClr val="E9F5F3"/>
          </a:solidFill>
          <a:ln w="9525">
            <a:solidFill>
              <a:srgbClr val="D6E1E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ED0FC2-D7A6-4722-B23D-F0D6BC2A5EE6}"/>
              </a:ext>
            </a:extLst>
          </p:cNvPr>
          <p:cNvSpPr>
            <a:spLocks noGrp="1"/>
          </p:cNvSpPr>
          <p:nvPr/>
        </p:nvSpPr>
        <p:spPr>
          <a:xfrm>
            <a:off x="6286500" y="43243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159B96"/>
                </a:solidFill>
              </a:defRPr>
            </a:pPr>
            <a:r>
              <a:rPr sz="1200" b="1">
                <a:solidFill>
                  <a:srgbClr val="159B96"/>
                </a:solidFill>
              </a:rPr>
              <a:t>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E71FAAE-9283-47C3-8475-C345CB9DEF33}"/>
              </a:ext>
            </a:extLst>
          </p:cNvPr>
          <p:cNvSpPr>
            <a:spLocks noGrp="1"/>
          </p:cNvSpPr>
          <p:nvPr/>
        </p:nvSpPr>
        <p:spPr>
          <a:xfrm>
            <a:off x="6819900" y="4324350"/>
            <a:ext cx="432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0D2430"/>
                </a:solidFill>
              </a:defRPr>
            </a:pPr>
            <a:r>
              <a:rPr sz="1275" b="0">
                <a:solidFill>
                  <a:srgbClr val="0D2430"/>
                </a:solidFill>
              </a:rPr>
              <a:t>Open measured-run metrics: 4,242 calls, 0 failures, 100% applied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F70AE8-5607-4CCD-8964-57054A0D55A8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1">
                <a:solidFill>
                  <a:srgbClr val="38D1C9"/>
                </a:solidFill>
              </a:defRPr>
            </a:pPr>
            <a:r>
              <a:rPr sz="1125" b="1">
                <a:solidFill>
                  <a:srgbClr val="38D1C9"/>
                </a:solidFill>
              </a:rPr>
              <a:t>SUBMISSION CLAIM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AE84C7-5415-4F53-B0F3-25374338533D}"/>
              </a:ext>
            </a:extLst>
          </p:cNvPr>
          <p:cNvSpPr>
            <a:spLocks noGrp="1"/>
          </p:cNvSpPr>
          <p:nvPr/>
        </p:nvSpPr>
        <p:spPr>
          <a:xfrm>
            <a:off x="1866900" y="5486400"/>
            <a:ext cx="962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QuakeSense is a functional Agentic AI system whose local LLM decisions execute inside a city-scale emergency simulation on AMD Radeon + ROCm.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09CD580-46CB-4349-9262-89B21938A850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Show working agents, Radeon evidence, and measurable application value—without overstating causality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569F422-3C4D-4F25-A3DC-FA7BD157CA8A}"/>
              </a:ext>
            </a:extLst>
          </p:cNvPr>
          <p:cNvSpPr>
            <a:spLocks noGrp="1"/>
          </p:cNvSpPr>
          <p:nvPr/>
        </p:nvSpPr>
        <p:spPr>
          <a:xfrm>
            <a:off x="9810750" y="6477000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A7BAC2"/>
                </a:solidFill>
              </a:defRPr>
            </a:pPr>
            <a:r>
              <a:rPr sz="825" b="0">
                <a:solidFill>
                  <a:srgbClr val="A7BA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5E16C1D-9708-40F6-BA94-BAB0E03395B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RESEARCH SIGNIFICANCE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4DA03C-6BB6-456A-8226-1B0BB2C7AF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Why this work matters beyond a single demo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943F42-8221-475B-9D54-9B74DEBC743C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22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67128F4-8B3B-4CD3-AF5F-03D4135A375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E89266D-9E79-4E60-9AA3-F7783744B1F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7CA432-AF81-4A91-A8B4-25FCFD85F41B}"/>
              </a:ext>
            </a:extLst>
          </p:cNvPr>
          <p:cNvSpPr>
            <a:spLocks noGrp="1"/>
          </p:cNvSpPr>
          <p:nvPr/>
        </p:nvSpPr>
        <p:spPr>
          <a:xfrm>
            <a:off x="8001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SCIENTIFIC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DCF0F2-31E7-4A2E-9C0A-C8FE4CB482CB}"/>
              </a:ext>
            </a:extLst>
          </p:cNvPr>
          <p:cNvSpPr>
            <a:spLocks noGrp="1"/>
          </p:cNvSpPr>
          <p:nvPr/>
        </p:nvSpPr>
        <p:spPr>
          <a:xfrm>
            <a:off x="8001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Connects microscopic behavior, physical capacity, information, and city-scale outcomes in one auditable model.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B7D1DCE-7A90-4F54-8F18-83AE34A3FB75}"/>
              </a:ext>
            </a:extLst>
          </p:cNvPr>
          <p:cNvSpPr>
            <a:spLocks noGrp="1"/>
          </p:cNvSpPr>
          <p:nvPr/>
        </p:nvSpPr>
        <p:spPr>
          <a:xfrm>
            <a:off x="8001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39FBCD-A3EE-4617-A253-F879CA54A464}"/>
              </a:ext>
            </a:extLst>
          </p:cNvPr>
          <p:cNvSpPr>
            <a:spLocks noGrp="1"/>
          </p:cNvSpPr>
          <p:nvPr/>
        </p:nvSpPr>
        <p:spPr>
          <a:xfrm>
            <a:off x="33718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4F4CA6-34AC-4FFB-9804-8E13FC6F9CDD}"/>
              </a:ext>
            </a:extLst>
          </p:cNvPr>
          <p:cNvSpPr>
            <a:spLocks noGrp="1"/>
          </p:cNvSpPr>
          <p:nvPr/>
        </p:nvSpPr>
        <p:spPr>
          <a:xfrm>
            <a:off x="35623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COMPARATIVE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0116EF-D513-4767-B1C7-5ED292558C4B}"/>
              </a:ext>
            </a:extLst>
          </p:cNvPr>
          <p:cNvSpPr>
            <a:spLocks noGrp="1"/>
          </p:cNvSpPr>
          <p:nvPr/>
        </p:nvSpPr>
        <p:spPr>
          <a:xfrm>
            <a:off x="35623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Runs one evidence structure across seven overseas cities, exposing when the same coordination policy transfers—or fails.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9168092-3B88-465B-89D7-B701A2E3C544}"/>
              </a:ext>
            </a:extLst>
          </p:cNvPr>
          <p:cNvSpPr>
            <a:spLocks noGrp="1"/>
          </p:cNvSpPr>
          <p:nvPr/>
        </p:nvSpPr>
        <p:spPr>
          <a:xfrm>
            <a:off x="35623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084C58C-6670-4B19-85F6-03F9A1E26A13}"/>
              </a:ext>
            </a:extLst>
          </p:cNvPr>
          <p:cNvSpPr>
            <a:spLocks noGrp="1"/>
          </p:cNvSpPr>
          <p:nvPr/>
        </p:nvSpPr>
        <p:spPr>
          <a:xfrm>
            <a:off x="613410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9CEC69-BDF4-476F-9376-AC1BBC50E205}"/>
              </a:ext>
            </a:extLst>
          </p:cNvPr>
          <p:cNvSpPr>
            <a:spLocks noGrp="1"/>
          </p:cNvSpPr>
          <p:nvPr/>
        </p:nvSpPr>
        <p:spPr>
          <a:xfrm>
            <a:off x="632460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PRACTICAL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79837-8769-407E-9235-1AD7AD2EE623}"/>
              </a:ext>
            </a:extLst>
          </p:cNvPr>
          <p:cNvSpPr>
            <a:spLocks noGrp="1"/>
          </p:cNvSpPr>
          <p:nvPr/>
        </p:nvSpPr>
        <p:spPr>
          <a:xfrm>
            <a:off x="632460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Lets planners stress-test shelter capacity, route disruption, warning timing, and assistance needs before an emergency.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E2B1515-D09F-449B-8ECC-22B84749678D}"/>
              </a:ext>
            </a:extLst>
          </p:cNvPr>
          <p:cNvSpPr>
            <a:spLocks noGrp="1"/>
          </p:cNvSpPr>
          <p:nvPr/>
        </p:nvSpPr>
        <p:spPr>
          <a:xfrm>
            <a:off x="632460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3E74B39-B084-4B40-ACCD-03A9BBB86553}"/>
              </a:ext>
            </a:extLst>
          </p:cNvPr>
          <p:cNvSpPr>
            <a:spLocks noGrp="1"/>
          </p:cNvSpPr>
          <p:nvPr/>
        </p:nvSpPr>
        <p:spPr>
          <a:xfrm>
            <a:off x="8896350" y="1809750"/>
            <a:ext cx="2457450" cy="3429000"/>
          </a:xfrm>
          <a:prstGeom prst="roundRect">
            <a:avLst>
              <a:gd name="adj" fmla="val 4651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A1A9B99-A4BB-45E5-8F2F-4120FE3587A6}"/>
              </a:ext>
            </a:extLst>
          </p:cNvPr>
          <p:cNvSpPr>
            <a:spLocks noGrp="1"/>
          </p:cNvSpPr>
          <p:nvPr/>
        </p:nvSpPr>
        <p:spPr>
          <a:xfrm>
            <a:off x="9086850" y="2057400"/>
            <a:ext cx="2076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6D6BD"/>
                </a:solidFill>
              </a:defRPr>
            </a:pPr>
            <a:r>
              <a:rPr sz="1125" b="1">
                <a:solidFill>
                  <a:srgbClr val="26D6BD"/>
                </a:solidFill>
              </a:rPr>
              <a:t>RESPONSIBLE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B028518-CEBE-4B2E-A7F2-71E7883F1AB4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20764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5F7FB"/>
                </a:solidFill>
              </a:defRPr>
            </a:pPr>
            <a:r>
              <a:rPr sz="1500" b="1">
                <a:solidFill>
                  <a:srgbClr val="F5F7FB"/>
                </a:solidFill>
              </a:rPr>
              <a:t>Uses synthetic, population-conserving trajectories instead of reconstructing identifiable individuals; assumptions remain visible.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8CD6F1D-DD52-4583-93A5-29E33AAB4A4D}"/>
              </a:ext>
            </a:extLst>
          </p:cNvPr>
          <p:cNvSpPr>
            <a:spLocks noGrp="1"/>
          </p:cNvSpPr>
          <p:nvPr/>
        </p:nvSpPr>
        <p:spPr>
          <a:xfrm>
            <a:off x="9086850" y="4819650"/>
            <a:ext cx="685800" cy="47625"/>
          </a:xfrm>
          <a:prstGeom prst="roundRect">
            <a:avLst>
              <a:gd name="adj" fmla="val 50000"/>
            </a:avLst>
          </a:prstGeom>
          <a:solidFill>
            <a:srgbClr val="FF9D3D"/>
          </a:solidFill>
          <a:ln w="9525">
            <a:solidFill>
              <a:srgbClr val="FF9D3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46803279-6875-4FA3-AB8B-30A66E0ADCCC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10744200" cy="685800"/>
          </a:xfrm>
          <a:prstGeom prst="roundRect">
            <a:avLst>
              <a:gd name="adj" fmla="val 16667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4EB269-FB4B-4FC4-BBD1-F96917EB094C}"/>
              </a:ext>
            </a:extLst>
          </p:cNvPr>
          <p:cNvSpPr>
            <a:spLocks noGrp="1"/>
          </p:cNvSpPr>
          <p:nvPr/>
        </p:nvSpPr>
        <p:spPr>
          <a:xfrm>
            <a:off x="800100" y="563880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F3C66C"/>
                </a:solidFill>
              </a:defRPr>
            </a:pPr>
            <a:r>
              <a:rPr sz="1125" b="1">
                <a:solidFill>
                  <a:srgbClr val="F3C66C"/>
                </a:solidFill>
              </a:rPr>
              <a:t>Decision-support boundary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7BD47A-6D6B-42F7-BF00-55ED0C9D1F3A}"/>
              </a:ext>
            </a:extLst>
          </p:cNvPr>
          <p:cNvSpPr>
            <a:spLocks noGrp="1"/>
          </p:cNvSpPr>
          <p:nvPr/>
        </p:nvSpPr>
        <p:spPr>
          <a:xfrm>
            <a:off x="2990850" y="5619750"/>
            <a:ext cx="809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9AA9C2"/>
                </a:solidFill>
              </a:defRPr>
            </a:pPr>
            <a:r>
              <a:rPr sz="1275" b="0">
                <a:solidFill>
                  <a:srgbClr val="9AA9C2"/>
                </a:solidFill>
              </a:rPr>
              <a:t>A scenario laboratory—not a forecast, not an official evacuation plan, and not evidence of causal benefit without external validation.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02C2D5C-0C12-421B-BEF1-AEFF9E8EC44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Contribution: inspectable counterfactual evidence for human–AI emergency coordination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02527D3-688A-4C57-9E44-693618EFBB6D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2C008F0-185B-41F3-8BD3-D6940C8C6F1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26D6BD"/>
                </a:solidFill>
              </a:defRPr>
            </a:pPr>
            <a:r>
              <a:rPr sz="1275" b="1">
                <a:solidFill>
                  <a:srgbClr val="26D6BD"/>
                </a:solidFill>
              </a:rPr>
              <a:t>ACKNOWLEDGMENT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D0D872-1F34-44ED-A5CE-A5FE78F0214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001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>
                <a:solidFill>
                  <a:srgbClr val="F5F7FB"/>
                </a:solidFill>
              </a:defRPr>
            </a:pPr>
            <a:r>
              <a:rPr sz="2850" b="1">
                <a:solidFill>
                  <a:srgbClr val="F5F7FB"/>
                </a:solidFill>
              </a:rPr>
              <a:t>Cloud scale made the evidence inspectable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D3F91E-B87E-4B34-9296-EFBAC88B5325}"/>
              </a:ext>
            </a:extLst>
          </p:cNvPr>
          <p:cNvSpPr>
            <a:spLocks noGrp="1"/>
          </p:cNvSpPr>
          <p:nvPr/>
        </p:nvSpPr>
        <p:spPr>
          <a:xfrm>
            <a:off x="10858500" y="476250"/>
            <a:ext cx="647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9AA9C2"/>
                </a:solidFill>
              </a:defRPr>
            </a:pPr>
            <a:r>
              <a:rPr sz="1650" b="1">
                <a:solidFill>
                  <a:srgbClr val="9AA9C2"/>
                </a:solidFill>
              </a:rPr>
              <a:t>23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9AD6D3E-7654-4AFD-9B9B-18B65677F2A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428750" cy="3810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C3DB8D2-28E1-4F02-97B9-57381171AA41}"/>
              </a:ext>
            </a:extLst>
          </p:cNvPr>
          <p:cNvSpPr>
            <a:spLocks noGrp="1"/>
          </p:cNvSpPr>
          <p:nvPr/>
        </p:nvSpPr>
        <p:spPr>
          <a:xfrm>
            <a:off x="609600" y="1733550"/>
            <a:ext cx="10744200" cy="3143250"/>
          </a:xfrm>
          <a:prstGeom prst="roundRect">
            <a:avLst>
              <a:gd name="adj" fmla="val 3636"/>
            </a:avLst>
          </a:prstGeom>
          <a:solidFill>
            <a:srgbClr val="0E1728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481F3C-4049-43C1-B938-471DB03A2C6B}"/>
              </a:ext>
            </a:extLst>
          </p:cNvPr>
          <p:cNvSpPr>
            <a:spLocks noGrp="1"/>
          </p:cNvSpPr>
          <p:nvPr/>
        </p:nvSpPr>
        <p:spPr>
          <a:xfrm>
            <a:off x="914400" y="2095500"/>
            <a:ext cx="990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F5F7FB"/>
                </a:solidFill>
              </a:defRPr>
            </a:pPr>
            <a:r>
              <a:rPr sz="3150" b="1">
                <a:solidFill>
                  <a:srgbClr val="F5F7FB"/>
                </a:solidFill>
              </a:rPr>
              <a:t>THANK YOU, AMD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B5EF53C-6D1A-4F40-8846-D47D57EF232A}"/>
              </a:ext>
            </a:extLst>
          </p:cNvPr>
          <p:cNvSpPr>
            <a:spLocks noGrp="1"/>
          </p:cNvSpPr>
          <p:nvPr/>
        </p:nvSpPr>
        <p:spPr>
          <a:xfrm>
            <a:off x="4895850" y="2857500"/>
            <a:ext cx="2400300" cy="57150"/>
          </a:xfrm>
          <a:prstGeom prst="roundRect">
            <a:avLst>
              <a:gd name="adj" fmla="val 50000"/>
            </a:avLst>
          </a:prstGeom>
          <a:solidFill>
            <a:srgbClr val="26D6BD"/>
          </a:solidFill>
          <a:ln w="9525">
            <a:solidFill>
              <a:srgbClr val="26D6B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6452A7B-FEE6-4C60-B5F0-A9C5F9B6BC2E}"/>
              </a:ext>
            </a:extLst>
          </p:cNvPr>
          <p:cNvSpPr>
            <a:spLocks noGrp="1"/>
          </p:cNvSpPr>
          <p:nvPr/>
        </p:nvSpPr>
        <p:spPr>
          <a:xfrm>
            <a:off x="1390650" y="3257550"/>
            <a:ext cx="9410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F5F7FB"/>
                </a:solidFill>
              </a:defRPr>
            </a:pPr>
            <a:r>
              <a:rPr sz="1950" b="1">
                <a:solidFill>
                  <a:srgbClr val="F5F7FB"/>
                </a:solidFill>
              </a:rPr>
              <a:t>We gratefully acknowledge AMD for providing cloud computing resources that supported large-scale data preparation, multi-city simulation, rendering, and validation.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93D49A-0CE4-4F03-8574-7FD81F56A9F5}"/>
              </a:ext>
            </a:extLst>
          </p:cNvPr>
          <p:cNvSpPr>
            <a:spLocks noGrp="1"/>
          </p:cNvSpPr>
          <p:nvPr/>
        </p:nvSpPr>
        <p:spPr>
          <a:xfrm>
            <a:off x="1962150" y="4191000"/>
            <a:ext cx="8267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>
                <a:solidFill>
                  <a:srgbClr val="9AA9C2"/>
                </a:solidFill>
              </a:defRPr>
            </a:pPr>
            <a:r>
              <a:rPr sz="1350" b="0">
                <a:solidFill>
                  <a:srgbClr val="9AA9C2"/>
                </a:solidFill>
              </a:rPr>
              <a:t>AMD Radeon + ROCm also enabled local inference and performance evidence in the submitted system.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93D4103-2330-4A33-9C23-73D109590BCD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8953500" cy="685800"/>
          </a:xfrm>
          <a:prstGeom prst="roundRect">
            <a:avLst>
              <a:gd name="adj" fmla="val 16667"/>
            </a:avLst>
          </a:prstGeom>
          <a:solidFill>
            <a:srgbClr val="111A2D"/>
          </a:solidFill>
          <a:ln w="9525">
            <a:solidFill>
              <a:srgbClr val="24324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A01259-9138-4BEB-A49F-50DE1E9C30FF}"/>
              </a:ext>
            </a:extLst>
          </p:cNvPr>
          <p:cNvSpPr>
            <a:spLocks noGrp="1"/>
          </p:cNvSpPr>
          <p:nvPr/>
        </p:nvSpPr>
        <p:spPr>
          <a:xfrm>
            <a:off x="1924050" y="5410200"/>
            <a:ext cx="834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3C66C"/>
                </a:solidFill>
              </a:defRPr>
            </a:pPr>
            <a:r>
              <a:rPr sz="1275" b="1">
                <a:solidFill>
                  <a:srgbClr val="F3C66C"/>
                </a:solidFill>
              </a:rPr>
              <a:t>This acknowledgment does not imply AMD endorsement of the methods, scenarios, results, or conclusions.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2E6CD78-4D2E-459F-8EB1-47FFC1F755A1}"/>
              </a:ext>
            </a:extLst>
          </p:cNvPr>
          <p:cNvSpPr>
            <a:spLocks noGrp="1"/>
          </p:cNvSpPr>
          <p:nvPr/>
        </p:nvSpPr>
        <p:spPr>
          <a:xfrm>
            <a:off x="609600" y="6477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Agentic AI for inspectable emergency-simulation evidence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E6D783-7205-4C2C-AF18-5830037BCAC3}"/>
              </a:ext>
            </a:extLst>
          </p:cNvPr>
          <p:cNvSpPr>
            <a:spLocks noGrp="1"/>
          </p:cNvSpPr>
          <p:nvPr/>
        </p:nvSpPr>
        <p:spPr>
          <a:xfrm>
            <a:off x="9715500" y="6477000"/>
            <a:ext cx="1866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75" b="0">
                <a:solidFill>
                  <a:srgbClr val="9AA9C2"/>
                </a:solidFill>
              </a:defRPr>
            </a:pPr>
            <a:r>
              <a:rPr sz="975" b="0">
                <a:solidFill>
                  <a:srgbClr val="9AA9C2"/>
                </a:solidFill>
              </a:rPr>
              <a:t>QuakeSense · 2026</a:t>
            </a:r>
          </a:p>
        </p:txBody>
      </p:sp>
    </p:spTree>
    <p:extLst>
      <p:ext uri="{BB962C8B-B14F-4D97-AF65-F5344CB8AC3E}">
        <p14:creationId xmlns:p14="http://schemas.microsoft.com/office/powerpoint/2010/main" val="162562354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2608</Words>
  <Application>Microsoft Office PowerPoint</Application>
  <DocSecurity>0</DocSecurity>
  <PresentationFormat>宽屏</PresentationFormat>
  <Paragraphs>393</Paragraphs>
  <Slides>21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3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chunlin bian</cp:lastModifiedBy>
  <cp:revision>1</cp:revision>
  <dcterms:created xsi:type="dcterms:W3CDTF">2026-08-05T19:01:01Z</dcterms:created>
  <dcterms:modified xsi:type="dcterms:W3CDTF">2026-08-05T19:06:37Z</dcterms:modified>
</cp:coreProperties>
</file>