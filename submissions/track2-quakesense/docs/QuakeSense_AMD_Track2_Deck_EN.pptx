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d974ea6ad944ad" /><Relationship Type="http://schemas.openxmlformats.org/officeDocument/2006/relationships/extended-properties" Target="/docProps/app.xml" Id="Rd677a7641d144dc7" /><Relationship Type="http://schemas.openxmlformats.org/officeDocument/2006/relationships/officeDocument" Target="/ppt/presentation.xml" Id="R3e6214be62af45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49dd1fd32543bf"/>
  </p:sldMasterIdLst>
  <p:notesMasterIdLst>
    <p:notesMasterId xmlns:r="http://schemas.openxmlformats.org/officeDocument/2006/relationships" r:id="R77cc7e66b7b14fec"/>
  </p:notesMasterIdLst>
  <p:sldIdLst>
    <p:sldId xmlns:r="http://schemas.openxmlformats.org/officeDocument/2006/relationships" id="256" r:id="Rac63c2c3ae2440dc"/>
    <p:sldId xmlns:r="http://schemas.openxmlformats.org/officeDocument/2006/relationships" id="257" r:id="R69af74fb2ca9415d"/>
    <p:sldId xmlns:r="http://schemas.openxmlformats.org/officeDocument/2006/relationships" id="258" r:id="R1a8ce4bed19643c4"/>
    <p:sldId xmlns:r="http://schemas.openxmlformats.org/officeDocument/2006/relationships" id="259" r:id="Rc089ff81a7a3409f"/>
    <p:sldId xmlns:r="http://schemas.openxmlformats.org/officeDocument/2006/relationships" id="260" r:id="R28efae611a4d47b1"/>
    <p:sldId xmlns:r="http://schemas.openxmlformats.org/officeDocument/2006/relationships" id="261" r:id="R0bd1c1c2f3324b00"/>
    <p:sldId xmlns:r="http://schemas.openxmlformats.org/officeDocument/2006/relationships" id="262" r:id="R8c78eff1e09d45dd"/>
    <p:sldId xmlns:r="http://schemas.openxmlformats.org/officeDocument/2006/relationships" id="263" r:id="Rccae59f34bd346c2"/>
    <p:sldId xmlns:r="http://schemas.openxmlformats.org/officeDocument/2006/relationships" id="264" r:id="Rbd5ab6492dbc4b41"/>
    <p:sldId xmlns:r="http://schemas.openxmlformats.org/officeDocument/2006/relationships" id="265" r:id="R573d217849f24f9e"/>
    <p:sldId xmlns:r="http://schemas.openxmlformats.org/officeDocument/2006/relationships" id="266" r:id="Rbf15c80f39064153"/>
    <p:sldId xmlns:r="http://schemas.openxmlformats.org/officeDocument/2006/relationships" id="267" r:id="R736acec5ef774c82"/>
    <p:sldId xmlns:r="http://schemas.openxmlformats.org/officeDocument/2006/relationships" id="268" r:id="Rb1d768a5d8a948a0"/>
    <p:sldId xmlns:r="http://schemas.openxmlformats.org/officeDocument/2006/relationships" id="269" r:id="Rdb753aed0f1b45f3"/>
    <p:sldId xmlns:r="http://schemas.openxmlformats.org/officeDocument/2006/relationships" id="270" r:id="Rbde73b30ced44ba6"/>
    <p:sldId xmlns:r="http://schemas.openxmlformats.org/officeDocument/2006/relationships" id="271" r:id="R40c7ca6fef1247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029b34d4e740fe" /><Relationship Type="http://schemas.openxmlformats.org/officeDocument/2006/relationships/slideMaster" Target="/ppt/slideMasters/slideMaster1.xml" Id="Rd749dd1fd32543bf" /><Relationship Type="http://schemas.openxmlformats.org/officeDocument/2006/relationships/notesMaster" Target="/ppt/notesMasters/notesMaster1.xml" Id="R77cc7e66b7b14fec" /><Relationship Type="http://schemas.openxmlformats.org/officeDocument/2006/relationships/presProps" Target="/ppt/presProps.xml" Id="Rdaf8bae6284b4a6f" /><Relationship Type="http://schemas.openxmlformats.org/officeDocument/2006/relationships/tableStyles" Target="/ppt/tableStyles.xml" Id="R3a6130594bf14fd8" /><Relationship Type="http://schemas.openxmlformats.org/officeDocument/2006/relationships/slide" Target="/ppt/slides/slide1.xml" Id="Rac63c2c3ae2440dc" /><Relationship Type="http://schemas.openxmlformats.org/officeDocument/2006/relationships/slide" Target="/ppt/slides/slide2.xml" Id="R69af74fb2ca9415d" /><Relationship Type="http://schemas.openxmlformats.org/officeDocument/2006/relationships/slide" Target="/ppt/slides/slide3.xml" Id="R1a8ce4bed19643c4" /><Relationship Type="http://schemas.openxmlformats.org/officeDocument/2006/relationships/slide" Target="/ppt/slides/slide4.xml" Id="Rc089ff81a7a3409f" /><Relationship Type="http://schemas.openxmlformats.org/officeDocument/2006/relationships/slide" Target="/ppt/slides/slide5.xml" Id="R28efae611a4d47b1" /><Relationship Type="http://schemas.openxmlformats.org/officeDocument/2006/relationships/slide" Target="/ppt/slides/slide6.xml" Id="R0bd1c1c2f3324b00" /><Relationship Type="http://schemas.openxmlformats.org/officeDocument/2006/relationships/slide" Target="/ppt/slides/slide7.xml" Id="R8c78eff1e09d45dd" /><Relationship Type="http://schemas.openxmlformats.org/officeDocument/2006/relationships/slide" Target="/ppt/slides/slide8.xml" Id="Rccae59f34bd346c2" /><Relationship Type="http://schemas.openxmlformats.org/officeDocument/2006/relationships/slide" Target="/ppt/slides/slide9.xml" Id="Rbd5ab6492dbc4b41" /><Relationship Type="http://schemas.openxmlformats.org/officeDocument/2006/relationships/slide" Target="/ppt/slides/slide10.xml" Id="R573d217849f24f9e" /><Relationship Type="http://schemas.openxmlformats.org/officeDocument/2006/relationships/slide" Target="/ppt/slides/slide11.xml" Id="Rbf15c80f39064153" /><Relationship Type="http://schemas.openxmlformats.org/officeDocument/2006/relationships/slide" Target="/ppt/slides/slide12.xml" Id="R736acec5ef774c82" /><Relationship Type="http://schemas.openxmlformats.org/officeDocument/2006/relationships/slide" Target="/ppt/slides/slide13.xml" Id="Rb1d768a5d8a948a0" /><Relationship Type="http://schemas.openxmlformats.org/officeDocument/2006/relationships/slide" Target="/ppt/slides/slide14.xml" Id="Rdb753aed0f1b45f3" /><Relationship Type="http://schemas.openxmlformats.org/officeDocument/2006/relationships/slide" Target="/ppt/slides/slide15.xml" Id="Rbde73b30ced44ba6" /><Relationship Type="http://schemas.openxmlformats.org/officeDocument/2006/relationships/slide" Target="/ppt/slides/slide16.xml" Id="R40c7ca6fef1247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17867861df43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9f1de9c5dd46d3" /><Relationship Type="http://schemas.openxmlformats.org/officeDocument/2006/relationships/notesMaster" Target="/ppt/notesMasters/notesMaster1.xml" Id="R0f0e44964b3a4d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2d994097584382" /><Relationship Type="http://schemas.openxmlformats.org/officeDocument/2006/relationships/notesMaster" Target="/ppt/notesMasters/notesMaster1.xml" Id="R1f2330e2ffdf40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02fd67f5dc4ab4" /><Relationship Type="http://schemas.openxmlformats.org/officeDocument/2006/relationships/notesMaster" Target="/ppt/notesMasters/notesMaster1.xml" Id="R6c74ade3e85446c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1c5ff57d3047b3" /><Relationship Type="http://schemas.openxmlformats.org/officeDocument/2006/relationships/notesMaster" Target="/ppt/notesMasters/notesMaster1.xml" Id="R82420291e1924b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1121e767350434a" /><Relationship Type="http://schemas.openxmlformats.org/officeDocument/2006/relationships/notesMaster" Target="/ppt/notesMasters/notesMaster1.xml" Id="Rdf0a30f4c8774f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940282dc054ffb" /><Relationship Type="http://schemas.openxmlformats.org/officeDocument/2006/relationships/notesMaster" Target="/ppt/notesMasters/notesMaster1.xml" Id="R7cc6e318edc14f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a922d5e57240c0" /><Relationship Type="http://schemas.openxmlformats.org/officeDocument/2006/relationships/notesMaster" Target="/ppt/notesMasters/notesMaster1.xml" Id="Ra572c163739345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a0626770b234098" /><Relationship Type="http://schemas.openxmlformats.org/officeDocument/2006/relationships/notesMaster" Target="/ppt/notesMasters/notesMaster1.xml" Id="R0e94bb2428e54e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683581da0a4b05" /><Relationship Type="http://schemas.openxmlformats.org/officeDocument/2006/relationships/notesMaster" Target="/ppt/notesMasters/notesMaster1.xml" Id="Re3bfabbf64ef4ab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5d627cc72104b48" /><Relationship Type="http://schemas.openxmlformats.org/officeDocument/2006/relationships/notesMaster" Target="/ppt/notesMasters/notesMaster1.xml" Id="Rb40560eb00b3438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c5197097e74970" /><Relationship Type="http://schemas.openxmlformats.org/officeDocument/2006/relationships/notesMaster" Target="/ppt/notesMasters/notesMaster1.xml" Id="Ra8174f1614ef43a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caaf1f2c26f4105" /><Relationship Type="http://schemas.openxmlformats.org/officeDocument/2006/relationships/notesMaster" Target="/ppt/notesMasters/notesMaster1.xml" Id="R87d54ac724094a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fd29530f2d7475e" /><Relationship Type="http://schemas.openxmlformats.org/officeDocument/2006/relationships/notesMaster" Target="/ppt/notesMasters/notesMaster1.xml" Id="Rdafd68091b744b0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3b4796f38cc4720" /><Relationship Type="http://schemas.openxmlformats.org/officeDocument/2006/relationships/notesMaster" Target="/ppt/notesMasters/notesMaster1.xml" Id="Ra6df52839973492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c898b916c724c25" /><Relationship Type="http://schemas.openxmlformats.org/officeDocument/2006/relationships/notesMaster" Target="/ppt/notesMasters/notesMaster1.xml" Id="R973b58b61b78405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4cf043575d44e04" /><Relationship Type="http://schemas.openxmlformats.org/officeDocument/2006/relationships/notesMaster" Target="/ppt/notesMasters/notesMaster1.xml" Id="R5c9155d8d2ff41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research question and define the product immediately: we developed QuakeSense as an executable LLM-driven evacuation system, not a map dashboard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Repeat the one-sentence system context before walking through the score map. Slides 3–11 answer the 60-point block; slides 12–13 answer the 40-point AMD/ROCm block.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closed loop from real inputs to agent reasoning, validated tool execution, simulator state change, and an inspectable product.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  <a:p xmlns:a="http://schemas.openxmlformats.org/drawingml/2006/main"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ten-minute scheduler: observe, reason, plan, validate, execute, update memory, and replan.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  <a:p xmlns:a="http://schemas.openxmlformats.org/drawingml/2006/main"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Xi’an as the live proof that the LLM layer executes: 350 leaders, 4,242 decisions, no parse failures, and 100 percent application.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http://127.0.0.1:8788/xian.html</a:t>
            </a:r>
          </a:p>
          <a:p xmlns:a="http://schemas.openxmlformats.org/drawingml/2006/main">
            <a:r>
              <a:t>- /workspace/persistence/codex/project/results_current/xian_llm000/summary.json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the English-first WebGIS controls and explain that roads are both visible layers and computational adjacency inputs.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http://127.0.0.1:8788/</a:t>
            </a:r>
          </a:p>
          <a:p xmlns:a="http://schemas.openxmlformats.org/drawingml/2006/main">
            <a:r>
              <a:t>- /workspace/persistence/codex/project/webgis/index.html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application is not a one-city mock-up. A shared agent contract is exercised against ten different urban structures.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  <a:p xmlns:a="http://schemas.openxmlformats.org/drawingml/2006/main">
            <a:r>
              <a:t>- /workspace/persistence/codex/project/results_current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Physical access is diagnosed before behavioral interpretation, preventing the AI story from hiding road-network constraints.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early outcomes to show that leadership materially changes the trajectory, while keeping claims descriptive.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Leadership is a mechanism, not a guaranteed improvement. Long-run outcomes can reverse because capacity and road constraints persist.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Highlight innovation as a transferable leader–resident mechanism that exposes different city response profiles.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</a:t>
            </a:r>
          </a:p>
          <a:p xmlns:a="http://schemas.openxmlformats.org/drawingml/2006/main"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measured local Radeon evidence: GPU identity, ROCm version, model, concurrency, throughput, latency, validity, and application 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/workspace/persistence/codex/project/results_current/xian_llm000/summary.json</a:t>
            </a:r>
          </a:p>
          <a:p xmlns:a="http://schemas.openxmlformats.org/drawingml/2006/main">
            <a:r>
              <a:t>- /workspace/persistence/codex/project/results_current/xian_llm000.log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each optimization to a practical failure mode: latency, simulator contention, malformed tool calls, or excessive memory.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/workspace/persistence/codex/project/results_current/xian_llm000/summary.json</a:t>
            </a:r>
          </a:p>
          <a:p xmlns:a="http://schemas.openxmlformats.org/drawingml/2006/main"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Rehearse this exact live sequence. It gives judges visible proof for application value, Agentic AI execution, and AMD local inference in five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http://127.0.0.1:8788/</a:t>
            </a:r>
          </a:p>
          <a:p xmlns:a="http://schemas.openxmlformats.org/drawingml/2006/main">
            <a:r>
              <a:t>- /workspace/persistence/codex/project/results_current/xian_llm000/summary.json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boundaries before judges ask. This separates working capability from the next scientific validation milestone.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/workspace/persistence/codex/project/README.md</a:t>
            </a:r>
          </a:p>
          <a:p xmlns:a="http://schemas.openxmlformats.org/drawingml/2006/main">
            <a:r>
              <a:t>- /workspace/persistence/codex/project/results_current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in rubric order: 60-point product and value evidence, then 40-point Radeon and ROCm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AMD Track 2: Agentic AI judging criteria</a:t>
            </a:r>
          </a:p>
          <a:p xmlns:a="http://schemas.openxmlformats.org/drawingml/2006/main"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eeeb56afd846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4dfec93cef4ca5" /><Relationship Type="http://schemas.openxmlformats.org/officeDocument/2006/relationships/slideLayout" Target="/ppt/slideLayouts/slideLayout1.xml" Id="R27a7cb01ac8149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a7cb01ac8149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823585509548b2" /><Relationship Type="http://schemas.openxmlformats.org/officeDocument/2006/relationships/image" Target="/ppt/media/image.jpeg" Id="R2e75b718e0cc4a64" /><Relationship Type="http://schemas.openxmlformats.org/officeDocument/2006/relationships/notesSlide" Target="/ppt/notesSlides/notesSlide1.xml" Id="Rfc17e1209b0e45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b0ac8a7da141a6" /><Relationship Type="http://schemas.openxmlformats.org/officeDocument/2006/relationships/notesSlide" Target="/ppt/notesSlides/notesSlide2.xml" Id="Rb577168c053a4b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490778139544c1" /><Relationship Type="http://schemas.openxmlformats.org/officeDocument/2006/relationships/notesSlide" Target="/ppt/notesSlides/notesSlide3.xml" Id="R163ae42c6b4946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f31722b40c4a1f" /><Relationship Type="http://schemas.openxmlformats.org/officeDocument/2006/relationships/notesSlide" Target="/ppt/notesSlides/notesSlide4.xml" Id="Re88298b3b47846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d9a3158aa34ae4" /><Relationship Type="http://schemas.openxmlformats.org/officeDocument/2006/relationships/image" Target="/ppt/media/image2.jpeg" Id="R4b131f9d3ad44362" /><Relationship Type="http://schemas.openxmlformats.org/officeDocument/2006/relationships/notesSlide" Target="/ppt/notesSlides/notesSlide5.xml" Id="R06df95042f754c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46ffc84c824f5d" /><Relationship Type="http://schemas.openxmlformats.org/officeDocument/2006/relationships/image" Target="/ppt/media/image2.jpeg" Id="Rbfca92af431c43fb" /><Relationship Type="http://schemas.openxmlformats.org/officeDocument/2006/relationships/notesSlide" Target="/ppt/notesSlides/notesSlide6.xml" Id="R5cc6b766a6da40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74f9a07e84b38" /><Relationship Type="http://schemas.openxmlformats.org/officeDocument/2006/relationships/notesSlide" Target="/ppt/notesSlides/notesSlide7.xml" Id="Rda914ab03c9e48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13e04a4d084f68" /><Relationship Type="http://schemas.openxmlformats.org/officeDocument/2006/relationships/notesSlide" Target="/ppt/notesSlides/notesSlide8.xml" Id="Rdc3936453245415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d22312b8e74ce2" /><Relationship Type="http://schemas.openxmlformats.org/officeDocument/2006/relationships/notesSlide" Target="/ppt/notesSlides/notesSlide9.xml" Id="Rf8043b9e90e14f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3db7dad54f4149" /><Relationship Type="http://schemas.openxmlformats.org/officeDocument/2006/relationships/notesSlide" Target="/ppt/notesSlides/notesSlide10.xml" Id="R72c79553290f4c6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cf03f149d4917" /><Relationship Type="http://schemas.openxmlformats.org/officeDocument/2006/relationships/image" Target="/ppt/media/image3.jpeg" Id="Rdc161ffa34974009" /><Relationship Type="http://schemas.openxmlformats.org/officeDocument/2006/relationships/image" Target="/ppt/media/image4.jpeg" Id="R9046e93a48db4b40" /><Relationship Type="http://schemas.openxmlformats.org/officeDocument/2006/relationships/image" Target="/ppt/media/image5.jpeg" Id="Raeef0daac79d4e32" /><Relationship Type="http://schemas.openxmlformats.org/officeDocument/2006/relationships/notesSlide" Target="/ppt/notesSlides/notesSlide11.xml" Id="Re608949e889047d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14f3425de49ae" /><Relationship Type="http://schemas.openxmlformats.org/officeDocument/2006/relationships/notesSlide" Target="/ppt/notesSlides/notesSlide12.xml" Id="R66c9cf1eb4504c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60de8b4534da8" /><Relationship Type="http://schemas.openxmlformats.org/officeDocument/2006/relationships/notesSlide" Target="/ppt/notesSlides/notesSlide13.xml" Id="Rd1303cb383ff4b6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82ae4caac41a2" /><Relationship Type="http://schemas.openxmlformats.org/officeDocument/2006/relationships/notesSlide" Target="/ppt/notesSlides/notesSlide14.xml" Id="R078abbf952b446f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099fc25c54482" /><Relationship Type="http://schemas.openxmlformats.org/officeDocument/2006/relationships/notesSlide" Target="/ppt/notesSlides/notesSlide15.xml" Id="R566fef9d7bd5447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942cd9a8a24d8c" /><Relationship Type="http://schemas.openxmlformats.org/officeDocument/2006/relationships/notesSlide" Target="/ppt/notesSlides/notesSlide16.xml" Id="R1b3b75cb668c4e8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5b718e0cc4a64"/>
          <a:srcRect xmlns:a="http://schemas.openxmlformats.org/drawingml/2006/main" l="15700" t="0" r="157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0" y="0"/>
            <a:ext cx="6096000" cy="6858000"/>
          </a:xfrm>
          <a:prstGeom xmlns:a="http://schemas.openxmlformats.org/drawingml/2006/main" prst="round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FDF4D-6496-4AB9-8FB2-1B5BB784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0"/>
            <a:ext cx="1143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855B9-E471-4690-84FD-1B9AC80D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AMD TRACK 2 / AGENTIC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1A7B7-C717-4B28-9DE0-965433FD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49530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When Does Leadership Matter?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2B581-52DA-4533-B262-AAD27241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1562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C32269-7FEC-4451-840B-9DE2FB51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We developed QuakeSense—an LLM-driven Agentic AI system for emergency evacuation simulation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65917-C37C-4F3E-9FA2-8737A08D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7BAC2"/>
                </a:solidFill>
              </a:defRPr>
            </a:pPr>
            <a:r>
              <a:rPr sz="1425" b="0">
                <a:solidFill>
                  <a:srgbClr val="A7BAC2"/>
                </a:solidFill>
              </a:rPr>
              <a:t>Local LLM leaders reason, plan, use tools, and coordinate resident agents across real city networks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8BC8F9-B4A6-4CCF-BCEA-3212A3D5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485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7BAC2"/>
                </a:solidFill>
              </a:defRPr>
            </a:pPr>
            <a:r>
              <a:rPr sz="1125" b="0">
                <a:solidFill>
                  <a:srgbClr val="A7BAC2"/>
                </a:solidFill>
              </a:rPr>
              <a:t>Ten cities · AMD Radeon + ROCm local inference · inspectable English WebGIS</a:t>
            </a:r>
          </a:p>
        </p:txBody>
      </p:sp>
    </p:spTree>
    <p:extLst>
      <p:ext uri="{BB962C8B-B14F-4D97-AF65-F5344CB8AC3E}">
        <p14:creationId xmlns:p14="http://schemas.microsoft.com/office/powerpoint/2010/main" val="17251787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5EEEE9-10F8-4009-A51F-61CD713B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01 / JUDGING RUBRIC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D21FE-09D0-4649-9A37-BB340EF1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Every scoring item has a visible proof point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1FEC99-33CA-40CA-8103-38F0C82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E3B3CC-6493-429D-A054-C272E56D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D80BA-C383-4290-8B89-951A9153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B51793-0232-4A33-8B0F-C668B9DD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566543-2A63-46CE-98E8-D1D20C15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8A6D6"/>
                </a:solidFill>
              </a:defRPr>
            </a:pPr>
            <a:r>
              <a:rPr sz="975" b="1">
                <a:solidFill>
                  <a:srgbClr val="58A6D6"/>
                </a:solidFill>
              </a:rPr>
              <a:t>60 POINTS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4D233-1194-43AA-BE5C-6DDDAA01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Functional completeness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FB86DB-3658-4B26-8E88-BA24F49E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Data → agent decisions → simulation → English WebGIS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DD8178-4A09-44D6-964B-6B169026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ADCA9-43AD-441C-9233-8EAC5547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CAD0E0-A660-4D19-A11F-41E6FD68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1A6ACE-68C9-48F5-9575-4963BFD3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WITHIN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A0EA6B-3B5B-49B8-B58D-80442C12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Scenario innovation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D43D3E-A1BE-457A-B533-0604B610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Local AI leaders coordinate millions of resident agents under disaster constraints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22212-6DB8-4C82-A0FB-EED9E177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121BC8-9668-4018-A1F5-E23E9954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4ED646-E899-4D25-87B3-59F68FD4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830E31-2CB8-4F4D-B78B-28B85FAF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4CA64"/>
                </a:solidFill>
              </a:defRPr>
            </a:pPr>
            <a:r>
              <a:rPr sz="975" b="1">
                <a:solidFill>
                  <a:srgbClr val="F4CA64"/>
                </a:solidFill>
              </a:rPr>
              <a:t>WITHIN 60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BD393A-6B4C-4281-8028-5B658AAC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User experience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716855-6F85-49DB-9911-9B22D66A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Ten-city switching, road tiers, playback, and scenario comparison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69534E-4206-497F-A0F8-3D71C76D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3B91B1-C06F-4351-BE40-FCDD6D6E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BE7235-46F7-4F08-88B1-DBA9E345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A22BC0-9535-474F-AC75-1C1D44AB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2766B"/>
                </a:solidFill>
              </a:defRPr>
            </a:pPr>
            <a:r>
              <a:rPr sz="975" b="1">
                <a:solidFill>
                  <a:srgbClr val="F2766B"/>
                </a:solidFill>
              </a:rPr>
              <a:t>40 POINTS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0BE01F-0C8F-4170-8A08-EA280EE0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AMD Radeon + ROCm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5E6150-1F49-4E8E-9F78-7A8CFA06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Real local inference, measured runs, and memory/concurrency optimization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656941-0346-40C9-A4D1-75BA5F15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515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349B54-369A-4B1D-B9B3-C9B7DBB7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8160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SYSTEM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A9406D-DF93-428E-870D-4A304C0A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435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We developed QuakeSense to connect LLM leaders, resident agents, evacuation simulation, and an inspectable WebGIS in one executable system.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A76EF4-4B0D-48CC-93DF-45DE0A97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With the system defined, the deck follows the 60/40 rubric directly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6FF064-F161-4913-A407-4CD500D3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9548116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5EEEE9-10F8-4009-A51F-61CD713B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02 / FUNCTIONAL COMPLETENESS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D21FE-09D0-4649-9A37-BB340EF1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QuakeSense closes the full problem-solving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1FEC99-33CA-40CA-8103-38F0C82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E3B3CC-6493-429D-A054-C272E56D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D80BA-C383-4290-8B89-951A9153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B51793-0232-4A33-8B0F-C668B9DD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566543-2A63-46CE-98E8-D1D20C15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8A6D6"/>
                </a:solidFill>
              </a:defRPr>
            </a:pPr>
            <a:r>
              <a:rPr sz="975" b="1">
                <a:solidFill>
                  <a:srgbClr val="58A6D6"/>
                </a:solidFill>
              </a:rPr>
              <a:t>INPUTS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4D233-1194-43AA-BE5C-6DDDAA01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Real city 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FB86DB-3658-4B26-8E88-BA24F49E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Population, roads, terrain, shelters, and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DD8178-4A09-44D6-964B-6B169026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3ADCA9-43AD-441C-9233-8EAC5547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CAD0E0-A660-4D19-A11F-41E6FD68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1A6ACE-68C9-48F5-9575-4963BFD3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AGENTS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A0EA6B-3B5B-49B8-B58D-80442C12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Reason and 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D43D3E-A1BE-457A-B533-0604B610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Leaders observe local briefs; residents maintain beliefs and routes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022212-6DB8-4C82-A0FB-EED9E177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121BC8-9668-4018-A1F5-E23E9954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4ED646-E899-4D25-87B3-59F68FD4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830E31-2CB8-4F4D-B78B-28B85FAF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4CA64"/>
                </a:solidFill>
              </a:defRPr>
            </a:pPr>
            <a:r>
              <a:rPr sz="975" b="1">
                <a:solidFill>
                  <a:srgbClr val="F4CA64"/>
                </a:solidFill>
              </a:rPr>
              <a:t>EXECUTION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BD393A-6B4C-4281-8028-5B658AAC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Tools change state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716855-6F85-49DB-9911-9B22D66A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Validated broadcasts update knowledge, movement, and allocation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69534E-4206-497F-A0F8-3D71C76D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194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3B91B1-C06F-4351-BE40-FCDD6D6E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809750"/>
            <a:ext cx="2343150" cy="297180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BE7235-46F7-4F08-88B1-DBA9E345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3835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A22BC0-9535-474F-AC75-1C1D44AB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86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2766B"/>
                </a:solidFill>
              </a:defRPr>
            </a:pPr>
            <a:r>
              <a:rPr sz="975" b="1">
                <a:solidFill>
                  <a:srgbClr val="F2766B"/>
                </a:solidFill>
              </a:rPr>
              <a:t>PRODUCT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0BE01F-0C8F-4170-8A08-EA280EE0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432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Inspectable WebGIS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5E6150-1F49-4E8E-9F78-7A8CFA06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52800"/>
            <a:ext cx="192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Baseline/LLM comparison, layers, playback, and metrics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656941-0346-40C9-A4D1-75BA5F15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515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349B54-369A-4B1D-B9B3-C9B7DBB7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8160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PROOF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A9406D-DF93-428E-870D-4A304C0A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4350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 working path runs from real inputs to agent action, measurable outcomes, and an English decision interface.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A76EF4-4B0D-48CC-93DF-45DE0A97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Functional completeness is demonstrated live—not inferred from architecture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6FF064-F161-4913-A407-4CD500D3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9548116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EAABD5-806E-4789-8ED9-4653130E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03 / LLM LEADERSHIP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1BB84D-0BFD-4D86-9BEA-8DA31B8A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A scheduled leader layer changes resident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E79B48-37C0-4A17-A85A-A0BC3D3D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B4023E-D24F-4B8E-AC0E-8578BB53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6D494-CAED-4BEA-9E79-AEBAFEAA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07BBF-3255-4A8B-974D-A57AE1DD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E2EDDA-7DA2-43DF-87F9-ECF26119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① OBSERVE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82001A-EBAF-4283-B617-D395C645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Every 10 minutes, each leader receives its jurisdiction's local brief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53052-A2FB-403D-84B0-F8710E2D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9908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261B1D-B3FF-49AE-957B-0BDD4508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71A28F-8535-4FB5-B307-064ABA57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5BD33-A0EB-414B-A1C2-F85E65FC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② REASON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A3EA4F-11C6-4C98-BDDD-0BD3DD6D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Local Qwen combines the current brief with compact leader memory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97FF93-F71B-49E9-AC9C-0DB24B6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908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B02A67-B976-41C8-BE9A-32B17095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9525">
            <a:solidFill>
              <a:srgbClr val="0D24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2613E2-32DC-40D6-97C1-507EB742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14940-9670-4285-B6B0-291449F6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③ PLAN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B93C33-5CE8-477C-97DD-71639E3B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BAC2"/>
                </a:solidFill>
              </a:defRPr>
            </a:pPr>
            <a:r>
              <a:rPr sz="1200" b="0">
                <a:solidFill>
                  <a:srgbClr val="A7BAC2"/>
                </a:solidFill>
              </a:rPr>
              <a:t>The leader chooses which shelters and warnings to broadcast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054D39-063E-4CCF-AFDD-4DD2C19F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9908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496337-74BF-4AC6-9C50-5A5CDD59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CE0152-49BF-4826-93FF-B0D0500E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DB70A3-D1E5-47C5-A4CD-9D686D89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④ USE TOOLS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728B51-8925-4AC2-94F6-AEFA7975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Grammar-constrained JSON validates shelter IDs before execution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28C553-3ECD-4828-9AA9-59859739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908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E89D91-9F41-4649-843A-D7152E3D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66900"/>
            <a:ext cx="1943100" cy="281940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FD2183-E97B-4333-9309-22A5FE16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955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D74200-0790-4088-9DDF-5AC72C84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3812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⑤ EXECUTE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7536CD-E1FC-4DDE-AADE-50B245D8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895600"/>
            <a:ext cx="1562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Broadcasts update resident beliefs and routes; the next round replans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70DB2F-1FD1-4CC5-8EBB-0DEA5891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10515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D2430"/>
                </a:solidFill>
              </a:defRPr>
            </a:pPr>
            <a:r>
              <a:rPr sz="1650" b="1">
                <a:solidFill>
                  <a:srgbClr val="0D2430"/>
                </a:solidFill>
              </a:rPr>
              <a:t>Xi'an: 350 leaders partition 12.95 million residents into balanced jurisdictions.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202D3C-F0C8-4321-B19E-138B94BC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Observe → reason → plan → validated tool → state change → replan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7B73FC-2FF6-48F4-B4B8-59B694FB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4933867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7A35A6-D8CC-46D2-AD8E-4A8BC7F0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04 / LIVE AGENT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F18CD-6CC8-49FD-A6DD-D99AB00C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350 local LLM leaders execute inside the WebGIS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0AD7D-3F21-4C11-90BF-501CA6EB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067389-8E09-4882-A212-6EB3D0A6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131f9d3ad44362"/>
          <a:srcRect xmlns:a="http://schemas.openxmlformats.org/drawingml/2006/main" l="2288" t="0" r="228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" y="1676400"/>
            <a:ext cx="7239000" cy="4267200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42D486-303C-4153-9206-5781D091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486150" cy="4267200"/>
          </a:xfrm>
          <a:prstGeom xmlns:a="http://schemas.openxmlformats.org/drawingml/2006/main" prst="roundRect">
            <a:avLst>
              <a:gd name="adj" fmla="val 4372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A39380-044E-458F-99D8-1FEF912A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85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8D1C9"/>
                </a:solidFill>
              </a:defRPr>
            </a:pPr>
            <a:r>
              <a:rPr sz="1200" b="1">
                <a:solidFill>
                  <a:srgbClr val="38D1C9"/>
                </a:solidFill>
              </a:rPr>
              <a:t>XI'AN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D7312-A96D-4CDA-9019-6F289BA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431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60075-7AB9-43B0-B63B-698C6B90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09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350 jurisdiction leaders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F0BD4C-7AB1-4B34-8F47-93BFDC03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1940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CFD1A3-5762-4FA3-884D-0E822649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860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4,242 validated decisions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6B0834-A641-437D-89CA-78E6860F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956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456EE2-BB36-4DAD-A6FB-71EF737B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623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0 failed or unparseable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005175-8329-4DCA-8223-4EBF8D7B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7190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685833-E14A-4A88-97FF-91404471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385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239,835 resident belief updates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9B5D87-511A-457C-BDA4-D7DB4648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481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27F606-BE20-40EC-BCD2-DF024379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114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100% decisions applied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3BE6D0-9D91-4DD3-8276-E6961C14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196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7BAC2"/>
                </a:solidFill>
              </a:defRPr>
            </a:pPr>
            <a:r>
              <a:rPr sz="1050" b="1">
                <a:solidFill>
                  <a:srgbClr val="A7BAC2"/>
                </a:solidFill>
              </a:rPr>
              <a:t>LOCAL EXECUTION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1F104C-6073-4B54-B303-6C876A0D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105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0.285 s mean 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87BDE9-685A-47CB-A3D1-5C4CD259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245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7BAC2"/>
                </a:solidFill>
              </a:defRPr>
            </a:pPr>
            <a:r>
              <a:rPr sz="1125" b="0">
                <a:solidFill>
                  <a:srgbClr val="A7BAC2"/>
                </a:solidFill>
              </a:rPr>
              <a:t>The WebGIS exposes the cycle, execution proof, and baseline control beside the city state.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320BCD-9102-4E1E-827A-B1A75B3B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English-first UI · LLM/baseline switch · agent metrics · playback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35D2D8-B721-4F90-8B8E-5B286024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1469264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7A35A6-D8CC-46D2-AD8E-4A8BC7F0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05 / USER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F18CD-6CC8-49FD-A6DD-D99AB00C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Users can inspect why the agents behave differently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0AD7D-3F21-4C11-90BF-501CA6EB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067389-8E09-4882-A212-6EB3D0A6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ca92af431c43fb"/>
          <a:srcRect xmlns:a="http://schemas.openxmlformats.org/drawingml/2006/main" l="0" t="11809" r="0" b="118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9600" y="1676400"/>
            <a:ext cx="7239000" cy="4267200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42D486-303C-4153-9206-5781D091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486150" cy="4267200"/>
          </a:xfrm>
          <a:prstGeom xmlns:a="http://schemas.openxmlformats.org/drawingml/2006/main" prst="roundRect">
            <a:avLst>
              <a:gd name="adj" fmla="val 4372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A39380-044E-458F-99D8-1FEF912A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85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8D1C9"/>
                </a:solidFill>
              </a:defRPr>
            </a:pPr>
            <a:r>
              <a:rPr sz="1200" b="1">
                <a:solidFill>
                  <a:srgbClr val="38D1C9"/>
                </a:solidFill>
              </a:rPr>
              <a:t>VISIBLE CONTROLS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D7312-A96D-4CDA-9019-6F289BA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431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60075-7AB9-43B0-B63B-698C6B90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09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Baseline / LLM 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F0BD4C-7AB1-4B34-8F47-93BFDC03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1940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CFD1A3-5762-4FA3-884D-0E822649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860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Six-stage agent cycle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6B0834-A641-437D-89CA-78E6860F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956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456EE2-BB36-4DAD-A6FB-71EF737B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623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Road hierarchy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005175-8329-4DCA-8223-4EBF8D7B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7190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685833-E14A-4A88-97FF-91404471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385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Resident state layers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9B5D87-511A-457C-BDA4-D7DB4648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48150"/>
            <a:ext cx="514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27F606-BE20-40EC-BCD2-DF024379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114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Timeline playback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3BE6D0-9D91-4DD3-8276-E6961C14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196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7BAC2"/>
                </a:solidFill>
              </a:defRPr>
            </a:pPr>
            <a:r>
              <a:rPr sz="1050" b="1">
                <a:solidFill>
                  <a:srgbClr val="A7BAC2"/>
                </a:solidFill>
              </a:rPr>
              <a:t>TAIPEI EXAMPLE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1F104C-6073-4B54-B303-6C876A0D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1054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85,202 adjacency edges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87BDE9-685A-47CB-A3D1-5C4CD259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245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7BAC2"/>
                </a:solidFill>
              </a:defRPr>
            </a:pPr>
            <a:r>
              <a:rPr sz="1125" b="0">
                <a:solidFill>
                  <a:srgbClr val="A7BAC2"/>
                </a:solidFill>
              </a:rPr>
              <a:t>The interface places agent intervention beside the computational road network and outcomes.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320BCD-9102-4E1E-827A-B1A75B3B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English-first UI · bilingual switch · city selector · layer controls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35D2D8-B721-4F90-8B8E-5B286024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1469264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BEF62C-B5C9-4968-882E-6367975B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06 / MULTI-CITY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A3645-1FAA-41CE-B41D-2DA3D5CD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One Agentic AI contract runs across ten cities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55271-68DD-4C02-ADAB-AD79803F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A09DA-5A79-41C2-870F-5A7D4B63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5AD0E-DB12-4145-AFD4-1C408FD6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DB8C4-B60F-4DF8-9CD2-CC2D1CE0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F7F2C-CB2B-4827-8138-DDBF1812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CHENGDU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DC3CA-D38A-4E37-A50B-F1896871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China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07A64-EC90-4644-AFE5-4F50872F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8DC0E9-583B-44B1-B806-93AC0561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192EC2-6A0A-43D1-87EA-DFDECAF2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XI’AN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F5DDC-7CF9-47F0-A9C9-E8F1BC3A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China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71B39-38F1-4EDD-B0A8-1B7EA503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73E0E3-B4AC-4751-918A-195C328E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BC7B2-76DD-468E-9AD6-2A4FA80F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TAIPEI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919BE-B591-402F-B17C-BA23204C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China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A70F86-2D13-496B-B7E5-92C62C3B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A0FA7D-58ED-4F58-A48B-CBBE8B40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6B907E-614E-4B5C-80E2-400F4DC9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9D8C9D-6FEA-4ADE-871A-4FEE0872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Japan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015A97-07E9-4E38-BDC3-8CAB3069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EDDBB-B9BF-4F8C-BC5B-AF045CC9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4FDBA5-114F-4C2A-845F-8707CFEF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L’AQUILA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8F6E73-9F93-4315-9240-FB90D698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Italy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120515-8680-4FA4-8957-7E7A3A1F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B713B8-AF00-4C7D-A665-2E9B5711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BAD49D-5804-4B4B-AA07-5DB5E7EF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NAPLES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AF77A4-7C37-4255-838D-C79D97B0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Italy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379092-FAC6-4A61-8372-D5F34E01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8E7C50-073E-4BEF-B7C2-AD383796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BD084F-B457-452B-8A32-67B07816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1B1A6F-78C7-4E79-B9F8-B3690628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New Zealand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5680BD-5F6A-453E-99FA-CECD4579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C263EA-2C59-46DD-ABEF-A3810AD0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A6A70E-2CC6-466B-939C-5B74C604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MANDALAY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A5CFB4-59D1-4297-A347-271A8E68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Myanmar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648400-13A1-452E-BAEC-C20F2531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D20D9E-3DAC-48F4-B0D7-B9D76264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1B5E9D-9CAF-4853-9636-71C87CC2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KATHMANDU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E1DB8A-D05D-46FB-ACDF-7254E99C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Nepal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F187F2-1CC7-468A-BCBF-308BBC84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32B2A9-7329-4D1D-986D-62C286B2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10251F-5EE0-41C5-BF4F-9D0DCDAB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1BF0F6-48F3-46AE-BA0C-3D2808C0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United States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4F5ACF-13A6-48A7-A554-A5AB4818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5156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E1C829-35AA-48CF-AD74-17AC339D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95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TEN-CITY PROOF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B47050-8F31-4C42-9BB4-FF811DD1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838700"/>
            <a:ext cx="893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One agent contract · common WebGIS · 36-frame outputs · baseline/LLM comparison · automated guards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FCC7153-7ABD-4C5F-8272-8522E406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The same decision mechanism is tested against different network and capacity structures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62FFCB-C15C-4525-9E4E-778724C5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0940899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558F91-1C81-48D4-ABD4-7D48826B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07 / APPLICATION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0D961-934C-4463-A67C-A57AD3A9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The system diagnoses physical access before simulating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4856D7-330E-485D-A30B-35F42DA4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7AA006-BA23-4EEA-B870-7B1ADC74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95E101-BB32-4D63-8724-6B217042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Taipei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23AE7-EACB-4BC1-938E-5D24F843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168592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BAC3F-F3DE-4371-B95F-A850BB0C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1685925"/>
            <a:ext cx="4447786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44D4AE-2BFB-433C-923D-BFF3956E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63830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99.1%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E9B001-F5A1-4E2B-BD32-A26B75BA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AEE5E2-8B0B-4DE1-8E6E-D9F8EAA0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16217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AB7961-09EC-47AB-BF5A-8BEDE253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162175"/>
            <a:ext cx="4434322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0E954F-8802-4BBD-9AC2-3E64B6AC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1455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98.8%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4438A-E4C1-42E2-811E-2B331E2A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Kathmandu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1D6A1C-BC74-4BC6-9AE5-63ECD640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63842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03FF0E-53D9-471E-BF70-F9EB4579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2638425"/>
            <a:ext cx="4425345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FFEF24-2B51-48F2-A4C7-5DC446C5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59080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98.6%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4C08C-12D9-4769-AEA8-AA1D52662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E207C-9D5E-4A3A-9640-0E384D18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311467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571457-8CAF-4E05-8358-BAAD1A43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3114675"/>
            <a:ext cx="4344558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32A47-144F-4B67-BC25-9621B8A2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06705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96.8%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08BB3-94E8-4A58-B996-F7D74B82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Naples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FB0710-CE74-448D-BAAD-B2D02B2D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359092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86A1D8-E9AB-4D71-9F9E-D745BBB0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3590925"/>
            <a:ext cx="4268259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CB71FB-F540-45BF-84F8-A6D7BDF5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54330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95.1%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4641E0-EA39-4B78-B7A0-C10005B0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Mandalay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5C2ADF-7EFD-4024-AC49-4E24CA6D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406717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5461D9-0CCA-4CB7-9061-B66B5896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4067175"/>
            <a:ext cx="3253931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C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EE6342-1AC4-49E3-A5ED-C6C68F0A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01955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72.5%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8CD18F-3887-41DC-8448-AE4A86C5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L'Aquila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21B6FD-67F6-42CB-8ACA-EC412A5E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454342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BF07E8-C965-4E6C-A81A-EF942139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4543425"/>
            <a:ext cx="2791648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C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26A357-EF87-4AE5-8EEF-80817DD4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49580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62.2%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8AB44E-B9AD-4B58-B765-58A04EEE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159258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3A9880-4254-4276-AF57-655FBED6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5019675"/>
            <a:ext cx="448818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1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895D8D5-5BBB-497B-8309-9EE52C48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480" y="5019675"/>
            <a:ext cx="1844642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70C566-02A8-463F-84D9-BA2919C1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972050"/>
            <a:ext cx="1013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41.1%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870CC3F-60E2-45DB-86A3-270ED46A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2705100" cy="323850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50A9D4-40C5-4E1F-AEC0-6515415E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859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9B96"/>
                </a:solidFill>
              </a:defRPr>
            </a:pPr>
            <a:r>
              <a:rPr sz="1350" b="1">
                <a:solidFill>
                  <a:srgbClr val="159B96"/>
                </a:solidFill>
              </a:rPr>
              <a:t>HOW TO READ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D865B9-6F69-41E0-B9CF-B0CFF955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343150"/>
            <a:ext cx="22479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High access is not high placement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Site density, road connectivity, and terrain shape static coverage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Capacity, information, and behavior further reduce dynamic safety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74F63D-9EE5-40E4-B8A7-45F11FF9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43400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2766B"/>
                </a:solidFill>
              </a:defRPr>
            </a:pPr>
            <a:r>
              <a:rPr sz="2250" b="1">
                <a:solidFill>
                  <a:srgbClr val="F2766B"/>
                </a:solidFill>
              </a:rPr>
              <a:t>41.1%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C640789-D009-420C-84CB-D22E06C1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4005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D707A"/>
                </a:solidFill>
              </a:defRPr>
            </a:pPr>
            <a:r>
              <a:rPr sz="1125" b="1">
                <a:solidFill>
                  <a:srgbClr val="5D707A"/>
                </a:solidFill>
              </a:rPr>
              <a:t>Noto is lowest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F2E31AE-AB7D-42C4-92B2-9876B3F9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Share of population within 15 network minutes of candidate sites; common eight-city output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72EE34-0247-43BB-A278-3937E7B9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3716906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7A13CB8-1CCB-49C0-B4EF-96EB90F6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08 / APPLICATION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1117E-AA80-4BC6-BD24-5907AF07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LLM leaders change early safety across cities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21731-A231-44A3-9A1B-112D6268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32521E-6843-4C00-A8DE-F9833446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095ED4-BFA8-4147-8FB2-448AF7300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A3BD14-0536-48CA-A67F-0FD2B650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17145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16F162-EAAC-4950-BF57-D975C927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16764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33081-8F4D-4922-90B2-56EFDCD6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1714500"/>
            <a:ext cx="1982664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BFC86D-2BBB-4733-A8BE-EF3FD9E5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16573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+3.18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9CB398-70BB-4614-8A6A-5A63AC74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A76E02-B573-4CE6-9ACA-EAC66A69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21717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AB158F-01D3-44F5-9E35-79526984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21336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02A0C7-ACCC-4208-BF7C-982CC030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2171700"/>
            <a:ext cx="149011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CBB598-E222-4369-83CB-EF157C1A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21145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+2.39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265338-DD3A-4298-BFAC-BBE5A3CB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Taipei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C9EEC0-8979-42B3-8E41-271C3CED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26289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5ED5E6-2388-443D-94B9-85ADBC0E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25908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EC34A4-97F9-4639-8082-D2A8DF8B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2628900"/>
            <a:ext cx="854167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0E6F8-450A-4BD4-8C29-DB2E8912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25717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+1.37 pp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9646DE-1435-443C-934D-88BBA883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Naples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BABF8B-418B-4413-B033-9C966252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30861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7634A-505A-46A6-BAE1-003E6E503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30480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223CD3-C8BF-4CCD-AC1A-E0BA2BF4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3086100"/>
            <a:ext cx="754410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28DCC8-1972-46F1-963C-571BF29C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30289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+1.21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4E4B78-2161-4C2C-9649-337CCB4D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Kathmandu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58EAFF-1641-4733-A347-7F01D3C8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35433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231C61-7928-4CDD-8237-BF11EA70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35052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ABBB2E-7393-4A26-B320-6E2EA54B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3543300"/>
            <a:ext cx="611010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E081BD-AC6F-46B4-B743-F60E0362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34861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+0.98 pp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99A673-780D-4ADC-AFDE-C0D70BC1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433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Mandalay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F6E4CA-E9A2-49F9-BE13-5539AB5B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40005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2E6DE4-B7BA-4820-BCC4-B3C6D932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39624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A235BF-EE1D-45FB-A706-0DEA8E5D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7265" y="4000500"/>
            <a:ext cx="62348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D34AA8-F0C6-4015-9594-3E51BDBF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39433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+0.10 pp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724E64-0812-4795-A3A2-F9F57AA6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4B2884-9593-465D-985A-B2E710F5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44577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E1EFA9-9E61-40BA-B553-2750C92C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44196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042F21-B08F-4024-ADCB-1E0A047A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611" y="4457700"/>
            <a:ext cx="1371654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16E0D6-549A-488A-A65C-44EE7AF8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44005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−2.20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3367A8-2E38-41AF-8884-B1641852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6554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L'Aquila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DE5310-7EBE-450F-9042-83FCE78F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088" y="4914900"/>
            <a:ext cx="436435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E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3101B0-6330-4AA5-AC90-5E004AA7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48768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07A"/>
          </a:solidFill>
          <a:ln xmlns:a="http://schemas.openxmlformats.org/drawingml/2006/main" w="0">
            <a:solidFill>
              <a:srgbClr val="5D707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9996C5E-4296-4224-8834-7EA5866C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280" y="4914900"/>
            <a:ext cx="164598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7190D99-6F0C-4B45-A3E1-23C9FF4A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4857750"/>
            <a:ext cx="11287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−2.64 pp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C2FE69-9F97-4440-B521-2548D29B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19350" cy="2952750"/>
          </a:xfrm>
          <a:prstGeom xmlns:a="http://schemas.openxmlformats.org/drawingml/2006/main" prst="roundRect">
            <a:avLst>
              <a:gd name="adj" fmla="val 6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99F007-C2B6-4227-BCA6-77D5913F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9621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DIRECTIONAL RESULT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23D169-3B12-44F4-ABA4-60033050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43150"/>
            <a:ext cx="196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D2430"/>
                </a:solidFill>
              </a:defRPr>
            </a:pPr>
            <a:r>
              <a:rPr sz="2850" b="1">
                <a:solidFill>
                  <a:srgbClr val="0D2430"/>
                </a:solidFill>
              </a:rPr>
              <a:t>6 / 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1C5631-F16B-4C9E-BFC8-702F8B6F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14650"/>
            <a:ext cx="1962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cities improve early safety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B90C9F-AE71-4C83-9C7A-7209DAE3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623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5A2D131-8A91-46D8-A00F-F1FFB9A2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71900"/>
            <a:ext cx="1962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D2430"/>
                </a:solidFill>
              </a:defRPr>
            </a:pPr>
            <a:r>
              <a:rPr sz="1200" b="0">
                <a:solidFill>
                  <a:srgbClr val="0D2430"/>
                </a:solidFill>
              </a:rPr>
              <a:t>Noto and L'Aquila decline: faster information does not remove sparse-network or capacity bottlenecks.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D477F73-BEDC-476A-8309-55EA47D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Δ = leadership scenario − zero-knowledge baseline; percentage points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2D97AD7-D673-43C2-A788-7B76F349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378129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0A3175-F8EA-4E89-AA7F-4C1D2D5D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09 / LIMITS OF INTERVENTION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325CED-965E-4E1F-9C4F-41729D0E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The same LLM policy can help early and harm later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FB980C-599B-49BD-ADC5-33DBB04A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A818B9-6C2D-4D5F-A473-E4BDD30E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0B798F-4B50-4A81-BE54-F84B28EE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Angeles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6F6F7-EB6E-4B1C-9B84-417635EE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430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31A50C-E3CE-4866-8A8C-DDC2E92AF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049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CFBE6A-8DF6-464D-BB47-70CB6E38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743075"/>
            <a:ext cx="874059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1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74C1E-D1A7-44B2-BB69-411E938E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6764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+9.60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0F813A-FA85-4F7B-B8F8-43713640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Wellington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A2CD6A-279D-48CF-B16A-3E294C7B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1932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D5F64A-024F-4FBA-9303-A1AB531E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1E540-E1D8-45F0-83FD-71E13DAD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219325"/>
            <a:ext cx="498031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1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FCEABD-43E4-4AF3-A6AE-61A275CE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526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+5.47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DD92E8-8B03-4253-A080-6CFEC126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Naples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4EC2F-1DF3-4B92-94A6-D4566C8C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955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53FA0E-D899-452D-ACF8-40CF82B3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57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6A874B-0A77-401E-AF19-48E9FA01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695575"/>
            <a:ext cx="30956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1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89AE2C-0013-4FE7-8A9A-99D8A506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289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+0.34 pp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289202-6C39-4DFE-A529-9A37BB65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Taipei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1F5DE9-9995-47BB-AEF5-264A67EF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D77322-E5F4-4D53-AF6D-CF409F22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3372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CE45FD-F6D2-47C1-95AC-E4C56B81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348" y="3171825"/>
            <a:ext cx="32777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C8F2D2-8C01-4A77-A38E-DE7459FF3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1051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−0.36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788E0F-5241-4B23-9D96-F81303F5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Mandalay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AC5D93-AFA7-4C8B-90F6-E53684E5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480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2D746C-57DD-4F42-9984-CE20E54A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6099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1DEAD8-3A5D-4B23-B281-9FE89CB5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481" y="3648075"/>
            <a:ext cx="64644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12A0C3-B2B6-45CD-8B62-72247901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5814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−0.71 pp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77DF81-FA18-47EF-9106-601E1DF1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Kathmandu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BE1BE8-07DA-49B1-97C7-D2E566F7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2432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09CD1E-E675-4BD5-8268-5D2F6B1E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8622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564E76-9FF8-4902-BC18-DC3972C0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2077" y="4124325"/>
            <a:ext cx="91048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A9E865-A173-4A5A-A80C-1B733F6A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0576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−1.00 pp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2A9321-D37B-4BD8-97BD-AC89624B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339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L'Aquila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BE6741-8A76-4F04-A86B-63262031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0057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4E1B94-9DA8-4140-931C-14834EB0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62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0EEE24-796E-4845-B2E3-87DD91AE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2815" y="4600575"/>
            <a:ext cx="80031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85E384-A43D-4E79-B3AF-4F7FC471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−8.79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B18A3CD-8907-45DA-A6B0-3D129303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101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Noto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FEF191-29B0-4E8C-82A5-2DF0D44B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76825"/>
            <a:ext cx="61912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37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6673AE2-6E0E-4241-AD6F-81E3974A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3872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BAC2"/>
          </a:solidFill>
          <a:ln xmlns:a="http://schemas.openxmlformats.org/drawingml/2006/main" w="0">
            <a:solidFill>
              <a:srgbClr val="A7BAC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81F8B1-6EA2-4D04-A663-BFA07B79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5908" y="5076825"/>
            <a:ext cx="2947217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76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FE2663-884E-43A6-9A02-985826C8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0101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−32.37 pp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0EB3DAA-8C93-48A2-9E68-1BBFB1DD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95450"/>
            <a:ext cx="1714500" cy="30099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B61213-F1BD-4287-B8E4-BF9D3345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9050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KEY INTERPRETATION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B7E2C89-9114-4190-AF95-DD8B341C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305050"/>
            <a:ext cx="133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Leadership improves information visibility; it does not create road throughput or shelter capacity.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403EF3A-92B3-4FC1-A0BA-14AC39E2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7338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Noto −32.37 pp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EDE9A8-C4D3-4D4D-A799-C72E50AF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19100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7BAC2"/>
                </a:solidFill>
              </a:defRPr>
            </a:pPr>
            <a:r>
              <a:rPr sz="1050" b="0">
                <a:solidFill>
                  <a:srgbClr val="A7BAC2"/>
                </a:solidFill>
              </a:rPr>
              <a:t>Signals late congestion and allocation failure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812D550-A5E1-42FB-9852-BC32C51E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The same mechanism can produce opposite outcomes under different network–capacity conditions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68937F5-91A8-44E6-B002-33523078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5629834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B47075-63B6-490E-9B58-0A68EFC1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10 / SCENARIO INNOVATION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41A09D-D012-4DAF-A34E-F7AA306E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One Agentic AI mechanism reveals three urban response profiles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107F6A-CAF2-4C64-B355-DAB302D2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A609C-C854-40AC-925F-FD56CDD3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0074B3-F36F-4DC2-85D8-4E5E3ED0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3371850" cy="4229100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161ffa34974009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42950" y="1809750"/>
            <a:ext cx="3105150" cy="1866900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D54FB-3509-4B47-93E0-4DB6C0D6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05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118255-8669-4501-8EE4-66D6F57E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6DDA8C-0951-4393-9EB4-8FBC1F61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8A6D6"/>
                </a:solidFill>
              </a:defRPr>
            </a:pPr>
            <a:r>
              <a:rPr sz="1125" b="1">
                <a:solidFill>
                  <a:srgbClr val="58A6D6"/>
                </a:solidFill>
              </a:rPr>
              <a:t>Early +3.18 pp · late +9.60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B55778-43BB-4D4C-BADE-0710E98F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Dense sites and network redundancy turn information advantage into sustained placement.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7D95C3-A6AC-45BA-B331-74541479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76400"/>
            <a:ext cx="3371850" cy="4229100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6e93a48db4b40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381500" y="1809750"/>
            <a:ext cx="3105150" cy="1866900"/>
          </a:xfrm>
          <a:prstGeom xmlns:a="http://schemas.openxmlformats.org/drawingml/2006/main" prst="round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75B012-0BF7-4DE6-BB8D-B1050C43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05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A5C229-4570-4960-ADD1-970CB6EB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9D9DFF-6568-419D-92AD-9932BB35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B982"/>
                </a:solidFill>
              </a:defRPr>
            </a:pPr>
            <a:r>
              <a:rPr sz="1125" b="1">
                <a:solidFill>
                  <a:srgbClr val="39B982"/>
                </a:solidFill>
              </a:rPr>
              <a:t>Early +2.39 pp · late +5.47 pp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4781B4-1208-432A-8405-A156C626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8577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Leadership still improves allocation on top of high baseline accessibility.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CE47C4-2B76-43A7-90AF-0F0F3439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676400"/>
            <a:ext cx="3371850" cy="4229100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F3F7F7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ef0daac79d4e32"/>
          <a:srcRect xmlns:a="http://schemas.openxmlformats.org/drawingml/2006/main" l="0" t="11048" r="0" b="110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020050" y="1809750"/>
            <a:ext cx="3105150" cy="1866900"/>
          </a:xfrm>
          <a:prstGeom xmlns:a="http://schemas.openxmlformats.org/drawingml/2006/main" prst="round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89D2CC-4315-4051-A38D-15D59B29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05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4A409A-DD7E-4615-BB71-E1C2DED5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F98349-44C2-4180-9DE3-FE9E3C5AC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2766B"/>
                </a:solidFill>
              </a:defRPr>
            </a:pPr>
            <a:r>
              <a:rPr sz="1125" b="1">
                <a:solidFill>
                  <a:srgbClr val="F2766B"/>
                </a:solidFill>
              </a:rPr>
              <a:t>Early −2.20 pp · late −32.37 pp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379D62-FF7B-4A06-8756-58204A6A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577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Low access and sparse supply allow concentrated guidance to amplify capacity constraints.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F90353-86AA-4F7C-87D7-638C43ACE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A common WebGIS structure places mechanism differences beside spatial structure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C5D915-D91D-46B8-BACE-3C9AA781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912935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BEF62C-B5C9-4968-882E-6367975B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11 / AMD LOCAL INFERENCE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A3645-1FAA-41CE-B41D-2DA3D5CD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Local Radeon inference is verified with full-run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55271-68DD-4C02-ADAB-AD79803F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A09DA-5A79-41C2-870F-5A7D4B63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5AD0E-DB12-4145-AFD4-1C408FD6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DB8C4-B60F-4DF8-9CD2-CC2D1CE0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F7F2C-CB2B-4827-8138-DDBF1812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GPU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DC3CA-D38A-4E37-A50B-F1896871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Radeon gfx1100 · 48 GiB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07A64-EC90-4644-AFE5-4F50872F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8DC0E9-583B-44B1-B806-93AC0561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192EC2-6A0A-43D1-87EA-DFDECAF2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RUNTIME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F5DDC-7CF9-47F0-A9C9-E8F1BC3A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ROCm 7.2.1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71B39-38F1-4EDD-B0A8-1B7EA503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73E0E3-B4AC-4751-918A-195C328E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BC7B2-76DD-468E-9AD6-2A4FA80F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MODEL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919BE-B591-402F-B17C-BA23204C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Qwen2.5-7B · Q4_K_M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A70F86-2D13-496B-B7E5-92C62C3B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A0FA7D-58ED-4F58-A48B-CBBE8B40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6B907E-614E-4B5C-80E2-400F4DC9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THROUGHPUT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9D8C9D-6FEA-4ADE-871A-4FEE0872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88.5 tok/s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015A97-07E9-4E38-BDC3-8CAB3069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EDDBB-B9BF-4F8C-BC5B-AF045CC9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4FDBA5-114F-4C2A-845F-8707CFEF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SLOTS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8F6E73-9F93-4315-9240-FB90D698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32 concurrent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120515-8680-4FA4-8957-7E7A3A1F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B713B8-AF00-4C7D-A665-2E9B5711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BAD49D-5804-4B4B-AA07-5DB5E7EF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XI'AN RUN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AF77A4-7C37-4255-838D-C79D97B0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4,242 LLM calls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379092-FAC6-4A61-8372-D5F34E01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8E7C50-073E-4BEF-B7C2-AD383796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BD084F-B457-452B-8A32-67B07816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DECISION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1B1A6F-78C7-4E79-B9F8-B3690628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0.285 s mean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5680BD-5F6A-453E-99FA-CECD4579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C263EA-2C59-46DD-ABEF-A3810AD0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A6A70E-2CC6-466B-939C-5B74C604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VALIDITY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A5CFB4-59D1-4297-A347-271A8E68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 failed / unparseable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648400-13A1-452E-BAEC-C20F2531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D20D9E-3DAC-48F4-B0D7-B9D76264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1B5E9D-9CAF-4853-9636-71C87CC2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APPLICATION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E1DB8A-D05D-46FB-ACDF-7254E99C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100% decisions applied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F187F2-1CC7-468A-BCBF-308BBC84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32B2A9-7329-4D1D-986D-62C286B2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10251F-5EE0-41C5-BF4F-9D0DCDAB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VRAM CAP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1BF0F6-48F3-46AE-BA0C-3D2808C0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Torch capped at 42%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4F5ACF-13A6-48A7-A554-A5AB4818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5156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E1C829-35AA-48CF-AD74-17AC339D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95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OPTIMIZED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B47050-8F31-4C42-9BB4-FF811DD1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838700"/>
            <a:ext cx="893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Full GPU offload · quantization · batching · constrained JSON · VRAM partitioning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FCC7153-7ABD-4C5F-8272-8522E406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Measured locally; CPU-vs-ROCm comparison remains a final benchmark gap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62FFCB-C15C-4525-9E4E-778724C5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09408991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7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BEF62C-B5C9-4968-882E-6367975B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12 / AMD OPTIMIZATION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A3645-1FAA-41CE-B41D-2DA3D5CD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The stack is tuned for throughput, validity, and shared VRAM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55271-68DD-4C02-ADAB-AD79803F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A09DA-5A79-41C2-870F-5A7D4B63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B96"/>
          </a:solidFill>
          <a:ln xmlns:a="http://schemas.openxmlformats.org/drawingml/2006/main" w="0">
            <a:solidFill>
              <a:srgbClr val="159B9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5AD0E-DB12-4145-AFD4-1C408FD6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DB8C4-B60F-4DF8-9CD2-CC2D1CE0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F7F2C-CB2B-4827-8138-DDBF1812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QUANTIZE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DC3CA-D38A-4E37-A50B-F1896871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Q4_K_M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07A64-EC90-4644-AFE5-4F50872F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8DC0E9-583B-44B1-B806-93AC0561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192EC2-6A0A-43D1-87EA-DFDECAF2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GPU OFFLOAD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F5DDC-7CF9-47F0-A9C9-E8F1BC3A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All model layers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71B39-38F1-4EDD-B0A8-1B7EA503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73E0E3-B4AC-4751-918A-195C328E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BC7B2-76DD-468E-9AD6-2A4FA80F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SLOTS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919BE-B591-402F-B17C-BA23204C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32 concurrent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A70F86-2D13-496B-B7E5-92C62C3B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A0FA7D-58ED-4F58-A48B-CBBE8B40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6B907E-614E-4B5C-80E2-400F4DC9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BATCHING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9D8C9D-6FEA-4ADE-871A-4FEE0872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Continuous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015A97-07E9-4E38-BDC3-8CAB3069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79070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EDDBB-B9BF-4F8C-BC5B-AF045CC9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96215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4FDBA5-114F-4C2A-845F-8707CFEF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1526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JSON VALIDITY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8F6E73-9F93-4315-9240-FB90D698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3365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Grammar-constrained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120515-8680-4FA4-8957-7E7A3A1F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B713B8-AF00-4C7D-A665-2E9B5711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BAD49D-5804-4B4B-AA07-5DB5E7EF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VRAM CAP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AF77A4-7C37-4255-838D-C79D97B0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Torch 42%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379092-FAC6-4A61-8372-D5F34E01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8E7C50-073E-4BEF-B7C2-AD383796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82"/>
          </a:solidFill>
          <a:ln xmlns:a="http://schemas.openxmlformats.org/drawingml/2006/main" w="0">
            <a:solidFill>
              <a:srgbClr val="39B9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BD084F-B457-452B-8A32-67B07816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CONTEXT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1B1A6F-78C7-4E79-B9F8-B3690628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Compact memory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5680BD-5F6A-453E-99FA-CECD4579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C263EA-2C59-46DD-ABEF-A3810AD0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A6A70E-2CC6-466B-939C-5B74C604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APPLIED RATE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7A5CFB4-59D1-4297-A347-271A8E68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100%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648400-13A1-452E-BAEC-C20F2531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D20D9E-3DAC-48F4-B0D7-B9D76264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1B5E9D-9CAF-4853-9636-71C87CC2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THROUGHPUT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E1DB8A-D05D-46FB-ACDF-7254E99C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88.5 tok/s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F187F2-1CC7-468A-BCBF-308BBC84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43250"/>
            <a:ext cx="194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32B2A9-7329-4D1D-986D-62C286B2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14700"/>
            <a:ext cx="381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6D6"/>
          </a:solidFill>
          <a:ln xmlns:a="http://schemas.openxmlformats.org/drawingml/2006/main" w="0">
            <a:solidFill>
              <a:srgbClr val="58A6D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10251F-5EE0-41C5-BF4F-9D0DCDAB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05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MEAN CALL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1BF0F6-48F3-46AE-BA0C-3D2808C0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886200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0.285 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4F5ACF-13A6-48A7-A554-A5AB4818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5156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D24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E1C829-35AA-48CF-AD74-17AC339D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95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WHY IT MATTERS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B47050-8F31-4C42-9BB4-FF811DD1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838700"/>
            <a:ext cx="893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Optimization prevents simulator/LLM contention while keeping every leader decision parseable and executable.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FCC7153-7ABD-4C5F-8272-8522E406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Measured on AMD Radeon gfx1100 · 48 GiB · ROCm 7.2.1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62FFCB-C15C-4525-9E4E-778724C5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09408991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726515-D2D0-4362-82C1-1E786B3B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13 / REPRODUCIBLE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91321-A9E2-465B-B1F1-D2907549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A five-minute proof sequence covers the full 60/40 rubric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39858-3EAD-4C3D-8F2B-D665E21C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B1FC1-728D-46F0-BCC0-57298C8A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370B4-999A-4E76-9074-A4AABCE9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65440-1318-4A5A-A31D-AE9D6244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76A29-1953-404F-A7BE-C2BC228C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8D1C9"/>
                </a:solidFill>
              </a:defRPr>
            </a:pPr>
            <a:r>
              <a:rPr sz="1350" b="1">
                <a:solidFill>
                  <a:srgbClr val="38D1C9"/>
                </a:solidFill>
              </a:rPr>
              <a:t>STEP 1 / APPLICATION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24D74-D678-4B01-8E8A-035D7B60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8478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Open the English WebGIS; switch Xi’an to Dynamic simulation.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1AB1B-925E-4F7A-9D42-B64B1B2C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A4322-EBF8-4E09-BFD6-11758336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A5703-11DE-43E5-8765-031FC1E2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CA64"/>
                </a:solidFill>
              </a:defRPr>
            </a:pPr>
            <a:r>
              <a:rPr sz="1350" b="1">
                <a:solidFill>
                  <a:srgbClr val="F4CA64"/>
                </a:solidFill>
              </a:rPr>
              <a:t>STEP 2 / AGENTS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EDA0A0-C1F0-463E-A7F9-096D9E62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4800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Compare baseline with LLM leadership; play the decision cycle.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70159-6BD2-4819-8E44-CFB2EB90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2F9533-5DF9-4ABA-9FF5-49D49D47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89273-0B0B-4FE9-A11F-357DB064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STEP 3 / AMD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AEA2F-1CF3-43E5-951F-B47368F4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481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Show local server/GPU health and validated run metrics.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E1669C-9AF1-4CAD-821B-90099E16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5543550" cy="339090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191532-1B67-4AE9-B11A-10BDF2D1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9B96"/>
                </a:solidFill>
              </a:defRPr>
            </a:pPr>
            <a:r>
              <a:rPr sz="1425" b="1">
                <a:solidFill>
                  <a:srgbClr val="159B96"/>
                </a:solidFill>
              </a:rPr>
              <a:t>JUDGE PROOF SEQUENCE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ED774C-8903-4E49-9845-888ECFFB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EB1B82-9442-463D-AAB7-9950B32F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47ACA7-70AF-469F-895B-BB465EC2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350 active jurisdiction leaders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C5346D-5776-4D9E-8615-6C48ABA5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6489B-6ABC-4A35-BF3F-A1A25A46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8B807F-98BB-45F4-A02F-C72A2861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384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4,242 tool decisions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F0229F-9DE8-4A70-A1BA-D925B18D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D646A-A7A0-44E2-AF93-2782F6A0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41CCB4-533B-4C32-96A4-0FF4E816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337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0 failed / unparseable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AF9FF7-F56B-4DBB-A911-1705532C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A980A2-25F8-4A26-A48D-079E6D53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559D2E-0711-4D5E-817E-ECFB50BF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290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239,835 resident belief updates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A4402E-2DAD-4A58-8489-C89A57C9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ED0FC2-D7A6-4722-B23D-F0D6BC2A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71FAAE-9283-47C3-8475-C345CB9D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243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100% decisions applied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F70AE8-5607-4CCD-8964-57054A0D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REPRODUCIBILITY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AE84C7-5415-4F53-B0F3-25374338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86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Every claim links to a run summary, WebGIS state, or local inference benchmark.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9CD580-46CB-4349-9262-89B21938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A five-minute demo can cover the entire 60/40 scoring path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69F422-3C4D-4F25-A3DC-FA7BD157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726515-D2D0-4362-82C1-1E786B3B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14 / CLAIM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91321-A9E2-465B-B1F1-D2907549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Strong evidence is clearer when its limits are explicit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39858-3EAD-4C3D-8F2B-D665E21C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B1FC1-728D-46F0-BCC0-57298C8A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370B4-999A-4E76-9074-A4AABCE9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65440-1318-4A5A-A31D-AE9D6244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76A29-1953-404F-A7BE-C2BC228C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8D1C9"/>
                </a:solidFill>
              </a:defRPr>
            </a:pPr>
            <a:r>
              <a:rPr sz="1350" b="1">
                <a:solidFill>
                  <a:srgbClr val="38D1C9"/>
                </a:solidFill>
              </a:rPr>
              <a:t>ESTABLISHED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24D74-D678-4B01-8E8A-035D7B60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8478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Agents reason, plan, call tools, use compact memory, and mutate simulator state.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1AB1B-925E-4F7A-9D42-B64B1B2C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A4322-EBF8-4E09-BFD6-11758336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A5703-11DE-43E5-8765-031FC1E2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CA64"/>
                </a:solidFill>
              </a:defRPr>
            </a:pPr>
            <a:r>
              <a:rPr sz="1350" b="1">
                <a:solidFill>
                  <a:srgbClr val="F4CA64"/>
                </a:solidFill>
              </a:rPr>
              <a:t>MEASURED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EDA0A0-C1F0-463E-A7F9-096D9E62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4800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Local Radeon/ROCm runs provide latency, throughput, validity, and application metrics.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70159-6BD2-4819-8E44-CFB2EB90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2F9533-5DF9-4ABA-9FF5-49D49D47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89273-0B0B-4FE9-A11F-357DB064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NOT CLAIMED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AEA2F-1CF3-43E5-951F-B47368F4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481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Leadership always improves outcomes, official capacities, or causal significance from one seed.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E1669C-9AF1-4CAD-821B-90099E16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5543550" cy="339090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191532-1B67-4AE9-B11A-10BDF2D1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9B96"/>
                </a:solidFill>
              </a:defRPr>
            </a:pPr>
            <a:r>
              <a:rPr sz="1425" b="1">
                <a:solidFill>
                  <a:srgbClr val="159B96"/>
                </a:solidFill>
              </a:rPr>
              <a:t>NEXT 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ED774C-8903-4E49-9845-888ECFFB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EB1B82-9442-463D-AAB7-9950B32F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47ACA7-70AF-469F-895B-BB465EC2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CPU-vs-ROCm same-model baseline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C5346D-5776-4D9E-8615-6C48ABA5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6489B-6ABC-4A35-BF3F-A1A25A46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8B807F-98BB-45F4-A02F-C72A2861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384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Repeated benchmark capture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F0229F-9DE8-4A70-A1BA-D925B18D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D646A-A7A0-44E2-AF93-2782F6A0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41CCB4-533B-4C32-96A4-0FF4E816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337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Multiple random seeds and confidence intervals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AF9FF7-F56B-4DBB-A911-1705532C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A980A2-25F8-4A26-A48D-079E6D53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559D2E-0711-4D5E-817E-ECFB50BF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290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Official shelter capacity and damaged roads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A4402E-2DAD-4A58-8489-C89A57C9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ED0FC2-D7A6-4722-B23D-F0D6BC2A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71FAAE-9283-47C3-8475-C345CB9D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243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Parameter calibration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F70AE8-5607-4CCD-8964-57054A0D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WHY THIS HELPS THE SCORE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AE84C7-5415-4F53-B0F3-25374338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86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Clear boundaries make the working Agentic AI evidence more credible.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9CD580-46CB-4349-9262-89B21938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Separate demonstrated capability from the next validation milestone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69F422-3C4D-4F25-A3DC-FA7BD157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4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726515-D2D0-4362-82C1-1E786B3B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15 / FINAL SCORECARD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91321-A9E2-465B-B1F1-D2907549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Score the evidence—not the promise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39858-3EAD-4C3D-8F2B-D665E21C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524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B1FC1-728D-46F0-BCC0-57298C8A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370B4-999A-4E76-9074-A4AABCE9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65440-1318-4A5A-A31D-AE9D6244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1C9"/>
          </a:solidFill>
          <a:ln xmlns:a="http://schemas.openxmlformats.org/drawingml/2006/main" w="0">
            <a:solidFill>
              <a:srgbClr val="38D1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76A29-1953-404F-A7BE-C2BC228C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8D1C9"/>
                </a:solidFill>
              </a:defRPr>
            </a:pPr>
            <a:r>
              <a:rPr sz="1350" b="1">
                <a:solidFill>
                  <a:srgbClr val="38D1C9"/>
                </a:solidFill>
              </a:rPr>
              <a:t>FUNCTIONAL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24D74-D678-4B01-8E8A-035D7B60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8478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Working ten-city pipeline, agent execution, English WebGIS, playback, and scenario comparison.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1AB1B-925E-4F7A-9D42-B64B1B2C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A4322-EBF8-4E09-BFD6-11758336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A64"/>
          </a:solidFill>
          <a:ln xmlns:a="http://schemas.openxmlformats.org/drawingml/2006/main" w="0">
            <a:solidFill>
              <a:srgbClr val="F4CA6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A5703-11DE-43E5-8765-031FC1E2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CA64"/>
                </a:solidFill>
              </a:defRPr>
            </a:pPr>
            <a:r>
              <a:rPr sz="1350" b="1">
                <a:solidFill>
                  <a:srgbClr val="F4CA64"/>
                </a:solidFill>
              </a:rPr>
              <a:t>INNOVATION + UX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EDA0A0-C1F0-463E-A7F9-096D9E62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4800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City-scale leader–resident coordination with inspectable road, capacity, and information mechanisms.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70159-6BD2-4819-8E44-CFB2EB90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086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532"/>
          </a:solidFill>
          <a:ln xmlns:a="http://schemas.openxmlformats.org/drawingml/2006/main" w="9525">
            <a:solidFill>
              <a:srgbClr val="2441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2F9533-5DF9-4ABA-9FF5-49D49D47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457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766B"/>
          </a:solidFill>
          <a:ln xmlns:a="http://schemas.openxmlformats.org/drawingml/2006/main" w="0">
            <a:solidFill>
              <a:srgbClr val="F276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89273-0B0B-4FE9-A11F-357DB064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AMD + ROCM / 40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AEA2F-1CF3-43E5-951F-B47368F4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48150"/>
            <a:ext cx="33718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Real local Radeon inference is verified with concurrency, validity, throughput, and VRAM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E1669C-9AF1-4CAD-821B-90099E16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5543550" cy="339090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191532-1B67-4AE9-B11A-10BDF2D1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9B96"/>
                </a:solidFill>
              </a:defRPr>
            </a:pPr>
            <a:r>
              <a:rPr sz="1425" b="1">
                <a:solidFill>
                  <a:srgbClr val="159B96"/>
                </a:solidFill>
              </a:rPr>
              <a:t>LIVE DEMO ORDER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ED774C-8903-4E49-9845-888ECFFB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EB1B82-9442-463D-AAB7-9950B32F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47ACA7-70AF-469F-895B-BB465EC2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Open the English ten-city WebGIS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C5346D-5776-4D9E-8615-6C48ABA5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B96"/>
          </a:solidFill>
          <a:ln xmlns:a="http://schemas.openxmlformats.org/drawingml/2006/main" w="9525">
            <a:solidFill>
              <a:srgbClr val="159B9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6489B-6ABC-4A35-BF3F-A1A25A46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8B807F-98BB-45F4-A02F-C72A2861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384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Show road tiers and the model adjacency network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F0229F-9DE8-4A70-A1BA-D925B18D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D646A-A7A0-44E2-AF93-2782F6A0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41CCB4-533B-4C32-96A4-0FF4E816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337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Run baseline vs LLM playback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AF9FF7-F56B-4DBB-A911-1705532C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A980A2-25F8-4A26-A48D-079E6D53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559D2E-0711-4D5E-817E-ECFB50BF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290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Show the local LLM health / GPU monitor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A4402E-2DAD-4A58-8489-C89A57C9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3"/>
          </a:solidFill>
          <a:ln xmlns:a="http://schemas.openxmlformats.org/drawingml/2006/main" w="9525">
            <a:solidFill>
              <a:srgbClr val="D6E1E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ED0FC2-D7A6-4722-B23D-F0D6BC2A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71FAAE-9283-47C3-8475-C345CB9D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24350"/>
            <a:ext cx="432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Open Xi’an metrics: 4,242 calls, 0 failures, 100% applied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F70AE8-5607-4CCD-8964-57054A0D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SUBMISSION CLAIM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AE84C7-5415-4F53-B0F3-25374338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86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QuakeSense is a functional Agentic AI system whose local LLM decisions execute inside a city-scale emergency simulation on AMD Radeon + ROCm.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9CD580-46CB-4349-9262-89B21938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Show working agents, Radeon evidence, and measurable application value—without overstating causality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69F422-3C4D-4F25-A3DC-FA7BD157C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2026-08-04T09:28:04.3640000Z</dcterms:created>
  <dcterms:modified xsi:type="dcterms:W3CDTF">2026-08-04T09:28:04.3650000Z</dcterms:modified>
</coreProperties>
</file>