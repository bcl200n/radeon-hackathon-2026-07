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b48fd0aa384583" /><Relationship Type="http://schemas.openxmlformats.org/officeDocument/2006/relationships/extended-properties" Target="/docProps/app.xml" Id="Rea1f03f2e80c4ac5" /><Relationship Type="http://schemas.openxmlformats.org/officeDocument/2006/relationships/officeDocument" Target="/ppt/presentation.xml" Id="R22f50a44a22e44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89bc50cd574dd2"/>
  </p:sldMasterIdLst>
  <p:notesMasterIdLst>
    <p:notesMasterId xmlns:r="http://schemas.openxmlformats.org/officeDocument/2006/relationships" r:id="R66631a53aa0a4377"/>
  </p:notesMasterIdLst>
  <p:sldIdLst>
    <p:sldId xmlns:r="http://schemas.openxmlformats.org/officeDocument/2006/relationships" id="256" r:id="Rb1385acb0ad94418"/>
    <p:sldId xmlns:r="http://schemas.openxmlformats.org/officeDocument/2006/relationships" id="257" r:id="R1b3d4e0ff2684139"/>
    <p:sldId xmlns:r="http://schemas.openxmlformats.org/officeDocument/2006/relationships" id="258" r:id="Rc8d7a54f3d854d56"/>
    <p:sldId xmlns:r="http://schemas.openxmlformats.org/officeDocument/2006/relationships" id="259" r:id="Rf746bf08ec074510"/>
    <p:sldId xmlns:r="http://schemas.openxmlformats.org/officeDocument/2006/relationships" id="260" r:id="R962abf3013254378"/>
    <p:sldId xmlns:r="http://schemas.openxmlformats.org/officeDocument/2006/relationships" id="261" r:id="R6597e2ce027745bb"/>
    <p:sldId xmlns:r="http://schemas.openxmlformats.org/officeDocument/2006/relationships" id="262" r:id="R7169ba685bd54fb3"/>
    <p:sldId xmlns:r="http://schemas.openxmlformats.org/officeDocument/2006/relationships" id="263" r:id="R60dc1f4278fc42d0"/>
    <p:sldId xmlns:r="http://schemas.openxmlformats.org/officeDocument/2006/relationships" id="264" r:id="R11310f33da24449c"/>
    <p:sldId xmlns:r="http://schemas.openxmlformats.org/officeDocument/2006/relationships" id="265" r:id="R4649bfaa92b048d0"/>
    <p:sldId xmlns:r="http://schemas.openxmlformats.org/officeDocument/2006/relationships" id="266" r:id="Ra6b92c16b43d40af"/>
    <p:sldId xmlns:r="http://schemas.openxmlformats.org/officeDocument/2006/relationships" id="267" r:id="Rb38c12688d564836"/>
    <p:sldId xmlns:r="http://schemas.openxmlformats.org/officeDocument/2006/relationships" id="268" r:id="Ra36cdb5974814389"/>
    <p:sldId xmlns:r="http://schemas.openxmlformats.org/officeDocument/2006/relationships" id="269" r:id="Rf8fa2a59c583453d"/>
    <p:sldId xmlns:r="http://schemas.openxmlformats.org/officeDocument/2006/relationships" id="270" r:id="Ra6016c1612de400a"/>
    <p:sldId xmlns:r="http://schemas.openxmlformats.org/officeDocument/2006/relationships" id="271" r:id="Re87302fd222c4d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619fba07ab44d8" /><Relationship Type="http://schemas.openxmlformats.org/officeDocument/2006/relationships/slideMaster" Target="/ppt/slideMasters/slideMaster1.xml" Id="R1f89bc50cd574dd2" /><Relationship Type="http://schemas.openxmlformats.org/officeDocument/2006/relationships/notesMaster" Target="/ppt/notesMasters/notesMaster1.xml" Id="R66631a53aa0a4377" /><Relationship Type="http://schemas.openxmlformats.org/officeDocument/2006/relationships/presProps" Target="/ppt/presProps.xml" Id="R3485a13839f74ea5" /><Relationship Type="http://schemas.openxmlformats.org/officeDocument/2006/relationships/tableStyles" Target="/ppt/tableStyles.xml" Id="Rea95fc125bce4188" /><Relationship Type="http://schemas.openxmlformats.org/officeDocument/2006/relationships/slide" Target="/ppt/slides/slide1.xml" Id="Rb1385acb0ad94418" /><Relationship Type="http://schemas.openxmlformats.org/officeDocument/2006/relationships/slide" Target="/ppt/slides/slide2.xml" Id="R1b3d4e0ff2684139" /><Relationship Type="http://schemas.openxmlformats.org/officeDocument/2006/relationships/slide" Target="/ppt/slides/slide3.xml" Id="Rc8d7a54f3d854d56" /><Relationship Type="http://schemas.openxmlformats.org/officeDocument/2006/relationships/slide" Target="/ppt/slides/slide4.xml" Id="Rf746bf08ec074510" /><Relationship Type="http://schemas.openxmlformats.org/officeDocument/2006/relationships/slide" Target="/ppt/slides/slide5.xml" Id="R962abf3013254378" /><Relationship Type="http://schemas.openxmlformats.org/officeDocument/2006/relationships/slide" Target="/ppt/slides/slide6.xml" Id="R6597e2ce027745bb" /><Relationship Type="http://schemas.openxmlformats.org/officeDocument/2006/relationships/slide" Target="/ppt/slides/slide7.xml" Id="R7169ba685bd54fb3" /><Relationship Type="http://schemas.openxmlformats.org/officeDocument/2006/relationships/slide" Target="/ppt/slides/slide8.xml" Id="R60dc1f4278fc42d0" /><Relationship Type="http://schemas.openxmlformats.org/officeDocument/2006/relationships/slide" Target="/ppt/slides/slide9.xml" Id="R11310f33da24449c" /><Relationship Type="http://schemas.openxmlformats.org/officeDocument/2006/relationships/slide" Target="/ppt/slides/slide10.xml" Id="R4649bfaa92b048d0" /><Relationship Type="http://schemas.openxmlformats.org/officeDocument/2006/relationships/slide" Target="/ppt/slides/slide11.xml" Id="Ra6b92c16b43d40af" /><Relationship Type="http://schemas.openxmlformats.org/officeDocument/2006/relationships/slide" Target="/ppt/slides/slide12.xml" Id="Rb38c12688d564836" /><Relationship Type="http://schemas.openxmlformats.org/officeDocument/2006/relationships/slide" Target="/ppt/slides/slide13.xml" Id="Ra36cdb5974814389" /><Relationship Type="http://schemas.openxmlformats.org/officeDocument/2006/relationships/slide" Target="/ppt/slides/slide14.xml" Id="Rf8fa2a59c583453d" /><Relationship Type="http://schemas.openxmlformats.org/officeDocument/2006/relationships/slide" Target="/ppt/slides/slide15.xml" Id="Ra6016c1612de400a" /><Relationship Type="http://schemas.openxmlformats.org/officeDocument/2006/relationships/slide" Target="/ppt/slides/slide16.xml" Id="Re87302fd222c4d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0527952f3a4f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dbec5ae5e346a7" /><Relationship Type="http://schemas.openxmlformats.org/officeDocument/2006/relationships/notesMaster" Target="/ppt/notesMasters/notesMaster1.xml" Id="R1f9f580bbe124f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25195c1e8d4197" /><Relationship Type="http://schemas.openxmlformats.org/officeDocument/2006/relationships/notesMaster" Target="/ppt/notesMasters/notesMaster1.xml" Id="R00e0842ab1b34a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8a73ed81814033" /><Relationship Type="http://schemas.openxmlformats.org/officeDocument/2006/relationships/notesMaster" Target="/ppt/notesMasters/notesMaster1.xml" Id="Rb4b0107795f040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c3bcab0360433f" /><Relationship Type="http://schemas.openxmlformats.org/officeDocument/2006/relationships/notesMaster" Target="/ppt/notesMasters/notesMaster1.xml" Id="Rfcdf4ade0afa48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dc1fd7e89f4530" /><Relationship Type="http://schemas.openxmlformats.org/officeDocument/2006/relationships/notesMaster" Target="/ppt/notesMasters/notesMaster1.xml" Id="Rd2e1863f727d41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f9f870fb824718" /><Relationship Type="http://schemas.openxmlformats.org/officeDocument/2006/relationships/notesMaster" Target="/ppt/notesMasters/notesMaster1.xml" Id="Rf4515bc07a3f4b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fe55ac27574340" /><Relationship Type="http://schemas.openxmlformats.org/officeDocument/2006/relationships/notesMaster" Target="/ppt/notesMasters/notesMaster1.xml" Id="R79857336e00640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b6dbb7853547bd" /><Relationship Type="http://schemas.openxmlformats.org/officeDocument/2006/relationships/notesMaster" Target="/ppt/notesMasters/notesMaster1.xml" Id="R969235467cab42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76a27f21484b2a" /><Relationship Type="http://schemas.openxmlformats.org/officeDocument/2006/relationships/notesMaster" Target="/ppt/notesMasters/notesMaster1.xml" Id="R1c37be2cd84b43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9e9b16a568434b" /><Relationship Type="http://schemas.openxmlformats.org/officeDocument/2006/relationships/notesMaster" Target="/ppt/notesMasters/notesMaster1.xml" Id="R2a122ee943e444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35a9e9a8534e02" /><Relationship Type="http://schemas.openxmlformats.org/officeDocument/2006/relationships/notesMaster" Target="/ppt/notesMasters/notesMaster1.xml" Id="Ra35f29d04ba840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502fbc6ae749de" /><Relationship Type="http://schemas.openxmlformats.org/officeDocument/2006/relationships/notesMaster" Target="/ppt/notesMasters/notesMaster1.xml" Id="R95c9e7cec2b24ca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ff76ce90c14400" /><Relationship Type="http://schemas.openxmlformats.org/officeDocument/2006/relationships/notesMaster" Target="/ppt/notesMasters/notesMaster1.xml" Id="R095451cbccc8408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6afb5f013c4c39" /><Relationship Type="http://schemas.openxmlformats.org/officeDocument/2006/relationships/notesMaster" Target="/ppt/notesMasters/notesMaster1.xml" Id="Rea35968b98c945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49d70103bbc4123" /><Relationship Type="http://schemas.openxmlformats.org/officeDocument/2006/relationships/notesMaster" Target="/ppt/notesMasters/notesMaster1.xml" Id="R13d1423c299b4c7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800cd7de404b39" /><Relationship Type="http://schemas.openxmlformats.org/officeDocument/2006/relationships/notesMaster" Target="/ppt/notesMasters/notesMaster1.xml" Id="Rbc71364dd0b545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research question and define the product immediately: we developed QuakeSense as an executable LLM-driven evacuation system, not a map dashboard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Repeat the one-sentence system context before walking through the score map. Slides 3–11 answer the 60-point block; slides 12–13 answer the 40-point AMD/ROCm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closed loop from real inputs to agent reasoning, validated tool execution, simulator state change, and an inspectable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ten-minute scheduler: observe, reason, plan, validate, execute, update memory, and replan.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Xi’an as the live proof that the LLM layer executes: 350 leaders, 4,242 decisions, no parse failures, and 100 percent application.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http://127.0.0.1:8788/xian.html</a:t>
            </a:r>
          </a:p>
          <a:p xmlns:a="http://schemas.openxmlformats.org/drawingml/2006/main">
            <a:r>
              <a:t>- /workspace/persistence/codex/project/results_current/xian_llm000/summary.json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English-first WebGIS controls and explain that roads are both visible layers and computational adjacency inputs.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http://127.0.0.1:8788/</a:t>
            </a:r>
          </a:p>
          <a:p xmlns:a="http://schemas.openxmlformats.org/drawingml/2006/main">
            <a:r>
              <a:t>- /workspace/persistence/codex/project/webgis/index.html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application is not a one-city mock-up. A shared agent contract is exercised against ten different urban structures.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/workspace/persistence/codex/project/results_current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Physical access is diagnosed before behavioral interpretation, preventing the AI story from hiding road-network constraints.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early outcomes to show that leadership materially changes the trajectory, while keeping claims descriptive.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Leadership is a mechanism, not a guaranteed improvement. Long-run outcomes can reverse because capacity and road constraints persist.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innovation as a transferable leader–resident mechanism that exposes different city response profiles.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measured local Radeon evidence: GPU identity, ROCm version, model, concurrency, throughput, latency, validity, and application 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/workspace/persistence/codex/project/results_current/xian_llm000/summary.json</a:t>
            </a:r>
          </a:p>
          <a:p xmlns:a="http://schemas.openxmlformats.org/drawingml/2006/main">
            <a:r>
              <a:t>- /workspace/persistence/codex/project/results_current/xian_llm000.log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each optimization to a practical failure mode: latency, simulator contention, malformed tool calls, or excessive memory.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/workspace/persistence/codex/project/results_current/xian_llm000/summary.json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Rehearse this exact live sequence. It gives judges visible proof for application value, Agentic AI execution, and AMD local inference in five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http://127.0.0.1:8788/</a:t>
            </a:r>
          </a:p>
          <a:p xmlns:a="http://schemas.openxmlformats.org/drawingml/2006/main">
            <a:r>
              <a:t>- /workspace/persistence/codex/project/results_current/xian_llm000/summary.json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boundaries before judges ask. This separates working capability from the next scientific validation milestone.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/workspace/persistence/codex/project/results_current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in rubric order: 60-point product and value evidence, then 40-point Radeon and ROCm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d0bb82ac6a48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9316cc3b3a45ca" /><Relationship Type="http://schemas.openxmlformats.org/officeDocument/2006/relationships/slideLayout" Target="/ppt/slideLayouts/slideLayout1.xml" Id="Rffa658a411d140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a658a411d140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81ea15cd44e6c" /><Relationship Type="http://schemas.openxmlformats.org/officeDocument/2006/relationships/image" Target="/ppt/media/image.jpeg" Id="R968d66539ac946e7" /><Relationship Type="http://schemas.openxmlformats.org/officeDocument/2006/relationships/notesSlide" Target="/ppt/notesSlides/notesSlide1.xml" Id="R0d9a4913f54342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4500c57554601" /><Relationship Type="http://schemas.openxmlformats.org/officeDocument/2006/relationships/notesSlide" Target="/ppt/notesSlides/notesSlide2.xml" Id="R23049176a75940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7e90d3ea04f04" /><Relationship Type="http://schemas.openxmlformats.org/officeDocument/2006/relationships/notesSlide" Target="/ppt/notesSlides/notesSlide3.xml" Id="Rc32f898b57154d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ea3d54add4f7a" /><Relationship Type="http://schemas.openxmlformats.org/officeDocument/2006/relationships/notesSlide" Target="/ppt/notesSlides/notesSlide4.xml" Id="Rbb7410f7c3e64e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2daebd73742e1" /><Relationship Type="http://schemas.openxmlformats.org/officeDocument/2006/relationships/image" Target="/ppt/media/image2.jpeg" Id="R9c86622222bf43df" /><Relationship Type="http://schemas.openxmlformats.org/officeDocument/2006/relationships/notesSlide" Target="/ppt/notesSlides/notesSlide5.xml" Id="R7e2bcc31c7e247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3e0e03c504672" /><Relationship Type="http://schemas.openxmlformats.org/officeDocument/2006/relationships/image" Target="/ppt/media/image2.jpeg" Id="Rfbdada75483242a6" /><Relationship Type="http://schemas.openxmlformats.org/officeDocument/2006/relationships/notesSlide" Target="/ppt/notesSlides/notesSlide6.xml" Id="Rb6859f04be0247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cc9aafa3142e6" /><Relationship Type="http://schemas.openxmlformats.org/officeDocument/2006/relationships/notesSlide" Target="/ppt/notesSlides/notesSlide7.xml" Id="Rfa4d7fe72cc847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405edf5404929" /><Relationship Type="http://schemas.openxmlformats.org/officeDocument/2006/relationships/notesSlide" Target="/ppt/notesSlides/notesSlide8.xml" Id="R0dbe6af20f5f4f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b4fd3ed2c491e" /><Relationship Type="http://schemas.openxmlformats.org/officeDocument/2006/relationships/notesSlide" Target="/ppt/notesSlides/notesSlide9.xml" Id="Rd93db09adb6d4e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7f99116b64f2e" /><Relationship Type="http://schemas.openxmlformats.org/officeDocument/2006/relationships/notesSlide" Target="/ppt/notesSlides/notesSlide10.xml" Id="Ra1ded95b842240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6a5a6c13b6484e" /><Relationship Type="http://schemas.openxmlformats.org/officeDocument/2006/relationships/image" Target="/ppt/media/image3.jpeg" Id="R0718b06358c6410f" /><Relationship Type="http://schemas.openxmlformats.org/officeDocument/2006/relationships/image" Target="/ppt/media/image4.jpeg" Id="Rf88af77bebe54fd1" /><Relationship Type="http://schemas.openxmlformats.org/officeDocument/2006/relationships/image" Target="/ppt/media/image5.jpeg" Id="R1e9073522cf64a96" /><Relationship Type="http://schemas.openxmlformats.org/officeDocument/2006/relationships/notesSlide" Target="/ppt/notesSlides/notesSlide11.xml" Id="Rc40e73322b4746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c6df4c352433c" /><Relationship Type="http://schemas.openxmlformats.org/officeDocument/2006/relationships/notesSlide" Target="/ppt/notesSlides/notesSlide12.xml" Id="R16b03804fa604e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99990226b4730" /><Relationship Type="http://schemas.openxmlformats.org/officeDocument/2006/relationships/notesSlide" Target="/ppt/notesSlides/notesSlide13.xml" Id="R3ae2a0f71cd9445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a4ef891f44f08" /><Relationship Type="http://schemas.openxmlformats.org/officeDocument/2006/relationships/notesSlide" Target="/ppt/notesSlides/notesSlide14.xml" Id="Rfbe5a066ff3c45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34c9dba814e4b" /><Relationship Type="http://schemas.openxmlformats.org/officeDocument/2006/relationships/notesSlide" Target="/ppt/notesSlides/notesSlide15.xml" Id="Rb12c4cebf6c742d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1692bedf149b0" /><Relationship Type="http://schemas.openxmlformats.org/officeDocument/2006/relationships/notesSlide" Target="/ppt/notesSlides/notesSlide16.xml" Id="R43ff825cea7548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d66539ac946e7"/>
          <a:srcRect xmlns:a="http://schemas.openxmlformats.org/drawingml/2006/main" l="15700" t="0" r="157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0" y="0"/>
            <a:ext cx="6096000" cy="6858000"/>
          </a:xfrm>
          <a:prstGeom xmlns:a="http://schemas.openxmlformats.org/drawingml/2006/main" prst="round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FDF4D-6496-4AB9-8FB2-1B5BB784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1143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855B9-E471-4690-84FD-1B9AC80D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AMD TRACK 2 / AGENTIC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1A7B7-C717-4B28-9DE0-965433FD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49530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When Does Leadership Matter?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2B581-52DA-4533-B262-AAD27241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562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32269-7FEC-4451-840B-9DE2FB51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We developed QuakeSense—an LLM-driven Agentic AI system for emergency evacuation simulation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65917-C37C-4F3E-9FA2-8737A08D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7BAC2"/>
                </a:solidFill>
              </a:defRPr>
            </a:pPr>
            <a:r>
              <a:rPr sz="1425" b="0">
                <a:solidFill>
                  <a:srgbClr val="A7BAC2"/>
                </a:solidFill>
              </a:rPr>
              <a:t>Local LLM leaders reason, plan, use tools, and coordinate resident agents across real city networks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BC8F9-B4A6-4CCF-BCEA-3212A3D5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485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Ten cities · AMD Radeon + ROCm local inference · inspectable English WebGIS</a:t>
            </a:r>
          </a:p>
        </p:txBody>
      </p:sp>
    </p:spTree>
    <p:extLst>
      <p:ext uri="{BB962C8B-B14F-4D97-AF65-F5344CB8AC3E}">
        <p14:creationId xmlns:p14="http://schemas.microsoft.com/office/powerpoint/2010/main" val="1725178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01 / JUDGING RUBRIC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Every scoring item has a visible proof 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60 POINTS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Functional completeness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Data → agent decisions → simulation → English WebGIS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WITHIN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Scenario innovation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Local AI leaders coordinate millions of resident agents under disaster constraints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WITHIN 60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User experience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Ten-city switching, road tiers, playback, and scenario comparison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40 POINTS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AMD Radeon + ROCm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Real local inference, measured runs, and memory/concurrency optimization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15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816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SYSTEM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435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We developed QuakeSense to connect LLM leaders, resident agents, evacuation simulation, and an inspectable WebGIS in one executable system.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With the system defined, the deck follows the 60/40 rubric directly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02 / FUNCTIONAL COMPLETENESS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QuakeSense closes the full problem-solving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INPUTS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Real city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Population, roads, terrain, shelters,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AGENTS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Reason and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Leaders observe local briefs; residents maintain beliefs and routes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EXECUTION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Tools change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Validated broadcasts update knowledge, movement, and allocation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PRODUCT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Inspectable WebGIS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Baseline/LLM comparison, layers, playback, and metrics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15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816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PROOF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435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working path runs from real inputs to agent action, measurable outcomes, and an English decision interface.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Functional completeness is demonstrated live—not inferred from architecture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EAABD5-806E-4789-8ED9-4653130E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03 / LLM LEADERSHIP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BB84D-0BFD-4D86-9BEA-8DA31B8A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A scheduled leader layer changes resident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79B48-37C0-4A17-A85A-A0BC3D3D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4023E-D24F-4B8E-AC0E-8578BB53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6D494-CAED-4BEA-9E79-AEBAFEAA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07BBF-3255-4A8B-974D-A57AE1DD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E2EDDA-7DA2-43DF-87F9-ECF26119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① OBSERVE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82001A-EBAF-4283-B617-D395C645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Every 10 minutes, each leader receives its jurisdiction's local brief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53052-A2FB-403D-84B0-F8710E2D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261B1D-B3FF-49AE-957B-0BDD4508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1A28F-8535-4FB5-B307-064ABA57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5BD33-A0EB-414B-A1C2-F85E65FC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② REASON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3EA4F-11C6-4C98-BDDD-0BD3DD6D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Local Qwen combines the current brief with compact leader 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97FF93-F71B-49E9-AC9C-0DB24B6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02A67-B976-41C8-BE9A-32B17095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9525">
            <a:solidFill>
              <a:srgbClr val="0D24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613E2-32DC-40D6-97C1-507EB742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14940-9670-4285-B6B0-291449F6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③ PLAN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B93C33-5CE8-477C-97DD-71639E3B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AC2"/>
                </a:solidFill>
              </a:defRPr>
            </a:pPr>
            <a:r>
              <a:rPr sz="1200" b="0">
                <a:solidFill>
                  <a:srgbClr val="A7BAC2"/>
                </a:solidFill>
              </a:rPr>
              <a:t>The leader chooses which shelters and warnings to broadcast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54D39-063E-4CCF-AFDD-4DD2C19F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496337-74BF-4AC6-9C50-5A5CDD59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CE0152-49BF-4826-93FF-B0D0500E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DB70A3-D1E5-47C5-A4CD-9D686D89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④ USE TOOLS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728B51-8925-4AC2-94F6-AEFA7975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Grammar-constrained JSON validates shelter IDs before execution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28C553-3ECD-4828-9AA9-59859739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E89D91-9F41-4649-843A-D7152E3D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FD2183-E97B-4333-9309-22A5FE16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D74200-0790-4088-9DDF-5AC72C84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⑤ EXECUTE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7536CD-E1FC-4DDE-AADE-50B245D8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Broadcasts update resident beliefs and routes; the next round replans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70DB2F-1FD1-4CC5-8EBB-0DEA5891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51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D2430"/>
                </a:solidFill>
              </a:defRPr>
            </a:pPr>
            <a:r>
              <a:rPr sz="1650" b="1">
                <a:solidFill>
                  <a:srgbClr val="0D2430"/>
                </a:solidFill>
              </a:rPr>
              <a:t>Xi'an: 350 leaders partition 12.95 million residents into balanced jurisdictions.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202D3C-F0C8-4321-B19E-138B94BC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Observe → reason → plan → validated tool → state change → replan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7B73FC-2FF6-48F4-B4B8-59B694FB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4933867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7A35A6-D8CC-46D2-AD8E-4A8BC7F0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04 / LIVE AGENT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F18CD-6CC8-49FD-A6DD-D99AB00C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350 local LLM leaders execute inside the WebGIS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0AD7D-3F21-4C11-90BF-501CA6EB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67389-8E09-4882-A212-6EB3D0A6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6622222bf43df"/>
          <a:srcRect xmlns:a="http://schemas.openxmlformats.org/drawingml/2006/main" l="2288" t="0" r="22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76400"/>
            <a:ext cx="7239000" cy="42672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2D486-303C-4153-9206-5781D091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486150" cy="4267200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39380-044E-458F-99D8-1FEF912A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D1C9"/>
                </a:solidFill>
              </a:defRPr>
            </a:pPr>
            <a:r>
              <a:rPr sz="1200" b="1">
                <a:solidFill>
                  <a:srgbClr val="38D1C9"/>
                </a:solidFill>
              </a:rPr>
              <a:t>XI'AN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D7312-A96D-4CDA-9019-6F289BA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431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60075-7AB9-43B0-B63B-698C6B90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9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350 jurisdiction leaders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0BD4C-7AB1-4B34-8F47-93BFDC03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CFD1A3-5762-4FA3-884D-0E822649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860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4,242 validated decisions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B0834-A641-437D-89CA-78E6860F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956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56EE2-BB36-4DAD-A6FB-71EF737B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623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0 failed or unparseable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05175-8329-4DCA-8223-4EBF8D7B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719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85833-E14A-4A88-97FF-91404471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239,835 resident belief updates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B5D87-511A-457C-BDA4-D7DB4648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481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7F606-BE20-40EC-BCD2-DF024379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14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100% decisions applied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BE6D0-9D91-4DD3-8276-E6961C14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19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7BAC2"/>
                </a:solidFill>
              </a:defRPr>
            </a:pPr>
            <a:r>
              <a:rPr sz="1050" b="1">
                <a:solidFill>
                  <a:srgbClr val="A7BAC2"/>
                </a:solidFill>
              </a:rPr>
              <a:t>LOCAL EXECUTION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1F104C-6073-4B54-B303-6C876A0D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05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0.285 s mean 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87BDE9-685A-47CB-A3D1-5C4CD259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245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The WebGIS exposes the cycle, execution proof, and baseline control beside the city state.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20BCD-9102-4E1E-827A-B1A75B3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English-first UI · LLM/baseline switch · agent metrics · playback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35D2D8-B721-4F90-8B8E-5B286024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1469264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7A35A6-D8CC-46D2-AD8E-4A8BC7F0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05 / USER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F18CD-6CC8-49FD-A6DD-D99AB00C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Users can inspect why the agents behave differently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0AD7D-3F21-4C11-90BF-501CA6EB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67389-8E09-4882-A212-6EB3D0A6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dada75483242a6"/>
          <a:srcRect xmlns:a="http://schemas.openxmlformats.org/drawingml/2006/main" l="0" t="11809" r="0" b="11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76400"/>
            <a:ext cx="7239000" cy="42672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2D486-303C-4153-9206-5781D091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486150" cy="4267200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39380-044E-458F-99D8-1FEF912A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D1C9"/>
                </a:solidFill>
              </a:defRPr>
            </a:pPr>
            <a:r>
              <a:rPr sz="1200" b="1">
                <a:solidFill>
                  <a:srgbClr val="38D1C9"/>
                </a:solidFill>
              </a:rPr>
              <a:t>VISIBLE 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D7312-A96D-4CDA-9019-6F289BA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431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60075-7AB9-43B0-B63B-698C6B90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9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Baseline / LLM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0BD4C-7AB1-4B34-8F47-93BFDC03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CFD1A3-5762-4FA3-884D-0E822649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860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Six-stage agent cycle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B0834-A641-437D-89CA-78E6860F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956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56EE2-BB36-4DAD-A6FB-71EF737B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623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Road hierarchy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05175-8329-4DCA-8223-4EBF8D7B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719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85833-E14A-4A88-97FF-91404471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Resident state layers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B5D87-511A-457C-BDA4-D7DB4648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481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7F606-BE20-40EC-BCD2-DF024379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14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Timeline playback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BE6D0-9D91-4DD3-8276-E6961C14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19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7BAC2"/>
                </a:solidFill>
              </a:defRPr>
            </a:pPr>
            <a:r>
              <a:rPr sz="1050" b="1">
                <a:solidFill>
                  <a:srgbClr val="A7BAC2"/>
                </a:solidFill>
              </a:rPr>
              <a:t>TAIPEI EXAMPLE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1F104C-6073-4B54-B303-6C876A0D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05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85,202 adjacency edges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87BDE9-685A-47CB-A3D1-5C4CD259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245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The interface places agent intervention beside the computational road network and outcomes.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20BCD-9102-4E1E-827A-B1A75B3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English-first UI · bilingual switch · city selector · layer controls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35D2D8-B721-4F90-8B8E-5B286024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1469264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06 / MULTI-CITY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One Agentic AI contract runs across ten cities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CHENGDU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XI’AN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Japan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L’AQUILA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Italy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Italy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New Zealand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Myanmar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Nepal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United States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TEN-CITY PROOF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93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One agent contract · common WebGIS · 36-frame outputs · baseline/LLM comparison · automated guards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The same decision mechanism is tested against different network and capacity structures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558F91-1C81-48D4-ABD4-7D48826B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07 / APPLICATION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0D961-934C-4463-A67C-A57AD3A9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system diagnoses physical access before simulating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4856D7-330E-485D-A30B-35F42DA4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AA006-BA23-4EEA-B870-7B1ADC74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5E101-BB32-4D63-8724-6B217042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23AE7-EACB-4BC1-938E-5D24F843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16859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BAC3F-F3DE-4371-B95F-A850BB0C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1685925"/>
            <a:ext cx="4447786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44D4AE-2BFB-433C-923D-BFF3956E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6383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99.1%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E9B001-F5A1-4E2B-BD32-A26B75BA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EE5E2-8B0B-4DE1-8E6E-D9F8EAA0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1621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AB7961-09EC-47AB-BF5A-8BEDE25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162175"/>
            <a:ext cx="4434322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0E954F-8802-4BBD-9AC2-3E64B6A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145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4438A-E4C1-42E2-811E-2B331E2A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1D6A1C-BC74-4BC6-9AE5-63ECD640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6384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03FF0E-53D9-471E-BF70-F9EB4579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638425"/>
            <a:ext cx="4425345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FFEF24-2B51-48F2-A4C7-5DC446C5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5908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98.6%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4C08C-12D9-4769-AEA8-AA1D5266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E207C-9D5E-4A3A-9640-0E384D18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1146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571457-8CAF-4E05-8358-BAAD1A43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114675"/>
            <a:ext cx="4344558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32A47-144F-4B67-BC25-9621B8A2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670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96.8%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08BB3-94E8-4A58-B996-F7D74B82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FB0710-CE74-448D-BAAD-B2D02B2D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5909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6A1D8-E9AB-4D71-9F9E-D745BBB0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590925"/>
            <a:ext cx="4268259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CB71FB-F540-45BF-84F8-A6D7BDF5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5433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95.1%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4641E0-EA39-4B78-B7A0-C10005B0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5C2ADF-7EFD-4024-AC49-4E24CA6D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0671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5461D9-0CCA-4CB7-9061-B66B5896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067175"/>
            <a:ext cx="3253931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C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EE6342-1AC4-49E3-A5ED-C6C68F0A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0195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72.5%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8CD18F-3887-41DC-8448-AE4A86C5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21B6FD-67F6-42CB-8ACA-EC412A5E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5434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BF07E8-C965-4E6C-A81A-EF94213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543425"/>
            <a:ext cx="2791648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C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26A357-EF87-4AE5-8EEF-80817DD4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4958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62.2%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8AB44E-B9AD-4B58-B765-58A04EEE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3A9880-4254-4276-AF57-655FBED6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50196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95D8D5-5BBB-497B-8309-9EE52C48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5019675"/>
            <a:ext cx="1844642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70C566-02A8-463F-84D9-BA2919C1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9720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41.1%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70CC3F-60E2-45DB-86A3-270ED46A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705100" cy="323850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50A9D4-40C5-4E1F-AEC0-6515415E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859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B96"/>
                </a:solidFill>
              </a:defRPr>
            </a:pPr>
            <a:r>
              <a:rPr sz="1350" b="1">
                <a:solidFill>
                  <a:srgbClr val="159B96"/>
                </a:solidFill>
              </a:rPr>
              <a:t>HOW TO READ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D865B9-6F69-41E0-B9CF-B0CFF955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2479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High access is not high placement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Site density, road connectivity, and terrain shape static coverage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Capacity, information, and behavior further reduce dynamic safety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74F63D-9EE5-40E4-B8A7-45F11FF9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43400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2766B"/>
                </a:solidFill>
              </a:defRPr>
            </a:pPr>
            <a:r>
              <a:rPr sz="2250" b="1">
                <a:solidFill>
                  <a:srgbClr val="F2766B"/>
                </a:solidFill>
              </a:rPr>
              <a:t>41.1%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640789-D009-420C-84CB-D22E06C1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005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D707A"/>
                </a:solidFill>
              </a:defRPr>
            </a:pPr>
            <a:r>
              <a:rPr sz="1125" b="1">
                <a:solidFill>
                  <a:srgbClr val="5D707A"/>
                </a:solidFill>
              </a:rPr>
              <a:t>Noto is lowest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2E31AE-AB7D-42C4-92B2-9876B3F9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Share of population within 15 network minutes of candidate sites; common eight-city output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72EE34-0247-43BB-A278-3937E7B9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3716906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A13CB8-1CCB-49C0-B4EF-96EB90F6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08 / APPLICATION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1117E-AA80-4BC6-BD24-5907AF07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LLM leaders change early safety across cities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21731-A231-44A3-9A1B-112D6268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2521E-6843-4C00-A8DE-F9833446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95ED4-BFA8-4147-8FB2-448AF730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A3BD14-0536-48CA-A67F-0FD2B650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17145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6F162-EAAC-4950-BF57-D975C927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16764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33081-8F4D-4922-90B2-56EFDCD6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1714500"/>
            <a:ext cx="1982664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FC86D-2BBB-4733-A8BE-EF3FD9E5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16573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+3.18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CB398-70BB-4614-8A6A-5A63AC74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76E02-B573-4CE6-9ACA-EAC66A69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21717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B158F-01D3-44F5-9E35-79526984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21336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2A0C7-ACCC-4208-BF7C-982CC030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2171700"/>
            <a:ext cx="149011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CBB598-E222-4369-83CB-EF157C1A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21145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+2.39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265338-DD3A-4298-BFAC-BBE5A3CB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C9EEC0-8979-42B3-8E41-271C3CED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26289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ED5E6-2388-443D-94B9-85ADBC0E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25908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EC34A4-97F9-4639-8082-D2A8DF8B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2628900"/>
            <a:ext cx="854167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0E6F8-450A-4BD4-8C29-DB2E8912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25717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+1.37 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646DE-1435-443C-934D-88BBA883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BABF8B-418B-4413-B033-9C966252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30861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7634A-505A-46A6-BAE1-003E6E50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048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223CD3-C8BF-4CCD-AC1A-E0BA2BF4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3086100"/>
            <a:ext cx="754410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28DCC8-1972-46F1-963C-571BF29C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0289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+1.21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4E4B78-2161-4C2C-9649-337CCB4D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58EAFF-1641-4733-A347-7F01D3C8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35433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231C61-7928-4CDD-8237-BF11EA70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5052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ABBB2E-7393-4A26-B320-6E2EA54B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3543300"/>
            <a:ext cx="611010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081BD-AC6F-46B4-B743-F60E0362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4861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+0.98 pp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99A673-780D-4ADC-AFDE-C0D70BC1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F6E4CA-E9A2-49F9-BE13-5539AB5B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40005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2E6DE4-B7BA-4820-BCC4-B3C6D932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9624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A235BF-EE1D-45FB-A706-0DEA8E5D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4000500"/>
            <a:ext cx="62348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D34AA8-F0C6-4015-9594-3E51BDBF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9433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+0.10 pp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724E64-0812-4795-A3A2-F9F57AA6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4B2884-9593-465D-985A-B2E710F5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44577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E1EFA9-9E61-40BA-B553-2750C92C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44196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042F21-B08F-4024-ADCB-1E0A047A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611" y="4457700"/>
            <a:ext cx="1371654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16E0D6-549A-488A-A65C-44EE7AF8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44005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−2.20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3367A8-2E38-41AF-8884-B1641852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DE5310-7EBE-450F-9042-83FCE78F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49149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3101B0-6330-4AA5-AC90-5E004AA7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48768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996C5E-4296-4224-8834-7EA5866C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280" y="4914900"/>
            <a:ext cx="164598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190D99-6F0C-4B45-A3E1-23C9FF4A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48577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−2.64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C2FE69-9F97-4440-B521-2548D29B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19350" cy="2952750"/>
          </a:xfrm>
          <a:prstGeom xmlns:a="http://schemas.openxmlformats.org/drawingml/2006/main" prst="roundRect">
            <a:avLst>
              <a:gd name="adj" fmla="val 6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99F007-C2B6-4227-BCA6-77D5913F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621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DIRECTIONAL RESULT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23D169-3B12-44F4-ABA4-60033050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43150"/>
            <a:ext cx="196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D2430"/>
                </a:solidFill>
              </a:defRPr>
            </a:pPr>
            <a:r>
              <a:rPr sz="2850" b="1">
                <a:solidFill>
                  <a:srgbClr val="0D2430"/>
                </a:solidFill>
              </a:rPr>
              <a:t>6 / 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1C5631-F16B-4C9E-BFC8-702F8B6F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14650"/>
            <a:ext cx="1962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cities improve early safety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B90C9F-AE71-4C83-9C7A-7209DAE3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623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A2D131-8A91-46D8-A00F-F1FFB9A2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71900"/>
            <a:ext cx="1962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D2430"/>
                </a:solidFill>
              </a:defRPr>
            </a:pPr>
            <a:r>
              <a:rPr sz="1200" b="0">
                <a:solidFill>
                  <a:srgbClr val="0D2430"/>
                </a:solidFill>
              </a:rPr>
              <a:t>Noto and L'Aquila decline: faster information does not remove sparse-network or capacity bottlenecks.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D477F73-BEDC-476A-8309-55EA47D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Δ = leadership scenario − zero-knowledge baseline; percentage points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2D97AD7-D673-43C2-A788-7B76F349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378129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0A3175-F8EA-4E89-AA7F-4C1D2D5D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09 / LIMITS OF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25CED-965E-4E1F-9C4F-41729D0E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The same LLM policy can help early and harm later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B980C-599B-49BD-ADC5-33DBB04A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818B9-6C2D-4D5F-A473-E4BDD30E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B798F-4B50-4A81-BE54-F84B28EE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Angeles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6F6F7-EB6E-4B1C-9B84-417635EE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430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31A50C-E3CE-4866-8A8C-DDC2E92A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FBE6A-8DF6-464D-BB47-70CB6E38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43075"/>
            <a:ext cx="874059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74C1E-D1A7-44B2-BB69-411E938E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6764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+9.60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F813A-FA85-4F7B-B8F8-43713640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Wellington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2CD6A-279D-48CF-B16A-3E294C7B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193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5F64A-024F-4FBA-9303-A1AB531E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1E540-E1D8-45F0-83FD-71E13DAD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19325"/>
            <a:ext cx="498031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FCEABD-43E4-4AF3-A6AE-61A275CE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152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+5.47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D92E8-8B03-4253-A080-6CFEC126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Naples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4EC2F-1DF3-4B92-94A6-D4566C8C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955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3FA0E-D899-452D-ACF8-40CF82B3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57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6A874B-0A77-401E-AF19-48E9FA01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95575"/>
            <a:ext cx="30956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89AE2C-0013-4FE7-8A9A-99D8A506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+0.34 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289202-6C39-4DFE-A529-9A37BB6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Taipei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1F5DE9-9995-47BB-AEF5-264A67EF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D77322-E5F4-4D53-AF6D-CF409F22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337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CE45FD-F6D2-47C1-95AC-E4C56B81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348" y="3171825"/>
            <a:ext cx="32777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C8F2D2-8C01-4A77-A38E-DE7459FF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05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−0.36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788E0F-5241-4B23-9D96-F81303F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Mandalay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AC5D93-AFA7-4C8B-90F6-E53684E5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480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2D746C-57DD-4F42-9984-CE20E54A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099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1DEAD8-3A5D-4B23-B281-9FE89CB5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481" y="3648075"/>
            <a:ext cx="64644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12A0C3-B2B6-45CD-8B62-72247901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814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−0.71 pp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77DF81-FA18-47EF-9106-601E1DF1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Kathmandu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BE1BE8-07DA-49B1-97C7-D2E566F7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09CD1E-E675-4BD5-8268-5D2F6B1E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862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564E76-9FF8-4902-BC18-DC3972C0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2077" y="4124325"/>
            <a:ext cx="91048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A9E865-A173-4A5A-A80C-1B733F6A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57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−1.00 pp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2A9321-D37B-4BD8-97BD-AC89624B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L'Aquila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BE6741-8A76-4F04-A86B-63262031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005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4E1B94-9DA8-4140-931C-14834EB0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62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0EEE24-796E-4845-B2E3-87DD91AE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2815" y="4600575"/>
            <a:ext cx="80031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85E384-A43D-4E79-B3AF-4F7FC471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533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−8.79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18A3CD-8907-45DA-A6B0-3D129303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10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Noto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FEF191-29B0-4E8C-82A5-2DF0D44B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768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673AE2-6E0E-4241-AD6F-81E3974A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387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81F8B1-6EA2-4D04-A663-BFA07B79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908" y="5076825"/>
            <a:ext cx="2947217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FE2663-884E-43A6-9A02-985826C8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0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−32.37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EB3DAA-8C93-48A2-9E68-1BBFB1DD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95450"/>
            <a:ext cx="1714500" cy="30099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B61213-F1BD-4287-B8E4-BF9D3345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905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KEY INTERPRETATION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7E2C89-9114-4190-AF95-DD8B341C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05050"/>
            <a:ext cx="133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Leadership improves information visibility; it does not create road throughput or shelter capacity.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03EF3A-92B3-4FC1-A0BA-14AC39E2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7338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Noto −32.37 pp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EDE9A8-C4D3-4D4D-A799-C72E50A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19100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7BAC2"/>
                </a:solidFill>
              </a:defRPr>
            </a:pPr>
            <a:r>
              <a:rPr sz="1050" b="0">
                <a:solidFill>
                  <a:srgbClr val="A7BAC2"/>
                </a:solidFill>
              </a:rPr>
              <a:t>Signals late congestion and allocation failure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12D550-A5E1-42FB-9852-BC32C51E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The same mechanism can produce opposite outcomes under different network–capacity conditions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68937F5-91A8-44E6-B002-33523078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5629834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B47075-63B6-490E-9B58-0A68EFC1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10 / SCENARIO INNOVATION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41A09D-D012-4DAF-A34E-F7AA306E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One Agentic AI mechanism reveals three urban response profiles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07F6A-CAF2-4C64-B355-DAB302D2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A609C-C854-40AC-925F-FD56CDD3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074B3-F36F-4DC2-85D8-4E5E3ED0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8b06358c6410f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4295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D54FB-3509-4B47-93E0-4DB6C0D6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18255-8669-4501-8EE4-66D6F57E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6DDA8C-0951-4393-9EB4-8FBC1F61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A6D6"/>
                </a:solidFill>
              </a:defRPr>
            </a:pPr>
            <a:r>
              <a:rPr sz="1125" b="1">
                <a:solidFill>
                  <a:srgbClr val="58A6D6"/>
                </a:solidFill>
              </a:rPr>
              <a:t>Early +3.18 pp · late +9.60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55778-43BB-4D4C-BADE-0710E98F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Dense sites and network redundancy turn information advantage into sustained placement.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D95C3-A6AC-45BA-B331-74541479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af77bebe54fd1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38150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5B012-0BF7-4DE6-BB8D-B1050C43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A5C229-4570-4960-ADD1-970CB6EB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9D9DFF-6568-419D-92AD-9932BB35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B982"/>
                </a:solidFill>
              </a:defRPr>
            </a:pPr>
            <a:r>
              <a:rPr sz="1125" b="1">
                <a:solidFill>
                  <a:srgbClr val="39B982"/>
                </a:solidFill>
              </a:rPr>
              <a:t>Early +2.39 pp · late +5.47 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781B4-1208-432A-8405-A156C626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Leadership still improves allocation on top of high baseline accessibility.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E47C4-2B76-43A7-90AF-0F0F3439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9073522cf64a96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2005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89D2CC-4315-4051-A38D-15D59B29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A409A-DD7E-4615-BB71-E1C2DED5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F98349-44C2-4180-9DE3-FE9E3C5A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766B"/>
                </a:solidFill>
              </a:defRPr>
            </a:pPr>
            <a:r>
              <a:rPr sz="1125" b="1">
                <a:solidFill>
                  <a:srgbClr val="F2766B"/>
                </a:solidFill>
              </a:rPr>
              <a:t>Early −2.20 pp · late −32.37 pp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379D62-FF7B-4A06-8756-58204A6A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Low access and sparse supply allow concentrated guidance to amplify capacity constraints.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90353-86AA-4F7C-87D7-638C43AC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A common WebGIS structure places mechanism differences beside spatial structure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C5D915-D91D-46B8-BACE-3C9AA781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11 / AMD LOCAL INFERENCE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Local Radeon inference is verified with full-run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Radeon gfx1100 · 48 GiB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RUNTIME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ROCm 7.2.1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MODEL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Qwen2.5-7B · Q4_K_M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XI'AN RUN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4,242 LLM calls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DECISION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 mean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VALIDITY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 failed / unparseable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APPLICATION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 decisions applied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capped at 42%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OPTIMIZED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93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Full GPU offload · quantization · batching · constrained JSON · VRAM partitioning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locally; CPU-vs-ROCm comparison remains a final benchmark gap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12 / AMD OPTIMIZATION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stack is tuned for throughput, validity, and shared VRAM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QUANTIZE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Q4_K_M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 OFFLOAD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All model layers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BATCHING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Continuous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JSON VALIDITY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Grammar-constrained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42%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CONTEXT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Compact memory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APPLIED RATE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MEAN CALL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IT MATTERS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93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Optimization prevents simulator/LLM contention while keeping every leader decision parseable and executable.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on AMD Radeon gfx1100 · 48 GiB · ROCm 7.2.1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13 / REPRODUCIBLE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A five-minute proof sequence covers the full 60/40 rubric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STEP 1 / APPLICATION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Open the English WebGIS; switch Xi’an to Dynamic simulation.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STEP 2 / AGENTS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Compare baseline with LLM leadership; play the decision cycle.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STEP 3 / AMD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Show local server/GPU health and validated run metrics.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5543550" cy="33909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JUDGE PROOF SEQUENCE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350 active jurisdiction leaders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4,242 tool decisions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0 failed / unparseable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290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239,835 resident belief updates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243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100% decisions applied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REPRODUCIBILITY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86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Every claim links to a run summary, WebGIS state, or local inference benchmark.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A five-minute demo can cover the entire 60/40 scoring path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14 / CLAIM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Strong evidence is clearer when its limits are explicit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ESTABLISHED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Agents reason, plan, call tools, use compact memory, and mutate simulator state.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MEASURED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Local Radeon/ROCm runs provide latency, throughput, validity, and application metrics.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 CLAIMED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Leadership always improves outcomes, official capacities, or causal significance from one seed.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5543550" cy="33909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NEXT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CPU-vs-ROCm same-model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Repeated benchmark capture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Multiple random seeds and confidence intervals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290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Official shelter capacity and damaged roads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243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Parameter calibration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THIS HELPS THE SCORE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86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Clear boundaries make the working Agentic AI evidence more credible.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Separate demonstrated capability from the next validation milestone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15 / FINAL SCORECARD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Score the evidence—not the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FUNCTIONAL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Working ten-city pipeline, agent execution, English WebGIS, playback, and scenario comparison.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INNOVATION + UX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City-scale leader–resident coordination with inspectable road, capacity, and information mechanisms.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AMD + ROCM / 40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Real local Radeon inference is verified with concurrency, validity, throughput, and VRAM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5543550" cy="33909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LIVE DEMO ORDER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Open the English ten-city WebGIS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Show road tiers and the model adjacency network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Run baseline vs LLM playback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290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Show the local LLM health / GPU monitor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243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Open Xi’an metrics: 4,242 calls, 0 failures, 100% applied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SUBMISSION CLAIM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86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QuakeSense is a functional Agentic AI system whose local LLM decisions execute inside a city-scale emergency simulation on AMD Radeon + ROCm.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Show working agents, Radeon evidence, and measurable application value—without overstating causality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2026-08-04T03:28:11.4950000Z</dcterms:created>
  <dcterms:modified xsi:type="dcterms:W3CDTF">2026-08-04T03:28:11.4950000Z</dcterms:modified>
</coreProperties>
</file>